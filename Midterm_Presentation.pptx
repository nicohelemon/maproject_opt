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396" r:id="rId3"/>
    <p:sldId id="430" r:id="rId4"/>
    <p:sldId id="431" r:id="rId5"/>
    <p:sldId id="398" r:id="rId6"/>
    <p:sldId id="416" r:id="rId7"/>
    <p:sldId id="417" r:id="rId8"/>
    <p:sldId id="418" r:id="rId9"/>
    <p:sldId id="420" r:id="rId10"/>
    <p:sldId id="421" r:id="rId11"/>
    <p:sldId id="422" r:id="rId12"/>
    <p:sldId id="406" r:id="rId13"/>
    <p:sldId id="424" r:id="rId14"/>
    <p:sldId id="423" r:id="rId15"/>
    <p:sldId id="407" r:id="rId16"/>
    <p:sldId id="427" r:id="rId17"/>
    <p:sldId id="425" r:id="rId18"/>
    <p:sldId id="428" r:id="rId19"/>
    <p:sldId id="426" r:id="rId20"/>
    <p:sldId id="432" r:id="rId21"/>
    <p:sldId id="429" r:id="rId22"/>
    <p:sldId id="434" r:id="rId23"/>
    <p:sldId id="435" r:id="rId24"/>
    <p:sldId id="399" r:id="rId25"/>
    <p:sldId id="436" r:id="rId26"/>
    <p:sldId id="404" r:id="rId27"/>
    <p:sldId id="444" r:id="rId28"/>
    <p:sldId id="447" r:id="rId29"/>
    <p:sldId id="450" r:id="rId30"/>
    <p:sldId id="448" r:id="rId31"/>
    <p:sldId id="449" r:id="rId32"/>
    <p:sldId id="445" r:id="rId33"/>
    <p:sldId id="440" r:id="rId34"/>
    <p:sldId id="439" r:id="rId35"/>
    <p:sldId id="443" r:id="rId36"/>
    <p:sldId id="44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FFFF"/>
    <a:srgbClr val="FFFF39"/>
    <a:srgbClr val="F8CECC"/>
    <a:srgbClr val="0000FF"/>
    <a:srgbClr val="FF0000"/>
    <a:srgbClr val="FF5AAC"/>
    <a:srgbClr val="00BFFF"/>
    <a:srgbClr val="2E8B57"/>
    <a:srgbClr val="90EE90"/>
    <a:srgbClr val="00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0868" autoAdjust="0"/>
  </p:normalViewPr>
  <p:slideViewPr>
    <p:cSldViewPr snapToGrid="0">
      <p:cViewPr>
        <p:scale>
          <a:sx n="50" d="100"/>
          <a:sy n="50" d="100"/>
        </p:scale>
        <p:origin x="720" y="-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-536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AD6DF-F372-41A5-81E1-A18C808642C0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729FEC-4337-47A3-81F7-50750F04E85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227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noProof="0" dirty="0"/>
              <a:t>Good morning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noProof="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noProof="0" dirty="0"/>
              <a:t>I’m Nicolas, and I’m here to present my project “Improving Spectral Clustering through Edge Weight Transformations”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F50783-AAED-1941-8BCC-9F6140F0A6B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0643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My presentation is structured as follows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We will go through some Theoretical background, and then talk about the Experimentation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357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EC49C-EAD6-BBBB-7706-A10F54B47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6B696A6-BCCF-EB18-5B4B-98A01CB95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6565CE1-F4CE-F8CF-6189-CFE28E4C3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noProof="0" dirty="0"/>
              <a:t>Spectral clustering can sometimes fail when the underlying distributions of data points are not clearly distinguishable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noProof="0" dirty="0"/>
              <a:t>[1] By applying some edge weight transformation, we aim to amplify the differences between these distributions,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noProof="0" dirty="0"/>
              <a:t>thereby improving the separation of communities in the embedded space</a:t>
            </a:r>
            <a:endParaRPr lang="en-US" sz="1200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280B63-0B17-1220-FDDA-C6489016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882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2172-434F-ACF2-7119-BF2D12A91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86452D-1643-3DB8-1502-739886C33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4BDB6DC-9538-1948-7BF8-88F70E422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Quick overview of the theoretical objects used in the project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751867-BFB2-109B-BA40-BA9ED5DC6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892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73D84-16B0-3719-59B6-9524DD15B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44336FC-AB7C-5ABC-34BC-F294C816E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D4DE9927-D377-9805-7485-0FA34CFD1B3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We will test our transformations on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200" noProof="0" dirty="0"/>
                  <a:t>-</a:t>
                </a:r>
                <a:r>
                  <a:rPr lang="en-US" sz="1200" dirty="0"/>
                  <a:t>community Weighted Stochastic Block Model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[1] A graph following such a model, is specified by its weight matrix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200" dirty="0"/>
                  <a:t> and community labels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1200" dirty="0"/>
                  <a:t>.</a:t>
                </a:r>
                <a:endParaRPr lang="en-US" sz="1200" i="0" baseline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i="0" baseline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i="0" baseline="0" dirty="0"/>
                  <a:t>Between each community pair </a:t>
                </a:r>
                <a14:m>
                  <m:oMath xmlns:m="http://schemas.openxmlformats.org/officeDocument/2006/math">
                    <m:r>
                      <a:rPr lang="fr-FR" sz="1200" b="0" i="1" baseline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sz="1200" b="0" i="1" baseline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200" b="0" i="1" baseline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1200" i="0" baseline="0" dirty="0"/>
                  <a:t>, the edge weight distribution is set with specific parameters depending on </a:t>
                </a:r>
                <a14:m>
                  <m:oMath xmlns:m="http://schemas.openxmlformats.org/officeDocument/2006/math">
                    <m:r>
                      <a:rPr lang="fr-FR" sz="1200" b="0" i="1" baseline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sz="1200" b="0" i="1" baseline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200" b="0" i="1" baseline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[2] We</a:t>
                </a:r>
                <a:r>
                  <a:rPr lang="en-US" sz="1200" baseline="0" dirty="0"/>
                  <a:t> gather the respective mean and variance of these distributions in block matrices </a:t>
                </a:r>
                <a14:m>
                  <m:oMath xmlns:m="http://schemas.openxmlformats.org/officeDocument/2006/math">
                    <m:r>
                      <a:rPr lang="fr-FR" sz="1200" b="0" i="1" baseline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200" dirty="0"/>
                  <a:t> and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D4DE9927-D377-9805-7485-0FA34CFD1B3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We will test our transformations on </a:t>
                </a:r>
                <a:r>
                  <a:rPr lang="en-US" sz="1200" b="0" i="0" noProof="0">
                    <a:latin typeface="Cambria Math" panose="02040503050406030204" pitchFamily="18" charset="0"/>
                  </a:rPr>
                  <a:t>𝐾</a:t>
                </a:r>
                <a:r>
                  <a:rPr lang="en-US" sz="1200" noProof="0" dirty="0"/>
                  <a:t>-</a:t>
                </a:r>
                <a:r>
                  <a:rPr lang="en-US" sz="1200" dirty="0"/>
                  <a:t>community Weighted Stochastic Block Model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[1] A graph following such a model, is specified by its weight matrix </a:t>
                </a:r>
                <a:r>
                  <a:rPr lang="en-US" sz="1200" b="0" i="0" noProof="0">
                    <a:latin typeface="Cambria Math" panose="02040503050406030204" pitchFamily="18" charset="0"/>
                  </a:rPr>
                  <a:t>𝐴</a:t>
                </a:r>
                <a:r>
                  <a:rPr lang="en-US" sz="1200" dirty="0"/>
                  <a:t> and community labels </a:t>
                </a:r>
                <a:r>
                  <a:rPr lang="en-US" i="0" noProof="0">
                    <a:latin typeface="Cambria Math" panose="02040503050406030204" pitchFamily="18" charset="0"/>
                  </a:rPr>
                  <a:t>𝑍</a:t>
                </a:r>
                <a:r>
                  <a:rPr lang="en-US" sz="1200" dirty="0"/>
                  <a:t>.</a:t>
                </a:r>
                <a:endParaRPr lang="en-US" sz="1200" i="0" baseline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i="0" baseline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i="0" baseline="0" dirty="0"/>
                  <a:t>Between each community pair </a:t>
                </a:r>
                <a:r>
                  <a:rPr lang="fr-FR" sz="1200" b="0" i="0" baseline="0">
                    <a:latin typeface="Cambria Math" panose="02040503050406030204" pitchFamily="18" charset="0"/>
                  </a:rPr>
                  <a:t>𝑘,𝑙</a:t>
                </a:r>
                <a:r>
                  <a:rPr lang="en-US" sz="1200" i="0" baseline="0" dirty="0"/>
                  <a:t>, the edge weight distribution is set with specific parameters depending on </a:t>
                </a:r>
                <a:r>
                  <a:rPr lang="fr-FR" sz="1200" b="0" i="0" baseline="0">
                    <a:latin typeface="Cambria Math" panose="02040503050406030204" pitchFamily="18" charset="0"/>
                  </a:rPr>
                  <a:t>𝑘,𝑙</a:t>
                </a: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[2] We</a:t>
                </a:r>
                <a:r>
                  <a:rPr lang="en-US" sz="1200" baseline="0" dirty="0"/>
                  <a:t> gather the respective mean and variance of these distributions in block matrices </a:t>
                </a:r>
                <a:r>
                  <a:rPr lang="fr-FR" sz="1200" b="0" i="0" baseline="0">
                    <a:latin typeface="Cambria Math" panose="02040503050406030204" pitchFamily="18" charset="0"/>
                  </a:rPr>
                  <a:t>𝐵</a:t>
                </a:r>
                <a:r>
                  <a:rPr lang="en-US" sz="1200" dirty="0"/>
                  <a:t> and </a:t>
                </a:r>
                <a:r>
                  <a:rPr lang="fr-FR" sz="1200" b="0" i="0">
                    <a:latin typeface="Cambria Math" panose="02040503050406030204" pitchFamily="18" charset="0"/>
                  </a:rPr>
                  <a:t>𝐶</a:t>
                </a:r>
                <a:endParaRPr lang="en-US" sz="1200" dirty="0"/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FD8AF4-F391-C3EC-C2B4-B04E28E91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333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04882-1BD7-5866-349B-92FBC8CC7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3EE3A49-B354-4C97-1375-CA3227C51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EDD42A5D-D564-D29A-F82C-A61450AD109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So, </a:t>
                </a:r>
                <a:r>
                  <a:rPr lang="en-US" sz="1200" noProof="0" dirty="0"/>
                  <a:t>what does it look like?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[1] Suppose</a:t>
                </a:r>
                <a:r>
                  <a:rPr lang="en-US" sz="1200" baseline="0" dirty="0"/>
                  <a:t> </a:t>
                </a:r>
                <a:r>
                  <a:rPr lang="en-US" sz="1200" dirty="0"/>
                  <a:t>labels are drawn as</a:t>
                </a:r>
                <a:r>
                  <a:rPr lang="en-US" sz="1200" baseline="0" dirty="0"/>
                  <a:t> such. That is,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2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takes value 0</a:t>
                </a:r>
                <a:r>
                  <a:rPr lang="en-US" sz="1200" baseline="0" dirty="0"/>
                  <a:t>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noProof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noProof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200" b="0" i="1" noProof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200" dirty="0"/>
                  <a:t> and 1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noProof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noProof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fr-FR" sz="1200" b="0" i="1" noProof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[2] Producing this label assignment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EDD42A5D-D564-D29A-F82C-A61450AD109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So, </a:t>
                </a:r>
                <a:r>
                  <a:rPr lang="en-US" sz="1200" noProof="0" dirty="0"/>
                  <a:t>what does it look like?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[1] Suppose</a:t>
                </a:r>
                <a:r>
                  <a:rPr lang="en-US" sz="1200" baseline="0" dirty="0"/>
                  <a:t> </a:t>
                </a:r>
                <a:r>
                  <a:rPr lang="en-US" sz="1200" dirty="0"/>
                  <a:t>labels are drawn as</a:t>
                </a:r>
                <a:r>
                  <a:rPr lang="en-US" sz="1200" baseline="0" dirty="0"/>
                  <a:t> such. That is,</a:t>
                </a:r>
                <a:r>
                  <a:rPr lang="en-US" sz="1200" dirty="0"/>
                  <a:t> </a:t>
                </a:r>
                <a:r>
                  <a:rPr lang="en-US" sz="1200" b="0" i="0" noProof="0">
                    <a:latin typeface="Cambria Math" panose="02040503050406030204" pitchFamily="18" charset="0"/>
                  </a:rPr>
                  <a:t>𝑍_𝑖</a:t>
                </a:r>
                <a:r>
                  <a:rPr lang="en-US" sz="1200" dirty="0"/>
                  <a:t> takes value 0</a:t>
                </a:r>
                <a:r>
                  <a:rPr lang="en-US" sz="1200" baseline="0" dirty="0"/>
                  <a:t> with probability </a:t>
                </a:r>
                <a:r>
                  <a:rPr lang="en-US" sz="1200" b="0" i="0" noProof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𝜋_0</a:t>
                </a:r>
                <a:r>
                  <a:rPr lang="en-US" sz="1200" dirty="0"/>
                  <a:t> and 1 with probability </a:t>
                </a:r>
                <a:r>
                  <a:rPr lang="en-US" sz="1200" b="0" i="0" noProof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𝜋_</a:t>
                </a:r>
                <a:r>
                  <a:rPr lang="fr-FR" sz="1200" b="0" i="0" noProof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1</a:t>
                </a: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[2] Producing this label assignment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3BA13B-B789-35D2-85E9-BA2C275A1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294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64F5D-2024-27E5-A716-27A1AB3C5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AFF74F2-7919-1600-3AFD-820985577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7CCCB70F-F8CF-D688-90D9-3D6526FCDAB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Then, edges between nodes belonging</a:t>
                </a:r>
                <a:r>
                  <a:rPr lang="en-US" sz="1200" baseline="0" dirty="0"/>
                  <a:t> to</a:t>
                </a:r>
                <a:r>
                  <a:rPr lang="en-US" sz="1200" dirty="0"/>
                  <a:t> community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200" dirty="0"/>
                  <a:t> are</a:t>
                </a:r>
                <a:r>
                  <a:rPr lang="en-US" sz="1200" baseline="0" dirty="0"/>
                  <a:t> drawn from distribution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 theta 00</a:t>
                </a:r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7CCCB70F-F8CF-D688-90D9-3D6526FCDAB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Then, edges between nodes belonging</a:t>
                </a:r>
                <a:r>
                  <a:rPr lang="en-US" sz="1200" baseline="0" dirty="0"/>
                  <a:t> to</a:t>
                </a:r>
                <a:r>
                  <a:rPr lang="en-US" sz="1200" dirty="0"/>
                  <a:t> community </a:t>
                </a:r>
                <a:r>
                  <a:rPr lang="fr-FR" sz="1200" b="0" i="0">
                    <a:latin typeface="Cambria Math" panose="02040503050406030204" pitchFamily="18" charset="0"/>
                  </a:rPr>
                  <a:t>0</a:t>
                </a:r>
                <a:r>
                  <a:rPr lang="en-US" sz="1200" dirty="0"/>
                  <a:t> are</a:t>
                </a:r>
                <a:r>
                  <a:rPr lang="en-US" sz="1200" baseline="0" dirty="0"/>
                  <a:t> drawn from distribution </a:t>
                </a:r>
                <a:r>
                  <a:rPr lang="en-US" sz="1200" b="0" i="0" noProof="0">
                    <a:latin typeface="Cambria Math" panose="02040503050406030204" pitchFamily="18" charset="0"/>
                  </a:rPr>
                  <a:t>𝐷</a:t>
                </a:r>
                <a:r>
                  <a:rPr lang="en-US" sz="1200" dirty="0"/>
                  <a:t> theta 00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F848CB-6908-0C06-7A63-7B2504C23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526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0CE53-C338-6CEF-D863-E2D4B03B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6E90E18-E866-3BD7-6DD9-D3EA520FB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0A17EB3C-A954-C185-0FC7-F7613875D78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Those belonging</a:t>
                </a:r>
                <a:r>
                  <a:rPr lang="en-US" sz="1200" baseline="0" dirty="0"/>
                  <a:t> to</a:t>
                </a:r>
                <a:r>
                  <a:rPr lang="en-US" sz="1200" dirty="0"/>
                  <a:t> community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200" dirty="0"/>
                  <a:t> are</a:t>
                </a:r>
                <a:r>
                  <a:rPr lang="en-US" sz="1200" baseline="0" dirty="0"/>
                  <a:t> drawn from distribution </a:t>
                </a:r>
                <a14:m>
                  <m:oMath xmlns:m="http://schemas.openxmlformats.org/officeDocument/2006/math">
                    <m:r>
                      <a:rPr lang="fr-FR" sz="1200" b="0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 theta 11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0A17EB3C-A954-C185-0FC7-F7613875D78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Those belonging</a:t>
                </a:r>
                <a:r>
                  <a:rPr lang="en-US" sz="1200" baseline="0" dirty="0"/>
                  <a:t> to</a:t>
                </a:r>
                <a:r>
                  <a:rPr lang="en-US" sz="1200" dirty="0"/>
                  <a:t> community </a:t>
                </a:r>
                <a:r>
                  <a:rPr lang="fr-FR" sz="1200" b="0" i="0">
                    <a:latin typeface="Cambria Math" panose="02040503050406030204" pitchFamily="18" charset="0"/>
                  </a:rPr>
                  <a:t>1</a:t>
                </a:r>
                <a:r>
                  <a:rPr lang="en-US" sz="1200" dirty="0"/>
                  <a:t> are</a:t>
                </a:r>
                <a:r>
                  <a:rPr lang="en-US" sz="1200" baseline="0" dirty="0"/>
                  <a:t> drawn from distribution </a:t>
                </a:r>
                <a:r>
                  <a:rPr lang="fr-FR" sz="1200" b="0" i="0" noProof="0">
                    <a:latin typeface="Cambria Math" panose="02040503050406030204" pitchFamily="18" charset="0"/>
                  </a:rPr>
                  <a:t>𝐷</a:t>
                </a:r>
                <a:r>
                  <a:rPr lang="en-US" sz="1200" dirty="0"/>
                  <a:t> theta 11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C94708-48EC-4396-8542-E78F9649D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1135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F6F6-2848-5A55-1636-3CAB5714A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19DF674-92E4-058F-61D9-D58191CA3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5BC847F-F0BC-CDDC-0839-4F5EF694B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Whereas cross-community edges are controlled </a:t>
            </a:r>
            <a:r>
              <a:rPr lang="en-US" sz="1200" baseline="0" dirty="0"/>
              <a:t>by </a:t>
            </a:r>
            <a:r>
              <a:rPr lang="fr-FR" sz="1200" baseline="0" dirty="0" err="1"/>
              <a:t>parameter</a:t>
            </a:r>
            <a:r>
              <a:rPr lang="fr-FR" sz="1200" baseline="0" dirty="0"/>
              <a:t> </a:t>
            </a:r>
            <a:r>
              <a:rPr lang="en-US" sz="1200" dirty="0"/>
              <a:t>theta 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 plain terms, the model is ideal for community modelling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A83974-5C65-0494-F471-CF4609F6B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568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82E3E-9C31-476A-DEF3-7A98D9680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DBB7C22-CF6A-6FD4-B173-2B31E4124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1996EE7-ABB6-FB10-8F40-F0F258074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Now, obviously, in testing or real-world settings, the parameters and community labels won’t necessarily be known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965A7E-7E2C-AA87-26CA-D0F8C3B1C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891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38F49-8AB0-5052-BCFA-18B0AAE5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BD17B96-494C-F810-FA16-B477403C5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6562D5BF-ADE1-8F74-BC9D-9EBCC98E64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So how could we recover </a:t>
                </a:r>
                <a:r>
                  <a:rPr lang="en-US" sz="1200" noProof="0" dirty="0"/>
                  <a:t>labelling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1200" dirty="0"/>
                  <a:t> from </a:t>
                </a:r>
                <a:r>
                  <a:rPr lang="en-US" sz="1200" baseline="0" dirty="0"/>
                  <a:t>weight matrix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200" dirty="0"/>
                  <a:t> alone?</a:t>
                </a:r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6562D5BF-ADE1-8F74-BC9D-9EBCC98E64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So how could we recover </a:t>
                </a:r>
                <a:r>
                  <a:rPr lang="en-US" sz="1200" noProof="0" dirty="0"/>
                  <a:t>labelling </a:t>
                </a:r>
                <a:r>
                  <a:rPr lang="en-US" sz="1200" b="0" i="0" noProof="0">
                    <a:latin typeface="Cambria Math" panose="02040503050406030204" pitchFamily="18" charset="0"/>
                  </a:rPr>
                  <a:t>𝑍</a:t>
                </a:r>
                <a:r>
                  <a:rPr lang="en-US" sz="1200" dirty="0"/>
                  <a:t> from </a:t>
                </a:r>
                <a:r>
                  <a:rPr lang="en-US" sz="1200" baseline="0" dirty="0"/>
                  <a:t>weight matrix </a:t>
                </a:r>
                <a:r>
                  <a:rPr lang="en-US" sz="1200" b="0" i="0" noProof="0">
                    <a:latin typeface="Cambria Math" panose="02040503050406030204" pitchFamily="18" charset="0"/>
                  </a:rPr>
                  <a:t>𝐴</a:t>
                </a:r>
                <a:r>
                  <a:rPr lang="en-US" sz="1200" dirty="0"/>
                  <a:t> alone?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77B82B-9325-1AF5-0A56-EA21B90D3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071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42F2-076E-AD79-BD54-25B8D6EFF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391028-0537-7D02-5818-2FD12084B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CA740D6F-A816-032E-659B-5DAB28C244C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One-way to do that is through Spectral Clustering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[1] We define the </a:t>
                </a:r>
                <a:r>
                  <a:rPr lang="en-US" sz="1200" noProof="0" dirty="0"/>
                  <a:t>embedding of the graph as such.</a:t>
                </a:r>
                <a:r>
                  <a:rPr lang="en-US" sz="1200" baseline="0" noProof="0" dirty="0"/>
                  <a:t> We consider the 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200" noProof="0" dirty="0"/>
                  <a:t> largest eigenvalues in magnitude of </a:t>
                </a:r>
                <a14:m>
                  <m:oMath xmlns:m="http://schemas.openxmlformats.org/officeDocument/2006/math">
                    <m:r>
                      <a:rPr lang="en-US" sz="1200" i="1" noProof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200" dirty="0"/>
                  <a:t>,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and set the 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200" noProof="0" dirty="0"/>
                  <a:t>-embedding to be the 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200" noProof="0" dirty="0"/>
                  <a:t> associated</a:t>
                </a:r>
                <a:r>
                  <a:rPr lang="en-US" sz="1200" baseline="0" noProof="0" dirty="0"/>
                  <a:t> e</a:t>
                </a:r>
                <a:r>
                  <a:rPr lang="en-US" sz="1200" noProof="0" dirty="0"/>
                  <a:t>igenvectors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noProof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noProof="0" dirty="0"/>
                  <a:t>[2] Row 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200" noProof="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noProof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 noProof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1200" noProof="0" dirty="0"/>
                  <a:t> provides a </a:t>
                </a:r>
                <a14:m>
                  <m:oMath xmlns:m="http://schemas.openxmlformats.org/officeDocument/2006/math">
                    <m:r>
                      <a:rPr lang="en-US" sz="1200" i="1" noProof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200" noProof="0" dirty="0"/>
                  <a:t>-dimension representation of node 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CA740D6F-A816-032E-659B-5DAB28C244C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One-way to do that is through Spectral Clustering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[1] We define the </a:t>
                </a:r>
                <a:r>
                  <a:rPr lang="en-US" sz="1200" noProof="0" dirty="0"/>
                  <a:t>embedding of the graph as such.</a:t>
                </a:r>
                <a:r>
                  <a:rPr lang="en-US" sz="1200" baseline="0" noProof="0" dirty="0"/>
                  <a:t> We consider the </a:t>
                </a:r>
                <a:r>
                  <a:rPr lang="en-US" sz="1200" i="0" noProof="0">
                    <a:latin typeface="Cambria Math" panose="02040503050406030204" pitchFamily="18" charset="0"/>
                  </a:rPr>
                  <a:t>𝑑</a:t>
                </a:r>
                <a:r>
                  <a:rPr lang="en-US" sz="1200" noProof="0" dirty="0"/>
                  <a:t> largest eigenvalues in magnitude of </a:t>
                </a:r>
                <a:r>
                  <a:rPr lang="en-US" sz="1200" i="0" noProof="0">
                    <a:latin typeface="Cambria Math" panose="02040503050406030204" pitchFamily="18" charset="0"/>
                  </a:rPr>
                  <a:t>𝐴</a:t>
                </a:r>
                <a:r>
                  <a:rPr lang="en-US" sz="1200" dirty="0"/>
                  <a:t>,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and set the </a:t>
                </a:r>
                <a:r>
                  <a:rPr lang="en-US" sz="1200" i="0" noProof="0">
                    <a:latin typeface="Cambria Math" panose="02040503050406030204" pitchFamily="18" charset="0"/>
                  </a:rPr>
                  <a:t>𝑑</a:t>
                </a:r>
                <a:r>
                  <a:rPr lang="en-US" sz="1200" noProof="0" dirty="0"/>
                  <a:t>-embedding to be the </a:t>
                </a:r>
                <a:r>
                  <a:rPr lang="en-US" sz="1200" i="0" noProof="0">
                    <a:latin typeface="Cambria Math" panose="02040503050406030204" pitchFamily="18" charset="0"/>
                  </a:rPr>
                  <a:t>𝑑</a:t>
                </a:r>
                <a:r>
                  <a:rPr lang="en-US" sz="1200" noProof="0" dirty="0"/>
                  <a:t> associated</a:t>
                </a:r>
                <a:r>
                  <a:rPr lang="en-US" sz="1200" baseline="0" noProof="0" dirty="0"/>
                  <a:t> e</a:t>
                </a:r>
                <a:r>
                  <a:rPr lang="en-US" sz="1200" noProof="0" dirty="0"/>
                  <a:t>igenvectors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noProof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noProof="0" dirty="0"/>
                  <a:t>[2] Row </a:t>
                </a:r>
                <a:r>
                  <a:rPr lang="en-US" sz="1200" i="0" noProof="0">
                    <a:latin typeface="Cambria Math" panose="02040503050406030204" pitchFamily="18" charset="0"/>
                  </a:rPr>
                  <a:t>𝑖</a:t>
                </a:r>
                <a:r>
                  <a:rPr lang="en-US" sz="1200" noProof="0" dirty="0"/>
                  <a:t> of </a:t>
                </a:r>
                <a:r>
                  <a:rPr lang="en-US" sz="1200" i="0" noProof="0">
                    <a:latin typeface="Cambria Math" panose="02040503050406030204" pitchFamily="18" charset="0"/>
                  </a:rPr>
                  <a:t>𝑋_𝐴</a:t>
                </a:r>
                <a:r>
                  <a:rPr lang="en-US" sz="1200" noProof="0" dirty="0"/>
                  <a:t> provides a </a:t>
                </a:r>
                <a:r>
                  <a:rPr lang="en-US" sz="1200" i="0" noProof="0">
                    <a:latin typeface="Cambria Math" panose="02040503050406030204" pitchFamily="18" charset="0"/>
                  </a:rPr>
                  <a:t>𝑑</a:t>
                </a:r>
                <a:r>
                  <a:rPr lang="en-US" sz="1200" noProof="0" dirty="0"/>
                  <a:t>-dimension representation of node </a:t>
                </a:r>
                <a:r>
                  <a:rPr lang="en-US" sz="1200" i="0" noProof="0">
                    <a:latin typeface="Cambria Math" panose="02040503050406030204" pitchFamily="18" charset="0"/>
                  </a:rPr>
                  <a:t>𝑖</a:t>
                </a:r>
                <a:endParaRPr lang="en-US" sz="1200" dirty="0"/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0CB072-0A12-FC86-E2B5-02D0A58DE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8548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9409C-0F42-6A46-8DC9-BEA462074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E637ED-A3CA-D2E4-1877-019BB8510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A48F296-F2C0-122F-1414-7AC84515F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 dirty="0"/>
              <a:t>For example, if we consider this graph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 dirty="0"/>
              <a:t>by the way, quite hard to visualize as such, due to its size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F5DDBF-5DB4-4FDC-B817-5FA66FE57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1134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F60DD-73BF-466B-3BA7-27803CA8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855F6EC-BDDD-FB3C-4691-1EF599B1A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7E3EB91-2379-CCF5-AA7A-BE0E6B215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Then, its spectral 2D embedding would like this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Strongly connected nodes map to nearby positions in the embedded space</a:t>
            </a:r>
            <a:endParaRPr lang="en-US" sz="1200" i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C8022A-2057-1AA5-DA96-B62B59ECA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462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924E6-FE76-C188-1BF7-B627EDF3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FB9D447-D02B-EFB5-83CC-4C760AB3A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071A54E7-ADB4-C3C1-7893-2DEBD2520C8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Central Limit Theorem Corollary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[1] For nice block</a:t>
                </a:r>
                <a:r>
                  <a:rPr lang="en-US" sz="1200" baseline="0" dirty="0"/>
                  <a:t> </a:t>
                </a:r>
                <a:r>
                  <a:rPr lang="en-US" sz="1200" dirty="0"/>
                  <a:t>distribution 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, the</a:t>
                </a:r>
                <a:r>
                  <a:rPr lang="en-US" sz="1200" baseline="0" dirty="0"/>
                  <a:t> 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200" noProof="0" dirty="0"/>
                  <a:t>-embedding of nodes belonging to the same community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200" dirty="0"/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follow,</a:t>
                </a:r>
                <a:r>
                  <a:rPr lang="en-US" sz="1200" baseline="0" dirty="0"/>
                  <a:t> asymptotically, a 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200" noProof="0" dirty="0"/>
                  <a:t>-dimensional Gaussian distribution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[2] </a:t>
                </a:r>
                <a:r>
                  <a:rPr lang="en-US" sz="1200" noProof="0" dirty="0"/>
                  <a:t>That is, the 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noProof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 noProof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200" b="0" i="0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0" noProof="0" dirty="0"/>
                  <a:t>produces</a:t>
                </a:r>
                <a:r>
                  <a:rPr lang="en-US" sz="1200" b="0" baseline="0" noProof="0" dirty="0"/>
                  <a:t> </a:t>
                </a:r>
                <a:r>
                  <a:rPr lang="en-US" sz="1200" b="0" noProof="0" dirty="0"/>
                  <a:t>a point cloud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="0" noProof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noProof="0" dirty="0"/>
                  <a:t>that is a full-rank linear transformation of </a:t>
                </a:r>
                <a:r>
                  <a:rPr lang="en-US" sz="1200" b="0" noProof="0" dirty="0" err="1"/>
                  <a:t>i.i.d.</a:t>
                </a:r>
                <a:r>
                  <a:rPr lang="en-US" sz="1200" noProof="0" dirty="0"/>
                  <a:t> draws</a:t>
                </a:r>
                <a:r>
                  <a:rPr lang="en-US" sz="1200" b="0" noProof="0" dirty="0"/>
                  <a:t> from a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200" b="0" noProof="0" dirty="0"/>
                  <a:t>-component </a:t>
                </a:r>
                <a:r>
                  <a:rPr lang="en-US" sz="1200" noProof="0" dirty="0"/>
                  <a:t>Gaussian</a:t>
                </a:r>
                <a:r>
                  <a:rPr lang="en-US" sz="1200" baseline="0" noProof="0" dirty="0"/>
                  <a:t> Mixture Model</a:t>
                </a:r>
                <a:endParaRPr lang="en-US" sz="1200" b="1" noProof="0" dirty="0"/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071A54E7-ADB4-C3C1-7893-2DEBD2520C8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Central Limit Theorem Corollary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[1] For nice block</a:t>
                </a:r>
                <a:r>
                  <a:rPr lang="en-US" sz="1200" baseline="0" dirty="0"/>
                  <a:t> </a:t>
                </a:r>
                <a:r>
                  <a:rPr lang="en-US" sz="1200" dirty="0"/>
                  <a:t>distribution </a:t>
                </a:r>
                <a:r>
                  <a:rPr lang="en-US" sz="1200" i="0" noProof="0">
                    <a:latin typeface="Cambria Math" panose="02040503050406030204" pitchFamily="18" charset="0"/>
                  </a:rPr>
                  <a:t>𝐷</a:t>
                </a:r>
                <a:r>
                  <a:rPr lang="en-US" sz="1200" dirty="0"/>
                  <a:t>, the</a:t>
                </a:r>
                <a:r>
                  <a:rPr lang="en-US" sz="1200" baseline="0" dirty="0"/>
                  <a:t> </a:t>
                </a:r>
                <a:r>
                  <a:rPr lang="en-US" sz="1200" i="0" noProof="0">
                    <a:latin typeface="Cambria Math" panose="02040503050406030204" pitchFamily="18" charset="0"/>
                  </a:rPr>
                  <a:t>𝑑</a:t>
                </a:r>
                <a:r>
                  <a:rPr lang="en-US" sz="1200" noProof="0" dirty="0"/>
                  <a:t>-embedding of nodes belonging to the same community </a:t>
                </a:r>
                <a:r>
                  <a:rPr lang="en-US" sz="1200" b="0" i="0" noProof="0">
                    <a:latin typeface="Cambria Math" panose="02040503050406030204" pitchFamily="18" charset="0"/>
                  </a:rPr>
                  <a:t>𝑘</a:t>
                </a:r>
                <a:r>
                  <a:rPr lang="en-US" sz="1200" dirty="0"/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follow,</a:t>
                </a:r>
                <a:r>
                  <a:rPr lang="en-US" sz="1200" baseline="0" dirty="0"/>
                  <a:t> asymptotically, a </a:t>
                </a:r>
                <a:r>
                  <a:rPr lang="en-US" sz="1200" i="0" noProof="0">
                    <a:latin typeface="Cambria Math" panose="02040503050406030204" pitchFamily="18" charset="0"/>
                  </a:rPr>
                  <a:t>𝑑</a:t>
                </a:r>
                <a:r>
                  <a:rPr lang="en-US" sz="1200" noProof="0" dirty="0"/>
                  <a:t>-dimensional Gaussian distribution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[2] </a:t>
                </a:r>
                <a:r>
                  <a:rPr lang="en-US" sz="1200" noProof="0" dirty="0"/>
                  <a:t>That is, the embedding </a:t>
                </a:r>
                <a:r>
                  <a:rPr lang="en-US" sz="1200" i="0" noProof="0">
                    <a:latin typeface="Cambria Math" panose="02040503050406030204" pitchFamily="18" charset="0"/>
                  </a:rPr>
                  <a:t>𝑋_𝐴</a:t>
                </a:r>
                <a:r>
                  <a:rPr lang="en-US" sz="1200" b="0" i="0" noProof="0">
                    <a:latin typeface="Cambria Math" panose="02040503050406030204" pitchFamily="18" charset="0"/>
                  </a:rPr>
                  <a:t>  </a:t>
                </a:r>
                <a:r>
                  <a:rPr lang="en-US" sz="1200" b="0" noProof="0" dirty="0"/>
                  <a:t>produces</a:t>
                </a:r>
                <a:r>
                  <a:rPr lang="en-US" sz="1200" b="0" baseline="0" noProof="0" dirty="0"/>
                  <a:t> </a:t>
                </a:r>
                <a:r>
                  <a:rPr lang="en-US" sz="1200" b="0" noProof="0" dirty="0"/>
                  <a:t>a point cloud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="0" noProof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noProof="0" dirty="0"/>
                  <a:t>that is a full-rank linear transformation of </a:t>
                </a:r>
                <a:r>
                  <a:rPr lang="en-US" sz="1200" b="0" noProof="0" dirty="0" err="1"/>
                  <a:t>i.i.d.</a:t>
                </a:r>
                <a:r>
                  <a:rPr lang="en-US" sz="1200" noProof="0" dirty="0"/>
                  <a:t> draws</a:t>
                </a:r>
                <a:r>
                  <a:rPr lang="en-US" sz="1200" b="0" noProof="0" dirty="0"/>
                  <a:t> from a </a:t>
                </a:r>
                <a:r>
                  <a:rPr lang="en-US" sz="1200" b="0" i="0" noProof="0">
                    <a:latin typeface="Cambria Math" panose="02040503050406030204" pitchFamily="18" charset="0"/>
                  </a:rPr>
                  <a:t>𝐾</a:t>
                </a:r>
                <a:r>
                  <a:rPr lang="en-US" sz="1200" b="0" noProof="0" dirty="0"/>
                  <a:t>-component </a:t>
                </a:r>
                <a:r>
                  <a:rPr lang="en-US" sz="1200" noProof="0" dirty="0"/>
                  <a:t>Gaussian</a:t>
                </a:r>
                <a:r>
                  <a:rPr lang="en-US" sz="1200" baseline="0" noProof="0" dirty="0"/>
                  <a:t> Mixture Model</a:t>
                </a:r>
                <a:endParaRPr lang="en-US" sz="1200" b="1" noProof="0" dirty="0"/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00C827-42B2-7970-68CD-5A8E43866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681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589F3-EC90-89C4-BBBE-370A6AF2B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1EA2CAD-6A1D-2E1E-AD28-84CE387BF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64BC2AA2-6E4F-44C2-6E6D-C6F5E9149A9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We can empirically estimate the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noProof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200" dirty="0"/>
                  <a:t> from the point cloud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[1] </a:t>
                </a:r>
                <a:r>
                  <a:rPr lang="en-US" noProof="0" dirty="0"/>
                  <a:t>Then, to estimate the labels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acc>
                  </m:oMath>
                </a14:m>
                <a:r>
                  <a:rPr lang="en-US" noProof="0" dirty="0"/>
                  <a:t>, we compute for each node</a:t>
                </a:r>
                <a:r>
                  <a:rPr lang="en-US" b="0" noProof="0" dirty="0"/>
                  <a:t>,</a:t>
                </a:r>
                <a:r>
                  <a:rPr lang="en-US" b="1" noProof="0" dirty="0"/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b="1" noProof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noProof="0" dirty="0"/>
                  <a:t>the posterior probability that its embedding representation was generated by Gaussian component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fr-FR" b="0" noProof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And we choose as</a:t>
                </a:r>
                <a:r>
                  <a:rPr lang="en-US" sz="1200" baseline="0" dirty="0"/>
                  <a:t> its label the community</a:t>
                </a:r>
                <a:r>
                  <a:rPr lang="en-US" sz="1200" dirty="0"/>
                  <a:t> </a:t>
                </a:r>
                <a:r>
                  <a:rPr lang="en-US" sz="1200" baseline="0" dirty="0"/>
                  <a:t>maximizing this probability </a:t>
                </a:r>
                <a:endParaRPr lang="en-US" sz="1200" dirty="0"/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64BC2AA2-6E4F-44C2-6E6D-C6F5E9149A9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We can empirically estimate the parameters </a:t>
                </a:r>
                <a:r>
                  <a:rPr lang="en-US" i="0" noProof="0">
                    <a:latin typeface="Cambria Math" panose="02040503050406030204" pitchFamily="18" charset="0"/>
                  </a:rPr>
                  <a:t>𝜇_𝑘</a:t>
                </a:r>
                <a:r>
                  <a:rPr lang="en-US" b="0" i="0" noProof="0">
                    <a:latin typeface="Cambria Math" panose="02040503050406030204" pitchFamily="18" charset="0"/>
                  </a:rPr>
                  <a:t>,Σ_𝑘</a:t>
                </a:r>
                <a:r>
                  <a:rPr lang="en-US" sz="1200" dirty="0"/>
                  <a:t> from the point cloud </a:t>
                </a:r>
                <a:r>
                  <a:rPr lang="en-US" b="0" i="0" noProof="0">
                    <a:latin typeface="Cambria Math" panose="02040503050406030204" pitchFamily="18" charset="0"/>
                  </a:rPr>
                  <a:t>𝑋_𝐴</a:t>
                </a: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[1] </a:t>
                </a:r>
                <a:r>
                  <a:rPr lang="en-US" noProof="0" dirty="0"/>
                  <a:t>Then, to estimate the labels </a:t>
                </a:r>
                <a:r>
                  <a:rPr lang="en-US" b="0" i="0" noProof="0">
                    <a:latin typeface="Cambria Math" panose="02040503050406030204" pitchFamily="18" charset="0"/>
                  </a:rPr>
                  <a:t>𝑍 ̂</a:t>
                </a:r>
                <a:r>
                  <a:rPr lang="en-US" noProof="0" dirty="0"/>
                  <a:t>, we compute for each node</a:t>
                </a:r>
                <a:r>
                  <a:rPr lang="en-US" b="0" noProof="0" dirty="0"/>
                  <a:t>,</a:t>
                </a:r>
                <a:r>
                  <a:rPr lang="en-US" b="1" noProof="0" dirty="0"/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b="1" noProof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noProof="0" dirty="0"/>
                  <a:t>the posterior probability that its embedding representation was generated by Gaussian component </a:t>
                </a:r>
                <a:r>
                  <a:rPr lang="en-US" b="0" i="0" noProof="0">
                    <a:latin typeface="Cambria Math" panose="02040503050406030204" pitchFamily="18" charset="0"/>
                  </a:rPr>
                  <a:t>𝑘</a:t>
                </a:r>
                <a:endParaRPr lang="fr-FR" b="0" noProof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And we choose as</a:t>
                </a:r>
                <a:r>
                  <a:rPr lang="en-US" sz="1200" baseline="0" dirty="0"/>
                  <a:t> its label the community</a:t>
                </a:r>
                <a:r>
                  <a:rPr lang="en-US" sz="1200" dirty="0"/>
                  <a:t> </a:t>
                </a:r>
                <a:r>
                  <a:rPr lang="en-US" sz="1200" baseline="0" dirty="0"/>
                  <a:t>maximizing this probability </a:t>
                </a:r>
                <a:endParaRPr lang="en-US" sz="1200" dirty="0"/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A3E51C-E07F-10BB-5FF0-787D4B23A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526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34F04-6C72-1A45-8960-90C7A214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8BAF03E-EF00-E6CC-C10C-086DDDDF0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4B93868-B409-D6DE-E543-5FE286E99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Going back to our example – the GMM fitting looks like this, with these 2 Gaussian components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2D8FFE-0F44-47D1-E04B-F4FA1E195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9670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54847-84EA-010E-260E-B65233515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69EA10F-EEB2-E59B-41F6-6A6A7CEFC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59ADF94E-32A4-03DF-4CAB-D4E62A4DAC0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And the estimated labelling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acc>
                  </m:oMath>
                </a14:m>
                <a:r>
                  <a:rPr lang="en-US" sz="1200" dirty="0"/>
                  <a:t> looks like this</a:t>
                </a:r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59ADF94E-32A4-03DF-4CAB-D4E62A4DAC0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And the estimated labelling </a:t>
                </a:r>
                <a:r>
                  <a:rPr lang="en-US" sz="1200" b="0" i="0" noProof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𝑍 ̂</a:t>
                </a:r>
                <a:r>
                  <a:rPr lang="en-US" sz="1200" dirty="0"/>
                  <a:t> looks like this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22F8B1-8C8F-D9D5-07A4-B54F74EE4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0408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002D6-42DC-A1CB-2B93-C2AF2CD3B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376AD0-BF69-96BB-4B22-022316BDA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31FCFAC-C173-6DEC-C146-620B2E359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Which isn’t that bad, compared to the true labels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405A60-E624-941F-6E68-5C09AF696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7045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50305-3651-7043-ADF1-52646B9AF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0B3EBFB-D433-D588-FDE0-D87065655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140E0EE-51FC-272E-E130-EBB8D522E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 dirty="0"/>
              <a:t>Obviously, it doesn’t always 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 dirty="0"/>
              <a:t>[1] Here the separation is not sufficient, and this leads to poor clustering Accuracy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4A826D-2767-F839-74C9-6A1B252F3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387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EDF29-61EB-5597-EE50-9D308E7D8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4490F1C-9C22-9CF6-1E1B-5778781F1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4F9A745C-7E76-8513-E37D-3F5BB6AAC00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noProof="0" dirty="0"/>
                  <a:t>Could we consider transforming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200" noProof="0" dirty="0"/>
                  <a:t> to obtain a spectral embedding that more clearly separates communities?</a:t>
                </a:r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4F9A745C-7E76-8513-E37D-3F5BB6AAC00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noProof="0" dirty="0"/>
                  <a:t>Could we consider transforming </a:t>
                </a:r>
                <a:r>
                  <a:rPr lang="en-US" sz="1200" b="0" i="0" noProof="0">
                    <a:latin typeface="Cambria Math" panose="02040503050406030204" pitchFamily="18" charset="0"/>
                  </a:rPr>
                  <a:t>𝐴</a:t>
                </a:r>
                <a:r>
                  <a:rPr lang="en-US" sz="1200" noProof="0" dirty="0"/>
                  <a:t> to obtain a spectral embedding that more clearly separates communities?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802CF0-8AD1-3928-EDDA-8A38B8D14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8921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DCB4E-6F15-20AD-BA2C-CDBC0C1E8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8DEB139-C760-E32B-3450-5792C2DAF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40FEA95D-42FF-BCDE-B3FC-D8F6AB111B0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Well. Sticking to our example,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[1] we can drastically improve community separation, by applying this Threshold transformation on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40FEA95D-42FF-BCDE-B3FC-D8F6AB111B0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Well. Sticking to our example,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[1] we can drastically improve community separation, by applying this Threshold transformation on </a:t>
                </a:r>
                <a:r>
                  <a:rPr lang="fr-FR" sz="1200" b="0" i="0">
                    <a:latin typeface="Cambria Math" panose="02040503050406030204" pitchFamily="18" charset="0"/>
                  </a:rPr>
                  <a:t>𝐴</a:t>
                </a:r>
                <a:endParaRPr lang="en-US" sz="1200" dirty="0"/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7AE149-6588-4B21-5B80-B98A61DFA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9870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4AB82-5837-5F58-7239-BC0DC2079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FC6EC60-A537-B37B-ED16-DFDCB0BE0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B4E872B-2B1A-5BB6-1363-D825475E8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As we aim for a rigorous framework,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how can the concept of community separation be formally addressed?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C28A82-2B4A-39BA-F358-29C5E97EB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4703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2E0F1-70F7-C6F5-E7E2-ABF30F257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2036A1D-B4C3-DE9A-6EF3-EE60F7A09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84E2904-2A11-4FD1-43A6-C98BFF45F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Through Chernoff information!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[1] It measures </a:t>
            </a:r>
            <a:r>
              <a:rPr lang="en-US" sz="1200" noProof="0" dirty="0"/>
              <a:t>the separability of the gaussian distributions in the GMM, and hence the corresponding communities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 dirty="0"/>
              <a:t>[2] It can be computed from the Spectral embedding GMM parameters or directly from the Graph block matrices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Chernoff information is non-negative. A value close to 0 </a:t>
            </a:r>
            <a:r>
              <a:rPr lang="en-US" sz="1200" noProof="0" dirty="0"/>
              <a:t>indicates poor separability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FCD27B-FF4E-DCD5-DB99-010EE67EC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3331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54B23-68C3-0528-A60A-11097866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72A2EA2-0CA3-88AE-4DEC-1C78E29F5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CEB05C-3178-E097-1546-7BF10E21D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Now, regarding our testing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E27E8F-5676-3DA2-5ADA-32C3FA510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9814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E85C4-3B63-2351-A1A5-C9BBE23C7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E45AA49-E4AC-6C41-A8FC-A5670E127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6564680-B4AC-A9BA-03B0-106D34085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We initialized our 2 communities-WSBM with Beta and Log-normal edge distributions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[1] And analyzed the 3 following transformations: Opposite, Logarithmic and </a:t>
            </a:r>
            <a:r>
              <a:rPr lang="en-US" sz="1200" noProof="0" dirty="0"/>
              <a:t>Threshold (as well as the Identity transformation)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E49457-CE3B-A760-8B95-940A187A0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3547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476C2-181F-8518-E20B-D4F3D3BCB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C9C172E-20CB-FE30-45B1-93BE26262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6972B0B-2F1E-BCA7-C8A2-3F0AEE32C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So,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what are the classification accuracies of our transformations for spectral clustering?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869317-DD71-140F-2FF5-97EA9B8F2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745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8704-0194-EEF8-515A-081246788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1E70FA0-2270-F71B-C339-67066672A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AA5232E3-2C3A-92D1-68C8-5B4F4EDE5E2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First Example: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Here are plotted, for this Beta-Model, with fixed parameters, except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sz="1200" dirty="0"/>
                  <a:t> sliding between</a:t>
                </a:r>
                <a:r>
                  <a:rPr lang="en-US" sz="1200" baseline="0" dirty="0"/>
                  <a:t> </a:t>
                </a:r>
                <a14:m>
                  <m:oMath xmlns:m="http://schemas.openxmlformats.org/officeDocument/2006/math">
                    <m:r>
                      <a:rPr lang="fr-FR" sz="1200" b="0" i="1" baseline="0" smtClean="0">
                        <a:latin typeface="Cambria Math" panose="02040503050406030204" pitchFamily="18" charset="0"/>
                      </a:rPr>
                      <m:t>[0, 1]</m:t>
                    </m:r>
                  </m:oMath>
                </a14:m>
                <a:r>
                  <a:rPr lang="en-US" sz="1200" dirty="0"/>
                  <a:t>,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the clustering</a:t>
                </a:r>
                <a:r>
                  <a:rPr lang="en-US" sz="1200" baseline="0" dirty="0"/>
                  <a:t> Accuracies of our 4 transformations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aseline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aseline="0" dirty="0"/>
                  <a:t>We see that the Threshold and Log transformations perform better than the Identity</a:t>
                </a:r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AA5232E3-2C3A-92D1-68C8-5B4F4EDE5E2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First Example: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Here are plotted, for this Beta-Model, with fixed parameters, except for </a:t>
                </a:r>
                <a:r>
                  <a:rPr lang="fr-FR" sz="1200" b="0" i="0">
                    <a:latin typeface="Cambria Math" panose="02040503050406030204" pitchFamily="18" charset="0"/>
                  </a:rPr>
                  <a:t>𝛼_11</a:t>
                </a:r>
                <a:r>
                  <a:rPr lang="en-US" sz="1200" dirty="0"/>
                  <a:t> sliding between</a:t>
                </a:r>
                <a:r>
                  <a:rPr lang="en-US" sz="1200" baseline="0" dirty="0"/>
                  <a:t> </a:t>
                </a:r>
                <a:r>
                  <a:rPr lang="fr-FR" sz="1200" b="0" i="0" baseline="0">
                    <a:latin typeface="Cambria Math" panose="02040503050406030204" pitchFamily="18" charset="0"/>
                  </a:rPr>
                  <a:t>[0, 1]</a:t>
                </a:r>
                <a:r>
                  <a:rPr lang="en-US" sz="1200" dirty="0"/>
                  <a:t>,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the clustering</a:t>
                </a:r>
                <a:r>
                  <a:rPr lang="en-US" sz="1200" baseline="0" dirty="0"/>
                  <a:t> Accuracies of our 4 transformations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aseline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aseline="0" dirty="0"/>
                  <a:t>We see that the Threshold and Log transformations perform better than the Identity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398E2E-FF84-6FAA-EE94-3DC41F592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8822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84FF9-8BE5-4EBE-05E1-FE2D79F78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C90D3E1-FC25-CF77-2CA7-14C09679E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24E1882-7616-AEAC-DE04-A74F1D765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/>
              <a:t>We might also consider, dynamically, the Transformation yielding the best empirical Chernoff information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/>
              <a:t>In yellow, is depicted the Transformation having the best Chernoff information, computed from the GMM estimated parameters,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/>
              <a:t>while in blue, is the one with the best Chernoff information, computed from the empirical block mean and variance matrices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072448-3491-11E6-6C0D-818EBDE57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1893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72B2E-320C-9704-238E-E86E772FA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E54B036-1A58-7D5A-D150-6DD85C92C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EE8FE58-08D2-03FA-D3BF-E11F0C411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In this other parameters setting (less edges and less variance in the cross-community edges),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the Threshold and Log transformations achieve Accuracy close to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significatively better than when no Transformation is applied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13F279-87F6-9A58-ED0D-0322C4581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2682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42E15-2AA8-19CE-381C-B3C68AB8D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55A43FF-45F2-B282-340E-4EDCFDB5C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58D375F-E39F-4A1F-27B9-2F20447C9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Here, to the contrary, for the Log-normal Model with balanced community size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[1] applying a transformation, which is not the identity, worsens drastically the clustering Accuracy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7D975C-957F-8F5A-956C-C3A5373BE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1229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9B665-F78E-F8D3-1B2E-EA2CE8CD3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F3CD7E2-59B8-DE73-5BFA-02D661AEE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EC555C25-FF93-A50E-3306-2C629631B0D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noProof="0" dirty="0"/>
                  <a:t>For some models, community separation seems intrinsically hard</a:t>
                </a:r>
                <a:br>
                  <a:rPr lang="en-US" sz="1200" noProof="0" dirty="0"/>
                </a:br>
                <a:br>
                  <a:rPr lang="en-US" sz="1200" noProof="0" dirty="0"/>
                </a:br>
                <a:r>
                  <a:rPr lang="en-US" sz="1200" noProof="0" dirty="0"/>
                  <a:t>As we can see, on the </a:t>
                </a:r>
                <a14:m>
                  <m:oMath xmlns:m="http://schemas.openxmlformats.org/officeDocument/2006/math">
                    <m:r>
                      <a:rPr lang="en-US" sz="1200" i="1" noProof="0" dirty="0" smtClean="0">
                        <a:latin typeface="Cambria Math" panose="02040503050406030204" pitchFamily="18" charset="0"/>
                      </a:rPr>
                      <m:t>[0.5, 1]</m:t>
                    </m:r>
                  </m:oMath>
                </a14:m>
                <a:r>
                  <a:rPr lang="en-US" sz="1200" noProof="0" dirty="0"/>
                  <a:t> segment, no Transformation seems to produce good accuracy</a:t>
                </a:r>
                <a:endParaRPr lang="en-US" sz="1200" dirty="0"/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EC555C25-FF93-A50E-3306-2C629631B0D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noProof="0" dirty="0"/>
                  <a:t>For some models, community separation seems intrinsically hard</a:t>
                </a:r>
                <a:br>
                  <a:rPr lang="en-US" sz="1200" noProof="0" dirty="0"/>
                </a:br>
                <a:br>
                  <a:rPr lang="en-US" sz="1200" noProof="0" dirty="0"/>
                </a:br>
                <a:r>
                  <a:rPr lang="en-US" sz="1200" noProof="0" dirty="0"/>
                  <a:t>As we can see, on the </a:t>
                </a:r>
                <a:r>
                  <a:rPr lang="en-US" sz="1200" i="0" noProof="0" dirty="0">
                    <a:latin typeface="Cambria Math" panose="02040503050406030204" pitchFamily="18" charset="0"/>
                  </a:rPr>
                  <a:t>[0.5, 1]</a:t>
                </a:r>
                <a:r>
                  <a:rPr lang="en-US" sz="1200" noProof="0" dirty="0"/>
                  <a:t> segment, no Transformation seems to produce good accuracy</a:t>
                </a:r>
                <a:endParaRPr lang="en-US" sz="1200" dirty="0"/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C8A3F3-F360-6F2E-2F46-E75C0BB7A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4156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E3E3B-4F54-DE35-C29A-4C0D59D1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B17CF44-6DA9-681F-E973-5B76BD462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751C948-3ACE-307B-E15D-44CAEC02C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Some observations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[1] </a:t>
            </a:r>
            <a:r>
              <a:rPr lang="en-GB" sz="1200" dirty="0"/>
              <a:t>Chernoff information seems to be a good proxy for clustering Accuracy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[2] </a:t>
            </a:r>
            <a:r>
              <a:rPr lang="en-GB" sz="1200" dirty="0"/>
              <a:t>For a given model, one or possibly several transformations will typically dominate the others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[3] Some graphs remain </a:t>
            </a:r>
            <a:r>
              <a:rPr lang="en-US" sz="1200" noProof="0" dirty="0"/>
              <a:t>hard to cluster and Transformations are of no use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126E53-E616-9383-886B-8E23E626C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4798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D7FFD-B3CA-AF95-A43C-BAEC9D399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30486CF-E834-6FCB-3D49-1CC211E2B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5F1F1678-F7BA-2762-D9B9-CFDD44ACB57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What’s next?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[1] We might test other transformations. For example, the </a:t>
                </a:r>
                <a:r>
                  <a:rPr lang="en-US" sz="1200" noProof="0" dirty="0"/>
                  <a:t>Threshold with other</a:t>
                </a:r>
                <a:r>
                  <a:rPr lang="en-US" sz="1200" baseline="0" noProof="0" dirty="0"/>
                  <a:t> 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200" dirty="0"/>
                  <a:t> initialization (or dynamic adaptation)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[2] We could try the Chernoff information argmax technique on </a:t>
                </a:r>
                <a:r>
                  <a:rPr lang="en-US" noProof="0" dirty="0"/>
                  <a:t>a real-world large graph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noProof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noProof="0" dirty="0"/>
                  <a:t>[3] We may also inspect how well </a:t>
                </a:r>
                <a:r>
                  <a:rPr lang="en-US" noProof="0" dirty="0"/>
                  <a:t>Chernoff information is correlated to clustering Accuracy </a:t>
                </a:r>
                <a:endParaRPr lang="en-US" sz="1200" dirty="0"/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5F1F1678-F7BA-2762-D9B9-CFDD44ACB57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What’s next?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[1] We might test other transformations. For example, the </a:t>
                </a:r>
                <a:r>
                  <a:rPr lang="en-US" sz="1200" noProof="0" dirty="0"/>
                  <a:t>Threshold with other</a:t>
                </a:r>
                <a:r>
                  <a:rPr lang="en-US" sz="1200" baseline="0" noProof="0" dirty="0"/>
                  <a:t> </a:t>
                </a:r>
                <a:r>
                  <a:rPr lang="en-US" sz="1200" i="0" noProof="0">
                    <a:latin typeface="Cambria Math" panose="02040503050406030204" pitchFamily="18" charset="0"/>
                  </a:rPr>
                  <a:t>𝜏</a:t>
                </a:r>
                <a:r>
                  <a:rPr lang="en-US" sz="1200" dirty="0"/>
                  <a:t> initialization (or dynamic adaptation)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[2] We could try the Chernoff information argmax technique on </a:t>
                </a:r>
                <a:r>
                  <a:rPr lang="en-US" noProof="0" dirty="0"/>
                  <a:t>a real-world large graph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noProof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noProof="0" dirty="0"/>
                  <a:t>[3] We may also inspect how well </a:t>
                </a:r>
                <a:r>
                  <a:rPr lang="en-US" noProof="0" dirty="0"/>
                  <a:t>Chernoff information is correlated to clustering Accuracy </a:t>
                </a:r>
                <a:endParaRPr lang="en-US" sz="1200" dirty="0"/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6A407E-EAC4-9FD9-5519-A8A93F711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2953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0012D-2EB7-AA9B-B5B6-494889D49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C5FF148-260C-C55B-8810-4FA10507B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BD1F4C-69C2-45C6-BCF9-0603F6EEE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Here are the main references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4E3F46-4602-6A1C-5684-03942C0BF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4500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209A0-BDCB-14EB-D3A6-CDCE5DA55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D627111-7B53-9482-22CA-F7BEC67FC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C8236B1-6C56-A85F-1FCA-DC9543D9D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And this concludes my presentation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Thank you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64F88F-B567-DDF5-98AE-923CD17E4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286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75885" y="0"/>
            <a:ext cx="10416116" cy="6597651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0752" y="1048714"/>
            <a:ext cx="3651249" cy="3117849"/>
          </a:xfrm>
          <a:solidFill>
            <a:schemeClr val="accent1"/>
          </a:solidFill>
        </p:spPr>
        <p:txBody>
          <a:bodyPr lIns="216000" anchor="ctr" anchorCtr="0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02351" y="4166563"/>
            <a:ext cx="2438400" cy="2091267"/>
          </a:xfrm>
          <a:solidFill>
            <a:schemeClr val="tx1"/>
          </a:solidFill>
        </p:spPr>
        <p:txBody>
          <a:bodyPr lIns="90000"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35A482-EC85-1C41-A1E4-7882A0E3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197" y="107045"/>
            <a:ext cx="1567068" cy="678207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34400" y="6244168"/>
            <a:ext cx="2438400" cy="613833"/>
          </a:xfrm>
          <a:solidFill>
            <a:schemeClr val="bg1"/>
          </a:solidFill>
        </p:spPr>
        <p:txBody>
          <a:bodyPr lIns="90000" anchor="ctr">
            <a:noAutofit/>
          </a:bodyPr>
          <a:lstStyle>
            <a:lvl1pPr marL="0" indent="0" algn="ctr">
              <a:buNone/>
              <a:defRPr sz="1467"/>
            </a:lvl1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187583-F16A-6F41-8B68-000F9C9C20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0067" y="5920353"/>
            <a:ext cx="931333" cy="677300"/>
          </a:xfrm>
        </p:spPr>
        <p:txBody>
          <a:bodyPr lIns="0" tIns="0" rIns="0" bIns="0" anchor="b" anchorCtr="0">
            <a:noAutofit/>
          </a:bodyPr>
          <a:lstStyle>
            <a:lvl1pPr marL="152396" indent="-143930">
              <a:buFontTx/>
              <a:buBlip>
                <a:blip r:embed="rId3"/>
              </a:buBlip>
              <a:tabLst/>
              <a:defRPr sz="933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161233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126">
          <p15:clr>
            <a:srgbClr val="FBAE40"/>
          </p15:clr>
        </p15:guide>
        <p15:guide id="5" orient="horz" pos="123">
          <p15:clr>
            <a:srgbClr val="FBAE40"/>
          </p15:clr>
        </p15:guide>
        <p15:guide id="6" orient="horz" pos="3117">
          <p15:clr>
            <a:srgbClr val="FBAE40"/>
          </p15:clr>
        </p15:guide>
        <p15:guide id="7" pos="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0" y="1037168"/>
            <a:ext cx="5411893" cy="2391833"/>
          </a:xfrm>
        </p:spPr>
        <p:txBody>
          <a:bodyPr anchor="ctr" anchorCtr="0">
            <a:normAutofit/>
          </a:bodyPr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0" y="3429000"/>
            <a:ext cx="5411893" cy="2875344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1" y="0"/>
            <a:ext cx="4889500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9066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0" y="1037168"/>
            <a:ext cx="5411893" cy="2391833"/>
          </a:xfrm>
        </p:spPr>
        <p:txBody>
          <a:bodyPr anchor="ctr" anchorCtr="0">
            <a:normAutofit/>
          </a:bodyPr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0" y="3429000"/>
            <a:ext cx="5411893" cy="2875344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1" y="0"/>
            <a:ext cx="4889500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419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0" y="1037168"/>
            <a:ext cx="5411893" cy="2391833"/>
          </a:xfrm>
        </p:spPr>
        <p:txBody>
          <a:bodyPr anchor="ctr" anchorCtr="0">
            <a:normAutofit/>
          </a:bodyPr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0" y="3429000"/>
            <a:ext cx="5411893" cy="2875344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1" y="0"/>
            <a:ext cx="4889500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7012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A30C78BE-DAD0-D748-8B93-AD898D00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131A8490-33AC-9443-A9FC-9A5E9322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875139C-6471-774D-89EF-2B93FAD2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942AF23-4BDC-8C4A-9212-AF88439C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399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501" y="2084917"/>
            <a:ext cx="6108700" cy="4515696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4193117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5F20A3C-6DA6-684F-8F84-A7C8F133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33A2CC-2D27-AE47-AE09-87A5F61228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ABC000E-4E22-1A40-9D3F-FE2F141E5C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AF49D93-C78A-F646-92B0-A7932C43D9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371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0" y="0"/>
            <a:ext cx="4193117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9194" y="2084917"/>
            <a:ext cx="6108700" cy="4515696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2" y="174710"/>
            <a:ext cx="4192693" cy="1430337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082015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0" y="0"/>
            <a:ext cx="4193117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9194" y="2084917"/>
            <a:ext cx="6108700" cy="4515696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193" y="174710"/>
            <a:ext cx="4192693" cy="1430337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89677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0" y="2084917"/>
            <a:ext cx="4193117" cy="477308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9194" y="2084917"/>
            <a:ext cx="6108700" cy="4515696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C026A30B-6F8E-1445-88F0-A5FB77E1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826567D5-4A83-9E48-B441-CCB2A72BA6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830A539-93F1-2541-B9F0-330893BD51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2F21D18-8706-7E4D-8FBE-C1E2584541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834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6500" y="2084917"/>
            <a:ext cx="4895288" cy="4351339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029" y="2084917"/>
            <a:ext cx="4895288" cy="4351339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E34C2B73-67B7-BB4C-AE0F-7D16D8DD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9FF6AA9-AC16-D748-B815-56221BFF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D59D891-3F23-D04C-AB43-6FA4220A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219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BFFD8D9-6AAA-B44F-8BD5-98D7A654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2817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1" y="0"/>
            <a:ext cx="10985500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0752" y="3429001"/>
            <a:ext cx="3651249" cy="2815167"/>
          </a:xfrm>
          <a:solidFill>
            <a:schemeClr val="accent2"/>
          </a:solid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16D46-C7BB-2141-A4EE-18D1756414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3085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1" y="0"/>
            <a:ext cx="10301817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E6F4EB-CC02-6E4D-9146-CE4A7A789A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D4AA2C-29B3-CA42-B7C3-C932911A75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FE7A1E3-AAEC-7641-B6C5-8D9FC0B6A2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7505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1" y="4152899"/>
            <a:ext cx="10985500" cy="27051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1206500" y="2084918"/>
            <a:ext cx="10195984" cy="1915583"/>
          </a:xfrm>
        </p:spPr>
        <p:txBody>
          <a:bodyPr/>
          <a:lstStyle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fr-CH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7CF3032-2465-874C-B786-95E1B594A5A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AF73E2A-22D7-894A-9267-185CB4E4B1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D9777C-EC90-1141-9E30-4B4F669C2BE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0E011164-727C-4C46-B34E-7729CB35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787571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8101AB-8ACE-BB4C-9D61-B4AABFE1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9CFC1D-0B2A-0A4E-9C0D-682EECA5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622065-A833-2340-B0FD-ACB065A3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807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6501" y="174710"/>
            <a:ext cx="4889500" cy="1430337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6501" y="2084917"/>
            <a:ext cx="10301817" cy="4515696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487985" y="2498752"/>
            <a:ext cx="4724347" cy="683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33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Speaker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8317" y="260351"/>
            <a:ext cx="683683" cy="218069"/>
          </a:xfrm>
          <a:prstGeom prst="rect">
            <a:avLst/>
          </a:prstGeom>
        </p:spPr>
        <p:txBody>
          <a:bodyPr vert="horz" lIns="90000" tIns="0" rIns="90000" bIns="0" rtlCol="0" anchor="t"/>
          <a:lstStyle>
            <a:lvl1pPr algn="ctr">
              <a:defRPr sz="933" b="1">
                <a:solidFill>
                  <a:schemeClr val="tx1"/>
                </a:solidFill>
                <a:latin typeface="+mj-lt"/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17E6E68-87EB-C34E-85D5-C26372DFEC9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73697" y="176445"/>
            <a:ext cx="871936" cy="37736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5D7A1C0-94CD-D94F-A99F-21847E542637}"/>
              </a:ext>
            </a:extLst>
          </p:cNvPr>
          <p:cNvSpPr/>
          <p:nvPr userDrawn="1"/>
        </p:nvSpPr>
        <p:spPr>
          <a:xfrm rot="16200000">
            <a:off x="573338" y="6530279"/>
            <a:ext cx="60959" cy="797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294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1" i="0" kern="1000" spc="-93" baseline="0">
          <a:solidFill>
            <a:schemeClr val="tx1"/>
          </a:solidFill>
          <a:latin typeface="Franklin Gothic Demi Cond" panose="020B0706030402020204" pitchFamily="34" charset="0"/>
          <a:ea typeface="Roboto Black" panose="02000000000000000000" pitchFamily="2" charset="0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90000"/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33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SzPct val="90000"/>
        <a:buFont typeface="Wingdings" pitchFamily="2" charset="2"/>
        <a:buChar char="§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126">
          <p15:clr>
            <a:srgbClr val="F26B43"/>
          </p15:clr>
        </p15:guide>
        <p15:guide id="3" pos="5602">
          <p15:clr>
            <a:srgbClr val="F26B43"/>
          </p15:clr>
        </p15:guide>
        <p15:guide id="4" pos="2880">
          <p15:clr>
            <a:srgbClr val="F26B43"/>
          </p15:clr>
        </p15:guide>
        <p15:guide id="5" orient="horz" pos="123">
          <p15:clr>
            <a:srgbClr val="F26B43"/>
          </p15:clr>
        </p15:guide>
        <p15:guide id="6" orient="horz" pos="3117">
          <p15:clr>
            <a:srgbClr val="F26B43"/>
          </p15:clr>
        </p15:guide>
        <p15:guide id="7" pos="570">
          <p15:clr>
            <a:srgbClr val="F26B43"/>
          </p15:clr>
        </p15:guide>
        <p15:guide id="8" pos="1155">
          <p15:clr>
            <a:srgbClr val="F26B43"/>
          </p15:clr>
        </p15:guide>
        <p15:guide id="9" pos="1728">
          <p15:clr>
            <a:srgbClr val="F26B43"/>
          </p15:clr>
        </p15:guide>
        <p15:guide id="10" pos="2304">
          <p15:clr>
            <a:srgbClr val="F26B43"/>
          </p15:clr>
        </p15:guide>
        <p15:guide id="11" pos="3456">
          <p15:clr>
            <a:srgbClr val="F26B43"/>
          </p15:clr>
        </p15:guide>
        <p15:guide id="12" pos="4035">
          <p15:clr>
            <a:srgbClr val="F26B43"/>
          </p15:clr>
        </p15:guide>
        <p15:guide id="13" pos="4608">
          <p15:clr>
            <a:srgbClr val="F26B43"/>
          </p15:clr>
        </p15:guide>
        <p15:guide id="14" pos="5180">
          <p15:clr>
            <a:srgbClr val="F26B43"/>
          </p15:clr>
        </p15:guide>
        <p15:guide id="15" orient="horz" pos="490">
          <p15:clr>
            <a:srgbClr val="F26B43"/>
          </p15:clr>
        </p15:guide>
        <p15:guide id="16" orient="horz" pos="985">
          <p15:clr>
            <a:srgbClr val="F26B43"/>
          </p15:clr>
        </p15:guide>
        <p15:guide id="17" orient="horz" pos="1475">
          <p15:clr>
            <a:srgbClr val="F26B43"/>
          </p15:clr>
        </p15:guide>
        <p15:guide id="18" orient="horz" pos="1962">
          <p15:clr>
            <a:srgbClr val="F26B43"/>
          </p15:clr>
        </p15:guide>
        <p15:guide id="19" orient="horz" pos="2458">
          <p15:clr>
            <a:srgbClr val="F26B43"/>
          </p15:clr>
        </p15:guide>
        <p15:guide id="20" orient="horz" pos="2950">
          <p15:clr>
            <a:srgbClr val="F26B43"/>
          </p15:clr>
        </p15:guide>
        <p15:guide id="21" pos="5437">
          <p15:clr>
            <a:srgbClr val="F26B43"/>
          </p15:clr>
        </p15:guide>
        <p15:guide id="22" orient="horz">
          <p15:clr>
            <a:srgbClr val="F26B43"/>
          </p15:clr>
        </p15:guide>
        <p15:guide id="23" pos="5760">
          <p15:clr>
            <a:srgbClr val="F26B43"/>
          </p15:clr>
        </p15:guide>
        <p15:guide id="24" orient="horz" pos="3240">
          <p15:clr>
            <a:srgbClr val="F26B43"/>
          </p15:clr>
        </p15:guide>
        <p15:guide id="2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4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ndfonline.com/doi/full/10.1080/01621459.2023.2225239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doi.org/10.48550/arXiv.2408.10136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5A5C923-5A79-224D-A6A6-8267C6475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0107" y="1037167"/>
            <a:ext cx="4728210" cy="2391833"/>
          </a:xfrm>
        </p:spPr>
        <p:txBody>
          <a:bodyPr anchor="ctr">
            <a:normAutofit fontScale="90000"/>
          </a:bodyPr>
          <a:lstStyle/>
          <a:p>
            <a:r>
              <a:rPr lang="en-US" noProof="0" dirty="0">
                <a:latin typeface="+mn-lt"/>
              </a:rPr>
              <a:t>Improving Spectral Clustering through Edge Weight Transformations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8627059-A97D-428F-BEEE-BA5ABBDCB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8265" y="3747052"/>
            <a:ext cx="5411893" cy="2557292"/>
          </a:xfrm>
        </p:spPr>
        <p:txBody>
          <a:bodyPr>
            <a:norm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noProof="0" dirty="0"/>
              <a:t>Professor:	Patrick </a:t>
            </a:r>
            <a:r>
              <a:rPr lang="en-US" noProof="0" dirty="0" err="1"/>
              <a:t>Thiran</a:t>
            </a:r>
            <a:endParaRPr lang="en-US" noProof="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noProof="0" dirty="0"/>
              <a:t>Assistant:	Daichi Kuroda</a:t>
            </a:r>
            <a:br>
              <a:rPr lang="en-US" noProof="0" dirty="0"/>
            </a:br>
            <a:r>
              <a:rPr lang="en-US" noProof="0" dirty="0"/>
              <a:t>		Maximilien </a:t>
            </a:r>
            <a:r>
              <a:rPr lang="en-US" noProof="0" dirty="0" err="1"/>
              <a:t>Dreveton</a:t>
            </a:r>
            <a:endParaRPr lang="en-US" noProof="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noProof="0" dirty="0"/>
              <a:t>Student: 	Nicolas Gonzalez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7B7E6C5A-319D-4EA7-AEEE-5B5C9349402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-1628551" y="3704603"/>
            <a:ext cx="4454736" cy="1215365"/>
          </a:xfrm>
        </p:spPr>
        <p:txBody>
          <a:bodyPr anchor="ctr">
            <a:normAutofit/>
          </a:bodyPr>
          <a:lstStyle/>
          <a:p>
            <a:pPr defTabSz="914377">
              <a:spcAft>
                <a:spcPts val="800"/>
              </a:spcAft>
            </a:pPr>
            <a:r>
              <a:rPr lang="en-US" noProof="0" dirty="0">
                <a:solidFill>
                  <a:srgbClr val="E30613"/>
                </a:solidFill>
              </a:rPr>
              <a:t>INDY - Information and Network Dynamics</a:t>
            </a:r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B2D8458E-BDF1-4600-A361-12499697F22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 defTabSz="914377">
              <a:spcAft>
                <a:spcPts val="800"/>
              </a:spcAft>
            </a:pPr>
            <a:r>
              <a:rPr lang="en-US" noProof="0" dirty="0"/>
              <a:t>Nicolas Gonzalez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229D9681-1A5C-4378-B6D7-207FAC5799B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 defTabSz="914377">
              <a:spcAft>
                <a:spcPts val="800"/>
              </a:spcAft>
            </a:pPr>
            <a:fld id="{E1E1CD7C-2161-7D43-862E-CE4C333CD873}" type="slidenum">
              <a:rPr lang="en-US" noProof="0" smtClean="0"/>
              <a:pPr defTabSz="914377">
                <a:spcAft>
                  <a:spcPts val="800"/>
                </a:spcAft>
              </a:pPr>
              <a:t>1</a:t>
            </a:fld>
            <a:endParaRPr lang="en-US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28BCB4E-224D-D81E-4EB7-464442EF36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4459" y="868395"/>
            <a:ext cx="3168115" cy="2433044"/>
          </a:xfrm>
          <a:prstGeom prst="rect">
            <a:avLst/>
          </a:prstGeom>
          <a:ln>
            <a:noFill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8E9EB01-C4F5-9EC2-0647-6396483DECB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4459" y="3900654"/>
            <a:ext cx="3168115" cy="24036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0988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44DA83C8-1132-D58F-341D-B02BCED7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1" y="174711"/>
            <a:ext cx="4889500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Table of contents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BE33E0-AE99-AF06-BD9B-15643489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ECB8E5-A8EE-37F4-3A8F-C0AE456A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</a:t>
            </a:fld>
            <a:endParaRPr lang="en-US" noProof="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801952-9EE1-06F6-15AB-E86897AF76BD}"/>
              </a:ext>
            </a:extLst>
          </p:cNvPr>
          <p:cNvSpPr txBox="1">
            <a:spLocks/>
          </p:cNvSpPr>
          <p:nvPr/>
        </p:nvSpPr>
        <p:spPr>
          <a:xfrm>
            <a:off x="1987826" y="970358"/>
            <a:ext cx="7123043" cy="54900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b="1" noProof="0" dirty="0"/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b="1" noProof="0" dirty="0"/>
              <a:t>Theoretical background</a:t>
            </a:r>
          </a:p>
          <a:p>
            <a:pPr marL="914389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noProof="0" dirty="0">
                <a:latin typeface="+mn-lt"/>
              </a:rPr>
              <a:t>WSBM</a:t>
            </a:r>
          </a:p>
          <a:p>
            <a:pPr marL="914389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noProof="0" dirty="0"/>
              <a:t>Spectral Clustering</a:t>
            </a:r>
          </a:p>
          <a:p>
            <a:pPr marL="914389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noProof="0" dirty="0"/>
              <a:t>Weight Transformation</a:t>
            </a:r>
          </a:p>
          <a:p>
            <a:pPr marL="914389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noProof="0" dirty="0">
                <a:latin typeface="+mn-lt"/>
              </a:rPr>
              <a:t>Separability Measure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b="1" noProof="0" dirty="0"/>
              <a:t>Experimentation</a:t>
            </a:r>
          </a:p>
          <a:p>
            <a:pPr marL="914389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noProof="0" dirty="0"/>
              <a:t>Experimental Setup</a:t>
            </a:r>
          </a:p>
          <a:p>
            <a:pPr marL="914389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noProof="0" dirty="0"/>
              <a:t>Results</a:t>
            </a:r>
          </a:p>
          <a:p>
            <a:pPr marL="914389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noProof="0" dirty="0"/>
              <a:t>Preliminary observations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b="1" noProof="0" dirty="0"/>
              <a:t>What’s next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576B52A9-FF00-913A-0BFA-1568736D7018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319343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7BB78-CD28-14A4-9E60-31C872E1B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9492D0C6-41AC-E3D7-4689-621045818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1" y="174711"/>
            <a:ext cx="4889500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Introduction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5C3199-5141-C6F6-196D-FD8D76F8A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8B4480-0FE1-BCAE-4A3E-EBA7B1806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27CF9DFA-3F06-5B05-33EC-CD4B5F14D978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9D13856-C60B-A5F2-820F-17D9668A0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51285" y="3679058"/>
            <a:ext cx="3168115" cy="2433044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25B7EC6-37B6-5FDD-4ED3-A38F60185B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72600" y="3679058"/>
            <a:ext cx="3168115" cy="240369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2BB1BAB7-7446-F503-38AE-BD78FB19185F}"/>
                  </a:ext>
                </a:extLst>
              </p:cNvPr>
              <p:cNvSpPr txBox="1"/>
              <p:nvPr/>
            </p:nvSpPr>
            <p:spPr>
              <a:xfrm>
                <a:off x="4754792" y="863634"/>
                <a:ext cx="268241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0" noProof="0" dirty="0"/>
                  <a:t>2-communities</a:t>
                </a:r>
                <a:br>
                  <a:rPr lang="en-US" sz="2400" b="0" noProof="0" dirty="0"/>
                </a:br>
                <a:r>
                  <a:rPr lang="en-US" sz="2400" b="0" noProof="0" dirty="0"/>
                  <a:t>weighted graph </a:t>
                </a:r>
                <a14:m>
                  <m:oMath xmlns:m="http://schemas.openxmlformats.org/officeDocument/2006/math">
                    <m:r>
                      <a:rPr lang="en-US" sz="2400" b="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noProof="0" dirty="0"/>
              </a:p>
            </p:txBody>
          </p:sp>
        </mc:Choice>
        <mc:Fallback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2BB1BAB7-7446-F503-38AE-BD78FB191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792" y="863634"/>
                <a:ext cx="2682415" cy="830997"/>
              </a:xfrm>
              <a:prstGeom prst="rect">
                <a:avLst/>
              </a:prstGeom>
              <a:blipFill>
                <a:blip r:embed="rId5"/>
                <a:stretch>
                  <a:fillRect l="-909"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B645A7C-239F-A263-A72B-80B48ACEE7C8}"/>
                  </a:ext>
                </a:extLst>
              </p:cNvPr>
              <p:cNvSpPr txBox="1"/>
              <p:nvPr/>
            </p:nvSpPr>
            <p:spPr>
              <a:xfrm>
                <a:off x="1551285" y="2967335"/>
                <a:ext cx="316811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0" noProof="0" dirty="0"/>
                  <a:t>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b="0" noProof="0" dirty="0"/>
                  <a:t> </a:t>
                </a:r>
                <a:endParaRPr lang="en-US" sz="2400" b="1" noProof="0" dirty="0"/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B645A7C-239F-A263-A72B-80B48ACEE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285" y="2967335"/>
                <a:ext cx="3168114" cy="461665"/>
              </a:xfrm>
              <a:prstGeom prst="rect">
                <a:avLst/>
              </a:prstGeom>
              <a:blipFill>
                <a:blip r:embed="rId6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F6102F36-3C8D-AFD3-99EB-A87F1BB8EDE5}"/>
                  </a:ext>
                </a:extLst>
              </p:cNvPr>
              <p:cNvSpPr txBox="1"/>
              <p:nvPr/>
            </p:nvSpPr>
            <p:spPr>
              <a:xfrm>
                <a:off x="7472600" y="2967335"/>
                <a:ext cx="3168114" cy="497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0" noProof="0" dirty="0"/>
                  <a:t>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sz="2400" b="0" noProof="0" dirty="0"/>
                  <a:t> </a:t>
                </a:r>
                <a:endParaRPr lang="en-US" sz="2400" b="1" noProof="0" dirty="0"/>
              </a:p>
            </p:txBody>
          </p:sp>
        </mc:Choice>
        <mc:Fallback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F6102F36-3C8D-AFD3-99EB-A87F1BB8E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600" y="2967335"/>
                <a:ext cx="3168114" cy="497252"/>
              </a:xfrm>
              <a:prstGeom prst="rect">
                <a:avLst/>
              </a:prstGeom>
              <a:blipFill>
                <a:blip r:embed="rId7"/>
                <a:stretch>
                  <a:fillRect t="-9877" b="-20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889781EF-0DEE-354A-5F27-4CE6701ADAEA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flipH="1">
            <a:off x="3135342" y="1279133"/>
            <a:ext cx="1619450" cy="168820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E9D7941A-7725-312A-4518-7AFCE1167523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>
            <a:off x="7437207" y="1279133"/>
            <a:ext cx="1619450" cy="168820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F6BEAB5F-2CD5-747B-49BD-017D0F3EC5E8}"/>
                  </a:ext>
                </a:extLst>
              </p:cNvPr>
              <p:cNvSpPr txBox="1"/>
              <p:nvPr/>
            </p:nvSpPr>
            <p:spPr>
              <a:xfrm>
                <a:off x="6905724" y="1976900"/>
                <a:ext cx="2682415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noProof="0" dirty="0"/>
                  <a:t>Weight transform</a:t>
                </a:r>
                <a:br>
                  <a:rPr lang="en-US" sz="2000" noProof="0" dirty="0"/>
                </a:br>
                <a:r>
                  <a:rPr lang="en-US" sz="2000" b="0" noProof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0" noProof="0" dirty="0"/>
                  <a:t> </a:t>
                </a:r>
                <a:endParaRPr lang="en-US" sz="2000" b="1" noProof="0" dirty="0"/>
              </a:p>
            </p:txBody>
          </p:sp>
        </mc:Choice>
        <mc:Fallback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F6BEAB5F-2CD5-747B-49BD-017D0F3EC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724" y="1976900"/>
                <a:ext cx="2682415" cy="707886"/>
              </a:xfrm>
              <a:prstGeom prst="rect">
                <a:avLst/>
              </a:prstGeom>
              <a:blipFill>
                <a:blip r:embed="rId8"/>
                <a:stretch>
                  <a:fillRect t="-3448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765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0F896-636A-2E10-39C7-6C35FDE8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838757-D4BE-1D49-581D-9AE923CF8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7E46C8-020E-CDFF-1847-9F2FF9B5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4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8EDDFA65-F487-A0B4-76D0-966EED113FCB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F11EF82-60C1-1C00-3D3A-5E8C4D61302B}"/>
              </a:ext>
            </a:extLst>
          </p:cNvPr>
          <p:cNvSpPr txBox="1">
            <a:spLocks/>
          </p:cNvSpPr>
          <p:nvPr/>
        </p:nvSpPr>
        <p:spPr>
          <a:xfrm>
            <a:off x="945091" y="1201631"/>
            <a:ext cx="10301817" cy="44547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 anchor="ctr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600" noProof="0" dirty="0"/>
              <a:t>Theoretical Background</a:t>
            </a:r>
          </a:p>
        </p:txBody>
      </p:sp>
    </p:spTree>
    <p:extLst>
      <p:ext uri="{BB962C8B-B14F-4D97-AF65-F5344CB8AC3E}">
        <p14:creationId xmlns:p14="http://schemas.microsoft.com/office/powerpoint/2010/main" val="309945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81CF1-FED6-1E5E-D32A-6F86394B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D5C4CE89-163C-E773-B221-AE8C67E81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</a:t>
            </a:r>
            <a:r>
              <a:rPr lang="en-US" sz="3800" b="0" noProof="0" dirty="0">
                <a:latin typeface="+mn-lt"/>
              </a:rPr>
              <a:t>eighted</a:t>
            </a:r>
            <a:r>
              <a:rPr lang="en-US" sz="3800" noProof="0" dirty="0">
                <a:latin typeface="+mn-lt"/>
              </a:rPr>
              <a:t> S</a:t>
            </a:r>
            <a:r>
              <a:rPr lang="en-US" sz="3800" b="0" noProof="0" dirty="0">
                <a:latin typeface="+mn-lt"/>
              </a:rPr>
              <a:t>tochastic</a:t>
            </a:r>
            <a:r>
              <a:rPr lang="en-US" sz="3800" noProof="0" dirty="0">
                <a:latin typeface="+mn-lt"/>
              </a:rPr>
              <a:t> B</a:t>
            </a:r>
            <a:r>
              <a:rPr lang="en-US" sz="3800" b="0" noProof="0" dirty="0">
                <a:latin typeface="+mn-lt"/>
              </a:rPr>
              <a:t>lock</a:t>
            </a:r>
            <a:r>
              <a:rPr lang="en-US" sz="3800" noProof="0" dirty="0">
                <a:latin typeface="+mn-lt"/>
              </a:rPr>
              <a:t> M</a:t>
            </a:r>
            <a:r>
              <a:rPr lang="en-US" sz="3800" b="0" noProof="0" dirty="0">
                <a:latin typeface="+mn-lt"/>
              </a:rPr>
              <a:t>odel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483674-2845-6E01-CD54-041D339D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94E7B3-7544-58D7-09EB-8BD24748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5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8F25934C-DDD9-AF3C-DAB1-3D4A75BDBE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7"/>
                <a:ext cx="10301817" cy="484219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We work with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noProof="0" dirty="0"/>
                  <a:t>-community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noProof="0" dirty="0"/>
                  <a:t>-WSBM graphs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noProof="0" dirty="0"/>
                  <a:t> of size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b="0" i="1" noProof="0" dirty="0">
                    <a:latin typeface="Cambria Math" panose="02040503050406030204" pitchFamily="18" charset="0"/>
                  </a:rPr>
                  <a:t>.</a:t>
                </a:r>
                <a:endParaRPr lang="en-US" sz="2200" i="1" noProof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noProof="0" dirty="0"/>
                  <a:t> is specified by the symmetric adjacency matrix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noProof="0" dirty="0"/>
                  <a:t>, community labels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0, …, 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noProof="0" dirty="0"/>
                  <a:t> </a:t>
                </a:r>
                <a:r>
                  <a:rPr lang="en-US" sz="2200" noProof="0" dirty="0"/>
                  <a:t>and block edge weight distribution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noProof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sz="22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noProof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  <m:t>𝑘𝑙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</m:oMath>
                </a14:m>
                <a:br>
                  <a:rPr lang="en-US" sz="2200" noProof="0" dirty="0"/>
                </a:br>
                <a:br>
                  <a:rPr lang="en-US" sz="2200" noProof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limUpp>
                      <m:limUp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∼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 sz="2200" b="0" i="0" noProof="0" smtClean="0">
                            <a:latin typeface="Cambria Math" panose="02040503050406030204" pitchFamily="18" charset="0"/>
                          </a:rPr>
                          <m:t>ind</m:t>
                        </m:r>
                      </m:lim>
                    </m:limUpp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noProof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sz="2200" noProof="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200" noProof="0" dirty="0"/>
              </a:p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We also define the block mean and block variance matrices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2200" noProof="0" dirty="0"/>
                  <a:t> as</a:t>
                </a:r>
                <a:br>
                  <a:rPr lang="en-US" sz="2200" noProof="0" dirty="0"/>
                </a:br>
                <a:endParaRPr lang="en-US" sz="2200" noProof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200" b="0" i="1" noProof="0" smtClean="0"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US" sz="2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noProof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sz="2200" b="0" i="1" noProof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200" i="1" noProof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noProof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  <m:t>𝑘𝑙</m:t>
                              </m:r>
                            </m:sub>
                          </m:sSub>
                        </m:e>
                      </m:d>
                      <m:r>
                        <a:rPr lang="en-US" sz="2200" b="0" i="1" noProof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sz="2200" b="0" noProof="0" dirty="0"/>
                </a:br>
                <a:endParaRPr lang="en-US" sz="2200" b="0" noProof="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200" noProof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US" sz="2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noProof="0">
                          <a:latin typeface="Cambria Math" panose="02040503050406030204" pitchFamily="18" charset="0"/>
                        </a:rPr>
                        <m:t>𝕍</m:t>
                      </m:r>
                      <m:r>
                        <a:rPr lang="en-US" sz="2200" b="0" i="1" noProof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200" i="1" noProof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noProof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  <m:t>𝑘𝑙</m:t>
                              </m:r>
                            </m:sub>
                          </m:sSub>
                        </m:e>
                      </m:d>
                      <m:r>
                        <a:rPr lang="en-US" sz="2200" b="0" i="1" noProof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200" noProof="0" dirty="0"/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8F25934C-DDD9-AF3C-DAB1-3D4A75BDB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7"/>
                <a:ext cx="10301817" cy="4842195"/>
              </a:xfrm>
              <a:prstGeom prst="rect">
                <a:avLst/>
              </a:prstGeom>
              <a:blipFill>
                <a:blip r:embed="rId3"/>
                <a:stretch>
                  <a:fillRect t="-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747E6DB8-4E7B-5A9E-A3E6-5EBDFD6A51F6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143127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237A6-C8D4-881B-1190-A2453719B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ACD54806-4864-6D34-7A51-7CA35B3C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</a:t>
            </a:r>
            <a:r>
              <a:rPr lang="en-US" sz="3800" b="0" noProof="0" dirty="0">
                <a:latin typeface="+mn-lt"/>
              </a:rPr>
              <a:t>eighted</a:t>
            </a:r>
            <a:r>
              <a:rPr lang="en-US" sz="3800" noProof="0" dirty="0">
                <a:latin typeface="+mn-lt"/>
              </a:rPr>
              <a:t> S</a:t>
            </a:r>
            <a:r>
              <a:rPr lang="en-US" sz="3800" b="0" noProof="0" dirty="0">
                <a:latin typeface="+mn-lt"/>
              </a:rPr>
              <a:t>tochastic</a:t>
            </a:r>
            <a:r>
              <a:rPr lang="en-US" sz="3800" noProof="0" dirty="0">
                <a:latin typeface="+mn-lt"/>
              </a:rPr>
              <a:t> B</a:t>
            </a:r>
            <a:r>
              <a:rPr lang="en-US" sz="3800" b="0" noProof="0" dirty="0">
                <a:latin typeface="+mn-lt"/>
              </a:rPr>
              <a:t>lock</a:t>
            </a:r>
            <a:r>
              <a:rPr lang="en-US" sz="3800" noProof="0" dirty="0">
                <a:latin typeface="+mn-lt"/>
              </a:rPr>
              <a:t> M</a:t>
            </a:r>
            <a:r>
              <a:rPr lang="en-US" sz="3800" b="0" noProof="0" dirty="0">
                <a:latin typeface="+mn-lt"/>
              </a:rPr>
              <a:t>odel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B8BB3B-DA29-2081-CBDA-5D4093B2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1462CD-F5BD-55B7-EA5B-EFB251AE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6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184AB5E4-7105-EB69-0281-6E4C9BAECEF1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D41B01E-E931-110B-CFDB-B2500EECE8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0951" y="1205454"/>
            <a:ext cx="7150097" cy="53341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DA2ED7ED-FA66-83C6-FC11-2D54C36A363C}"/>
                  </a:ext>
                </a:extLst>
              </p:cNvPr>
              <p:cNvSpPr txBox="1"/>
              <p:nvPr/>
            </p:nvSpPr>
            <p:spPr>
              <a:xfrm>
                <a:off x="4366592" y="3093747"/>
                <a:ext cx="3458816" cy="670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3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limUpp>
                        <m:limUppPr>
                          <m:ctrlPr>
                            <a:rPr lang="en-US" sz="3000" i="1" noProof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sz="3000" i="1" noProof="0"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sz="3000" noProof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3000" b="0" i="0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3000" noProof="0">
                              <a:latin typeface="Cambria Math" panose="02040503050406030204" pitchFamily="18" charset="0"/>
                            </a:rPr>
                            <m:t>d</m:t>
                          </m:r>
                        </m:lim>
                      </m:limUpp>
                      <m:r>
                        <m:rPr>
                          <m:sty m:val="p"/>
                        </m:rPr>
                        <a:rPr lang="en-US" sz="3000" b="0" i="0" noProof="0" smtClean="0">
                          <a:latin typeface="Cambria Math" panose="02040503050406030204" pitchFamily="18" charset="0"/>
                        </a:rPr>
                        <m:t>Cat</m:t>
                      </m:r>
                      <m:r>
                        <a:rPr lang="en-US" sz="30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000" b="0" i="1" noProof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noProof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3000" b="0" i="1" noProof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000" b="0" i="1" noProof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0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30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000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000" noProof="0" dirty="0"/>
              </a:p>
            </p:txBody>
          </p:sp>
        </mc:Choice>
        <mc:Fallback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DA2ED7ED-FA66-83C6-FC11-2D54C36A3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592" y="3093747"/>
                <a:ext cx="3458816" cy="6705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98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5DC9A-9C13-CA23-46CE-88610CE4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36092B49-8D1C-D83B-524D-3F2E84E7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</a:t>
            </a:r>
            <a:r>
              <a:rPr lang="en-US" sz="3800" b="0" noProof="0" dirty="0">
                <a:latin typeface="+mn-lt"/>
              </a:rPr>
              <a:t>eighted</a:t>
            </a:r>
            <a:r>
              <a:rPr lang="en-US" sz="3800" noProof="0" dirty="0">
                <a:latin typeface="+mn-lt"/>
              </a:rPr>
              <a:t> S</a:t>
            </a:r>
            <a:r>
              <a:rPr lang="en-US" sz="3800" b="0" noProof="0" dirty="0">
                <a:latin typeface="+mn-lt"/>
              </a:rPr>
              <a:t>tochastic</a:t>
            </a:r>
            <a:r>
              <a:rPr lang="en-US" sz="3800" noProof="0" dirty="0">
                <a:latin typeface="+mn-lt"/>
              </a:rPr>
              <a:t> B</a:t>
            </a:r>
            <a:r>
              <a:rPr lang="en-US" sz="3800" b="0" noProof="0" dirty="0">
                <a:latin typeface="+mn-lt"/>
              </a:rPr>
              <a:t>lock</a:t>
            </a:r>
            <a:r>
              <a:rPr lang="en-US" sz="3800" noProof="0" dirty="0">
                <a:latin typeface="+mn-lt"/>
              </a:rPr>
              <a:t> M</a:t>
            </a:r>
            <a:r>
              <a:rPr lang="en-US" sz="3800" b="0" noProof="0" dirty="0">
                <a:latin typeface="+mn-lt"/>
              </a:rPr>
              <a:t>odel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3B93CA-3E6D-055C-1F4D-EE5ECD70F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73E659-D0BC-53FE-697B-6389A786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7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814A9126-E67E-5415-159B-6932F239080F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92373A6-58A6-CD9A-0E5F-2EA4FC8F1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0951" y="1205454"/>
            <a:ext cx="7150096" cy="53341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670224ED-4FF8-08A1-C5FD-107B399F00B8}"/>
                  </a:ext>
                </a:extLst>
              </p:cNvPr>
              <p:cNvSpPr txBox="1"/>
              <p:nvPr/>
            </p:nvSpPr>
            <p:spPr>
              <a:xfrm>
                <a:off x="6216582" y="1279036"/>
                <a:ext cx="4280033" cy="593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noProof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noProof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limUpp>
                        <m:limUpp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sz="2400" b="0" i="0" noProof="0" smtClean="0">
                              <a:latin typeface="Cambria Math" panose="02040503050406030204" pitchFamily="18" charset="0"/>
                            </a:rPr>
                            <m:t>ind</m:t>
                          </m:r>
                        </m:lim>
                      </m:limUpp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noProof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noProof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0,0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670224ED-4FF8-08A1-C5FD-107B399F0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582" y="1279036"/>
                <a:ext cx="4280033" cy="593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A60EDC3B-C0E1-53B3-CA38-2AF337A4BDB5}"/>
                  </a:ext>
                </a:extLst>
              </p:cNvPr>
              <p:cNvSpPr txBox="1"/>
              <p:nvPr/>
            </p:nvSpPr>
            <p:spPr>
              <a:xfrm>
                <a:off x="6216582" y="2084917"/>
                <a:ext cx="4280033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A60EDC3B-C0E1-53B3-CA38-2AF337A4B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582" y="2084917"/>
                <a:ext cx="4280033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44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229C-7655-DF76-3CC6-55978493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C63B0615-9458-9FE5-DFC5-7A9D6C85E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</a:t>
            </a:r>
            <a:r>
              <a:rPr lang="en-US" sz="3800" b="0" noProof="0" dirty="0">
                <a:latin typeface="+mn-lt"/>
              </a:rPr>
              <a:t>eighted</a:t>
            </a:r>
            <a:r>
              <a:rPr lang="en-US" sz="3800" noProof="0" dirty="0">
                <a:latin typeface="+mn-lt"/>
              </a:rPr>
              <a:t> S</a:t>
            </a:r>
            <a:r>
              <a:rPr lang="en-US" sz="3800" b="0" noProof="0" dirty="0">
                <a:latin typeface="+mn-lt"/>
              </a:rPr>
              <a:t>tochastic</a:t>
            </a:r>
            <a:r>
              <a:rPr lang="en-US" sz="3800" noProof="0" dirty="0">
                <a:latin typeface="+mn-lt"/>
              </a:rPr>
              <a:t> B</a:t>
            </a:r>
            <a:r>
              <a:rPr lang="en-US" sz="3800" b="0" noProof="0" dirty="0">
                <a:latin typeface="+mn-lt"/>
              </a:rPr>
              <a:t>lock</a:t>
            </a:r>
            <a:r>
              <a:rPr lang="en-US" sz="3800" noProof="0" dirty="0">
                <a:latin typeface="+mn-lt"/>
              </a:rPr>
              <a:t> M</a:t>
            </a:r>
            <a:r>
              <a:rPr lang="en-US" sz="3800" b="0" noProof="0" dirty="0">
                <a:latin typeface="+mn-lt"/>
              </a:rPr>
              <a:t>odel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9520E4-1546-FF92-0946-BA9D5F9FE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6828C6-E5C1-F2C1-5AA2-9E614B7F3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8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F0C9C0CF-9593-9AAA-1DD6-E3892DA4EA8F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7C5EBAD-72EB-DCCE-7E1C-99DE0DAD6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0951" y="1205454"/>
            <a:ext cx="7150096" cy="53341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1E5C8025-2327-E136-6C6F-629F91454547}"/>
                  </a:ext>
                </a:extLst>
              </p:cNvPr>
              <p:cNvSpPr txBox="1"/>
              <p:nvPr/>
            </p:nvSpPr>
            <p:spPr>
              <a:xfrm>
                <a:off x="6216582" y="1279036"/>
                <a:ext cx="4280033" cy="593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limUpp>
                        <m:limUpp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sz="2400" b="0" i="0" noProof="0" smtClean="0">
                              <a:latin typeface="Cambria Math" panose="02040503050406030204" pitchFamily="18" charset="0"/>
                            </a:rPr>
                            <m:t>ind</m:t>
                          </m:r>
                        </m:lim>
                      </m:limUpp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1E5C8025-2327-E136-6C6F-629F91454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582" y="1279036"/>
                <a:ext cx="4280033" cy="593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11E61D04-9250-735E-9C24-B84147467F7A}"/>
                  </a:ext>
                </a:extLst>
              </p:cNvPr>
              <p:cNvSpPr txBox="1"/>
              <p:nvPr/>
            </p:nvSpPr>
            <p:spPr>
              <a:xfrm>
                <a:off x="6216582" y="2084917"/>
                <a:ext cx="4280033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11E61D04-9250-735E-9C24-B84147467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582" y="2084917"/>
                <a:ext cx="4280033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204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1D9EC-9920-B769-85F1-7CEA7548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F8AF9873-81BA-3D9D-5058-964B456B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</a:t>
            </a:r>
            <a:r>
              <a:rPr lang="en-US" sz="3800" b="0" noProof="0" dirty="0">
                <a:latin typeface="+mn-lt"/>
              </a:rPr>
              <a:t>eighted</a:t>
            </a:r>
            <a:r>
              <a:rPr lang="en-US" sz="3800" noProof="0" dirty="0">
                <a:latin typeface="+mn-lt"/>
              </a:rPr>
              <a:t> S</a:t>
            </a:r>
            <a:r>
              <a:rPr lang="en-US" sz="3800" b="0" noProof="0" dirty="0">
                <a:latin typeface="+mn-lt"/>
              </a:rPr>
              <a:t>tochastic</a:t>
            </a:r>
            <a:r>
              <a:rPr lang="en-US" sz="3800" noProof="0" dirty="0">
                <a:latin typeface="+mn-lt"/>
              </a:rPr>
              <a:t> B</a:t>
            </a:r>
            <a:r>
              <a:rPr lang="en-US" sz="3800" b="0" noProof="0" dirty="0">
                <a:latin typeface="+mn-lt"/>
              </a:rPr>
              <a:t>lock</a:t>
            </a:r>
            <a:r>
              <a:rPr lang="en-US" sz="3800" noProof="0" dirty="0">
                <a:latin typeface="+mn-lt"/>
              </a:rPr>
              <a:t> M</a:t>
            </a:r>
            <a:r>
              <a:rPr lang="en-US" sz="3800" b="0" noProof="0" dirty="0">
                <a:latin typeface="+mn-lt"/>
              </a:rPr>
              <a:t>odel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AFE117-328E-37CE-90C2-9A128115F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48D218-89E6-FB6C-F58B-2F84C87F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9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985710D8-CF45-5A0C-5671-56C145779836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7E9E1C-09F8-5C74-B32F-2923D7965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0951" y="1205454"/>
            <a:ext cx="7150095" cy="53341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B9F4F4D-AF9D-522B-2EDF-8B2A9AC99FF6}"/>
                  </a:ext>
                </a:extLst>
              </p:cNvPr>
              <p:cNvSpPr txBox="1"/>
              <p:nvPr/>
            </p:nvSpPr>
            <p:spPr>
              <a:xfrm>
                <a:off x="6216582" y="1279036"/>
                <a:ext cx="4280033" cy="593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noProof="0" smtClean="0">
                          <a:solidFill>
                            <a:srgbClr val="2E8B57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noProof="0" smtClean="0">
                          <a:solidFill>
                            <a:srgbClr val="2E8B57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limUpp>
                        <m:limUpp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sz="2400" b="0" i="0" noProof="0" smtClean="0">
                              <a:latin typeface="Cambria Math" panose="02040503050406030204" pitchFamily="18" charset="0"/>
                            </a:rPr>
                            <m:t>ind</m:t>
                          </m:r>
                        </m:lim>
                      </m:limUpp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noProof="0" smtClean="0">
                                  <a:solidFill>
                                    <a:srgbClr val="2E8B5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noProof="0" smtClean="0">
                                  <a:solidFill>
                                    <a:srgbClr val="2E8B57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2E8B57"/>
                                  </a:solidFill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B9F4F4D-AF9D-522B-2EDF-8B2A9AC99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582" y="1279036"/>
                <a:ext cx="4280033" cy="593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D84F3A4-C397-D873-08A9-2ABC9EC4A15F}"/>
                  </a:ext>
                </a:extLst>
              </p:cNvPr>
              <p:cNvSpPr txBox="1"/>
              <p:nvPr/>
            </p:nvSpPr>
            <p:spPr>
              <a:xfrm>
                <a:off x="6216582" y="2084917"/>
                <a:ext cx="4280033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rgbClr val="2E8B5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rgbClr val="2E8B5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solidFill>
                                          <a:srgbClr val="2E8B5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i="1" noProof="0" smtClean="0">
                                        <a:solidFill>
                                          <a:srgbClr val="2E8B5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noProof="0" smtClean="0">
                                        <a:solidFill>
                                          <a:srgbClr val="2E8B5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D84F3A4-C397-D873-08A9-2ABC9EC4A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582" y="2084917"/>
                <a:ext cx="4280033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92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00946-85B7-4AD7-08E7-20ABC540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26B45AAC-EB0D-A0D0-D2EC-580A9415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</a:t>
            </a:r>
            <a:r>
              <a:rPr lang="en-US" sz="3800" b="0" noProof="0" dirty="0">
                <a:latin typeface="+mn-lt"/>
              </a:rPr>
              <a:t>eighted</a:t>
            </a:r>
            <a:r>
              <a:rPr lang="en-US" sz="3800" noProof="0" dirty="0">
                <a:latin typeface="+mn-lt"/>
              </a:rPr>
              <a:t> S</a:t>
            </a:r>
            <a:r>
              <a:rPr lang="en-US" sz="3800" b="0" noProof="0" dirty="0">
                <a:latin typeface="+mn-lt"/>
              </a:rPr>
              <a:t>tochastic</a:t>
            </a:r>
            <a:r>
              <a:rPr lang="en-US" sz="3800" noProof="0" dirty="0">
                <a:latin typeface="+mn-lt"/>
              </a:rPr>
              <a:t> B</a:t>
            </a:r>
            <a:r>
              <a:rPr lang="en-US" sz="3800" b="0" noProof="0" dirty="0">
                <a:latin typeface="+mn-lt"/>
              </a:rPr>
              <a:t>lock</a:t>
            </a:r>
            <a:r>
              <a:rPr lang="en-US" sz="3800" noProof="0" dirty="0">
                <a:latin typeface="+mn-lt"/>
              </a:rPr>
              <a:t> M</a:t>
            </a:r>
            <a:r>
              <a:rPr lang="en-US" sz="3800" b="0" noProof="0" dirty="0">
                <a:latin typeface="+mn-lt"/>
              </a:rPr>
              <a:t>odel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0EE823-AAFF-85A1-5B3A-8D0D10C6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42F129-2AEE-E710-FB95-BFC362DA1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10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E980B867-923B-A942-441A-BFE896AFBCA1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1F28D37-3038-9B1D-CDB1-30F881B275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0951" y="1205454"/>
            <a:ext cx="7150095" cy="533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8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681-7B6F-AE4B-2979-29AF01A74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3F3DE9-B2CD-7CD9-ED7F-502E0185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E6A814-6942-D921-FA1B-9FDAD86AF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11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1D93C33D-1421-A3C8-8073-DDD77B6470EE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CBA9E3BE-CF50-CE85-F888-0E95B7595B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45091" y="1201631"/>
                <a:ext cx="10301817" cy="445473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 anchor="ctr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600" noProof="0" dirty="0"/>
                  <a:t>When only </a:t>
                </a:r>
                <a14:m>
                  <m:oMath xmlns:m="http://schemas.openxmlformats.org/officeDocument/2006/math"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600" noProof="0" dirty="0"/>
                  <a:t> is observed, </a:t>
                </a:r>
                <a:br>
                  <a:rPr lang="en-US" sz="3600" noProof="0" dirty="0"/>
                </a:br>
                <a:r>
                  <a:rPr lang="en-US" sz="3600" noProof="0" dirty="0"/>
                  <a:t>how can we recover the labelling </a:t>
                </a:r>
                <a14:m>
                  <m:oMath xmlns:m="http://schemas.openxmlformats.org/officeDocument/2006/math"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3600" noProof="0" dirty="0"/>
                  <a:t>?</a:t>
                </a:r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CBA9E3BE-CF50-CE85-F888-0E95B7595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91" y="1201631"/>
                <a:ext cx="10301817" cy="4454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02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66207-3BF5-7F1A-F003-DA0EAC960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3801E8A7-B1AE-825D-751D-6A9471E58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Embedding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4FA47C-6490-1CF2-D42C-2A84B04F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41EDBB-D64C-C701-2ACB-6DDBEE3CC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12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37EBF6E-FE8E-7330-8C28-11956A0EB0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7"/>
                <a:ext cx="10301817" cy="49601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Given the symmetric adjacency matrix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noProof="0" dirty="0"/>
                  <a:t> and a dimension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noProof="0" dirty="0"/>
                  <a:t>, the spectral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noProof="0" dirty="0"/>
                  <a:t>-embedding of the graph is given by</a:t>
                </a:r>
                <a:br>
                  <a:rPr lang="en-US" sz="2200" noProof="0" dirty="0"/>
                </a:br>
                <a:br>
                  <a:rPr lang="en-US" sz="2200" noProof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200" b="0" i="0" noProof="0" smtClean="0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en-US" sz="2200" b="0" i="1" noProof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br>
                  <a:rPr lang="en-US" sz="2200" noProof="0" dirty="0"/>
                </a:br>
                <a:br>
                  <a:rPr lang="en-US" sz="2200" noProof="0" dirty="0"/>
                </a:br>
                <a:r>
                  <a:rPr lang="en-US" sz="2200" b="0" noProof="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noProof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2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200" noProof="0" dirty="0"/>
                  <a:t> are the truncations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noProof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sz="2200" noProof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200" noProof="0" dirty="0"/>
                  <a:t> </a:t>
                </a:r>
                <a:r>
                  <a:rPr lang="en-US" sz="2200" i="1" noProof="0" dirty="0"/>
                  <a:t>i.e.</a:t>
                </a:r>
                <a:r>
                  <a:rPr lang="en-US" sz="2200" noProof="0" dirty="0"/>
                  <a:t> the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noProof="0" dirty="0"/>
                  <a:t> largest eigenvalues in magnitude of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noProof="0" dirty="0"/>
                  <a:t>, and the associated eigenvectors.</a:t>
                </a:r>
                <a:br>
                  <a:rPr lang="en-US" sz="2200" noProof="0" dirty="0"/>
                </a:br>
                <a:br>
                  <a:rPr lang="en-US" sz="2200" noProof="0" dirty="0"/>
                </a:br>
                <a:r>
                  <a:rPr lang="en-US" sz="2200" noProof="0" dirty="0">
                    <a:solidFill>
                      <a:schemeClr val="dk1">
                        <a:alpha val="50000"/>
                      </a:schemeClr>
                    </a:solidFill>
                  </a:rPr>
                  <a:t>Formally,</a:t>
                </a:r>
                <a:r>
                  <a:rPr lang="en-US" sz="2200" b="0" noProof="0" dirty="0">
                    <a:solidFill>
                      <a:schemeClr val="dk1">
                        <a:alpha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US" sz="2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∣"/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acc>
                              <m:accPr>
                                <m:chr m:val="̅"/>
                                <m:ctrlPr>
                                  <a:rPr lang="en-US" sz="22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sz="2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acc>
                              <m:accPr>
                                <m:chr m:val="̅"/>
                                <m:ctrlPr>
                                  <a:rPr lang="en-US" sz="22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sub>
                        </m:sSub>
                      </m:e>
                    </m:d>
                    <m:sSup>
                      <m:sSup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sepChr m:val="∣"/>
                            <m:ctrlPr>
                              <a:rPr lang="en-US" sz="22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sz="22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22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acc>
                                  <m:accPr>
                                    <m:chr m:val="̅"/>
                                    <m:ctrlPr>
                                      <a:rPr lang="en-US" sz="22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acc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Sup>
                      <m:sSubSup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sub>
                    </m:sSub>
                    <m:sSub>
                      <m:sSub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Sup>
                      <m:sSubSup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sub>
                      <m:sup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</m:oMath>
                </a14:m>
                <a:br>
                  <a:rPr lang="en-US" sz="2200" b="0" noProof="0" dirty="0">
                    <a:solidFill>
                      <a:schemeClr val="dk1">
                        <a:alpha val="50000"/>
                      </a:schemeClr>
                    </a:solidFill>
                  </a:rPr>
                </a:br>
                <a:r>
                  <a:rPr lang="en-US" sz="2200" b="0" noProof="0" dirty="0">
                    <a:solidFill>
                      <a:schemeClr val="dk1">
                        <a:alpha val="50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𝕆</m:t>
                    </m:r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b="0" noProof="0" dirty="0">
                    <a:solidFill>
                      <a:schemeClr val="dk1">
                        <a:alpha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noProof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sz="2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 sz="2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b="0" noProof="0" dirty="0">
                    <a:solidFill>
                      <a:schemeClr val="dk1">
                        <a:alpha val="50000"/>
                      </a:schemeClr>
                    </a:solidFill>
                  </a:rPr>
                  <a:t> 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2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≥…≥|</m:t>
                    </m:r>
                    <m:sSub>
                      <m:sSubPr>
                        <m:ctrlP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200" b="0" noProof="0" dirty="0">
                    <a:solidFill>
                      <a:schemeClr val="dk1">
                        <a:alpha val="50000"/>
                      </a:schemeClr>
                    </a:solidFill>
                  </a:rPr>
                  <a:t>.</a:t>
                </a:r>
                <a:br>
                  <a:rPr lang="en-US" sz="2200" b="0" noProof="0" dirty="0"/>
                </a:br>
                <a:endParaRPr lang="en-US" sz="2200" b="0" noProof="0" dirty="0"/>
              </a:p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Row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00" noProof="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200" noProof="0" dirty="0"/>
                  <a:t> provides a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noProof="0" dirty="0"/>
                  <a:t>-dimension representation of node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00" noProof="0" dirty="0"/>
                  <a:t>.</a:t>
                </a:r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37EBF6E-FE8E-7330-8C28-11956A0EB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7"/>
                <a:ext cx="10301817" cy="4960123"/>
              </a:xfrm>
              <a:prstGeom prst="rect">
                <a:avLst/>
              </a:prstGeom>
              <a:blipFill>
                <a:blip r:embed="rId3"/>
                <a:stretch>
                  <a:fillRect t="-737" r="-7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6B1B67E-4D9B-926D-850C-DFDB7B4243A8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383061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AF63-8476-DF67-B0EC-8D994CF40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B71AEE-C3F5-890C-D872-A544E263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F6CEB1-82F0-D578-3C2E-14457279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13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C1AE4248-43F0-3F0A-B8D5-A4B188F6B1B4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72CD269E-B868-3F4D-72CB-210A22918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Embedding</a:t>
            </a:r>
            <a:endParaRPr lang="en-US" sz="3800" b="0" noProof="0" dirty="0">
              <a:latin typeface="+mn-lt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448B131-82C2-AC26-A2D9-FCC0D273E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25" b="6425"/>
          <a:stretch/>
        </p:blipFill>
        <p:spPr>
          <a:xfrm>
            <a:off x="2055180" y="940954"/>
            <a:ext cx="8081640" cy="52543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CEACE74-0724-EC98-F712-138507E4F873}"/>
                  </a:ext>
                </a:extLst>
              </p:cNvPr>
              <p:cNvSpPr txBox="1"/>
              <p:nvPr/>
            </p:nvSpPr>
            <p:spPr>
              <a:xfrm>
                <a:off x="8169965" y="1047187"/>
                <a:ext cx="15306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CEACE74-0724-EC98-F712-138507E4F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965" y="1047187"/>
                <a:ext cx="153062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252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1907A-30A6-537B-5E85-882A5DE7C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C2353B-210D-07A5-1765-079F483E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93CE28-6B7F-BD99-45A7-7ADA3448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14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BB72F055-D64D-24AD-C307-9EC12C7EA8A9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ECF7E315-48D8-1B12-76FE-AB177B44E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Embedding</a:t>
            </a:r>
            <a:endParaRPr lang="en-US" sz="3800" b="0" noProof="0" dirty="0">
              <a:latin typeface="+mn-lt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4EBD61C-B114-E0A0-D6A0-F417D7C9B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6351" y="978360"/>
            <a:ext cx="7446478" cy="55612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FD07752A-41D2-3F4B-DB25-CBBBEB362D94}"/>
                  </a:ext>
                </a:extLst>
              </p:cNvPr>
              <p:cNvSpPr txBox="1"/>
              <p:nvPr/>
            </p:nvSpPr>
            <p:spPr>
              <a:xfrm>
                <a:off x="2001342" y="6041832"/>
                <a:ext cx="642466" cy="289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p>
                      </m:sSup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FD07752A-41D2-3F4B-DB25-CBBBEB362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342" y="6041832"/>
                <a:ext cx="642466" cy="289394"/>
              </a:xfrm>
              <a:prstGeom prst="rect">
                <a:avLst/>
              </a:prstGeom>
              <a:blipFill>
                <a:blip r:embed="rId4"/>
                <a:stretch>
                  <a:fillRect l="-1887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A247F088-E9C7-DE83-BF98-90AB92EAE3EA}"/>
                  </a:ext>
                </a:extLst>
              </p:cNvPr>
              <p:cNvSpPr txBox="1"/>
              <p:nvPr/>
            </p:nvSpPr>
            <p:spPr>
              <a:xfrm>
                <a:off x="9271965" y="1077751"/>
                <a:ext cx="1808922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A247F088-E9C7-DE83-BF98-90AB92EAE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965" y="1077751"/>
                <a:ext cx="1808922" cy="468205"/>
              </a:xfrm>
              <a:prstGeom prst="rect">
                <a:avLst/>
              </a:prstGeom>
              <a:blipFill>
                <a:blip r:embed="rId5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347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449AD-08F4-D08B-CB06-3427732E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4235D7EC-45A9-14B6-A34F-A33B031A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Central Limit Theorem – Corollary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821F7C-BC7B-7CCA-C8E0-4309A01EF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3C291B-1F48-5BAA-D568-F47E6B2A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15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0477A3D-4ECA-4258-2E10-629B60E03D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7"/>
                <a:ext cx="10301817" cy="49601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Consider an instance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noProof="0" dirty="0"/>
                  <a:t>, with spectral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noProof="0" dirty="0"/>
                  <a:t>-embedding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200" noProof="0" dirty="0"/>
                  <a:t>, of a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noProof="0" dirty="0"/>
                  <a:t>-community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noProof="0" dirty="0"/>
                  <a:t>-WSBM where the block distribution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noProof="0" dirty="0"/>
                  <a:t> is such that its mean block </a:t>
                </a:r>
                <a:br>
                  <a:rPr lang="en-US" sz="2200" noProof="0" dirty="0"/>
                </a:br>
                <a:r>
                  <a:rPr lang="en-US" sz="2200" noProof="0" dirty="0"/>
                  <a:t>matrix </a:t>
                </a:r>
                <a14:m>
                  <m:oMath xmlns:m="http://schemas.openxmlformats.org/officeDocument/2006/math">
                    <m:r>
                      <a:rPr lang="en-US" sz="2200" b="1" i="1" noProof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200" noProof="0" dirty="0"/>
                  <a:t> is bounded and full rank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noProof="0" dirty="0"/>
                  <a:t> (and respect some additional technical exponential tails condition).</a:t>
                </a:r>
                <a:br>
                  <a:rPr lang="en-US" sz="2200" noProof="0" dirty="0"/>
                </a:br>
                <a:br>
                  <a:rPr lang="en-US" sz="2200" noProof="0" dirty="0"/>
                </a:br>
                <a:r>
                  <a:rPr lang="en-US" sz="2200" noProof="0" dirty="0"/>
                  <a:t>Then, for any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∈{0, …, 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2200" noProof="0" dirty="0"/>
                  <a:t> there exists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noProof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200" noProof="0" dirty="0"/>
                  <a:t>, and a sequence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noProof="0" dirty="0"/>
                  <a:t> of rotational matrices such that</a:t>
                </a:r>
                <a:br>
                  <a:rPr lang="en-US" sz="2200" noProof="0" dirty="0"/>
                </a:br>
                <a:br>
                  <a:rPr lang="en-US" sz="2200" noProof="0" dirty="0"/>
                </a:b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2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nor/>
                          </m:rPr>
                          <a:rPr lang="en-US" sz="2200" b="0" noProof="0" smtClean="0">
                            <a:latin typeface="Cambria Math" panose="02040503050406030204" pitchFamily="18" charset="0"/>
                          </a:rPr>
                          <m:t>dist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groupCh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𝒩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noProof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200" b="0" noProof="0" dirty="0"/>
              </a:p>
              <a:p>
                <a:pPr>
                  <a:lnSpc>
                    <a:spcPct val="100000"/>
                  </a:lnSpc>
                </a:pPr>
                <a:endParaRPr lang="en-US" sz="2200" noProof="0" dirty="0"/>
              </a:p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200" b="0" i="0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b="0" noProof="0" dirty="0"/>
                  <a:t>produces, </a:t>
                </a:r>
                <a:r>
                  <a:rPr lang="en-US" sz="2200" noProof="0" dirty="0"/>
                  <a:t>asymptotically in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noProof="0" dirty="0"/>
                  <a:t>,</a:t>
                </a:r>
                <a:r>
                  <a:rPr lang="en-US" sz="2200" b="0" noProof="0" dirty="0"/>
                  <a:t> a point cloud that is a full-rank linear transformation of </a:t>
                </a:r>
                <a:r>
                  <a:rPr lang="en-US" sz="2200" b="0" noProof="0" dirty="0" err="1"/>
                  <a:t>i.i.d.</a:t>
                </a:r>
                <a:r>
                  <a:rPr lang="en-US" sz="2200" noProof="0" dirty="0"/>
                  <a:t> draws</a:t>
                </a:r>
                <a:r>
                  <a:rPr lang="en-US" sz="2200" b="0" noProof="0" dirty="0"/>
                  <a:t> from a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b="0" noProof="0" dirty="0"/>
                  <a:t>-component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noProof="0" dirty="0"/>
                  <a:t>-dimensional GMM.</a:t>
                </a:r>
                <a:endParaRPr lang="en-US" sz="2200" b="1" noProof="0" dirty="0"/>
              </a:p>
              <a:p>
                <a:pPr>
                  <a:lnSpc>
                    <a:spcPct val="100000"/>
                  </a:lnSpc>
                </a:pPr>
                <a:endParaRPr lang="en-US" b="0" noProof="0" dirty="0"/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0477A3D-4ECA-4258-2E10-629B60E03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7"/>
                <a:ext cx="10301817" cy="4960123"/>
              </a:xfrm>
              <a:prstGeom prst="rect">
                <a:avLst/>
              </a:prstGeom>
              <a:blipFill>
                <a:blip r:embed="rId3"/>
                <a:stretch>
                  <a:fillRect t="-737" r="-5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EA3A029D-255D-4D3E-45BC-2C4C73A61268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192088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17AEC-89CE-1030-D150-4727023A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C90193BB-F1F6-E9E2-5E1E-D612048CE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Clustering – GMM fitting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7377D0-BDC4-97B0-0E51-9B60D2CA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46AE726-94B6-8967-D420-E6A7342A9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16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9A28887-6049-056B-3E29-90F1BEA7A7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7"/>
                <a:ext cx="10301817" cy="49601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noProof="0" dirty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noProof="0" dirty="0"/>
                  <a:t> behaves like a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noProof="0" dirty="0"/>
                  <a:t>-component Gaussian Mixture Model, we can estimate (</a:t>
                </a:r>
                <a:r>
                  <a:rPr lang="en-US" i="1" noProof="0" dirty="0"/>
                  <a:t>e.g.</a:t>
                </a:r>
                <a:r>
                  <a:rPr lang="en-US" noProof="0" dirty="0"/>
                  <a:t> with Expectation-maximization algorithm) the underlying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noProof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noProof="0" dirty="0"/>
                  <a:t> and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noProof="0" dirty="0"/>
                  <a:t>.</a:t>
                </a:r>
                <a:br>
                  <a:rPr lang="en-US" noProof="0" dirty="0"/>
                </a:br>
                <a:endParaRPr lang="en-US" noProof="0" dirty="0"/>
              </a:p>
              <a:p>
                <a:pPr>
                  <a:lnSpc>
                    <a:spcPct val="100000"/>
                  </a:lnSpc>
                </a:pPr>
                <a:r>
                  <a:rPr lang="en-US" noProof="0" dirty="0"/>
                  <a:t>Then, to estimate the labels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acc>
                  </m:oMath>
                </a14:m>
                <a:r>
                  <a:rPr lang="en-US" noProof="0" dirty="0"/>
                  <a:t>, we compute for each node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noProof="0" dirty="0"/>
                  <a:t>,</a:t>
                </a:r>
                <a:r>
                  <a:rPr lang="en-US" b="1" noProof="0" dirty="0"/>
                  <a:t> </a:t>
                </a:r>
                <a:r>
                  <a:rPr lang="en-US" noProof="0" dirty="0"/>
                  <a:t>the posterior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noProof="0" dirty="0"/>
                  <a:t> that its embedding representation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was generated by Gaussian component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noProof="0" dirty="0"/>
                  <a:t>. Finally, we simply set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noProof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acc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noProof="0" smtClean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9A28887-6049-056B-3E29-90F1BEA7A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7"/>
                <a:ext cx="10301817" cy="4960123"/>
              </a:xfrm>
              <a:prstGeom prst="rect">
                <a:avLst/>
              </a:prstGeom>
              <a:blipFill>
                <a:blip r:embed="rId3"/>
                <a:stretch>
                  <a:fillRect t="-8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29EC1B41-9239-BE57-D16B-873A046B2889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371167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F29CB-37C8-4FB7-C80F-7C0C89D0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C299AC-667B-8FE3-DBCF-5C1CB6A3B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C84D311-04C3-CF21-0A3E-4CE7696ED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17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126F951B-E3FC-5CE4-2362-D65E207A4823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A78289A0-476D-EB1D-3EA9-3C9ECD381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Clustering – GMM fitting</a:t>
            </a:r>
            <a:endParaRPr lang="en-US" sz="3800" b="0" noProof="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C897E99B-8F62-FB58-FE15-7ADB130C62B8}"/>
                  </a:ext>
                </a:extLst>
              </p:cNvPr>
              <p:cNvSpPr txBox="1"/>
              <p:nvPr/>
            </p:nvSpPr>
            <p:spPr>
              <a:xfrm>
                <a:off x="9231332" y="978360"/>
                <a:ext cx="1995005" cy="1342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solidFill>
                                <a:srgbClr val="00B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solidFill>
                                <a:srgbClr val="00BFFF"/>
                              </a:solidFill>
                              <a:latin typeface="Cambria Math" panose="02040503050406030204" pitchFamily="18" charset="0"/>
                            </a:rPr>
                            <m:t>𝒩</m:t>
                          </m:r>
                        </m:e>
                        <m:sub>
                          <m:r>
                            <a:rPr lang="en-US" sz="2400" b="0" i="1" noProof="0" smtClean="0">
                              <a:solidFill>
                                <a:srgbClr val="00BF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noProof="0" smtClean="0">
                              <a:solidFill>
                                <a:srgbClr val="00BFFF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  <m:d>
                        <m:dPr>
                          <m:ctrlPr>
                            <a:rPr lang="en-US" sz="2400" b="0" i="1" noProof="0" smtClean="0">
                              <a:solidFill>
                                <a:srgbClr val="00B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noProof="0" smtClean="0">
                                  <a:solidFill>
                                    <a:srgbClr val="00B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noProof="0" smtClean="0">
                                      <a:solidFill>
                                        <a:srgbClr val="00B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noProof="0" smtClean="0">
                                      <a:solidFill>
                                        <a:srgbClr val="00B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00BF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noProof="0" smtClean="0">
                              <a:solidFill>
                                <a:srgbClr val="00B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noProof="0" smtClean="0">
                                  <a:solidFill>
                                    <a:srgbClr val="00B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noProof="0" smtClean="0">
                                      <a:solidFill>
                                        <a:srgbClr val="00B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noProof="0" smtClean="0">
                                      <a:solidFill>
                                        <a:srgbClr val="00BFFF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00BF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noProof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solidFill>
                                <a:srgbClr val="FF5AA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solidFill>
                                <a:srgbClr val="FF5AAC"/>
                              </a:solidFill>
                              <a:latin typeface="Cambria Math" panose="02040503050406030204" pitchFamily="18" charset="0"/>
                            </a:rPr>
                            <m:t>𝒩</m:t>
                          </m:r>
                        </m:e>
                        <m:sub>
                          <m:r>
                            <a:rPr lang="en-US" sz="2400" b="0" i="1" noProof="0" smtClean="0">
                              <a:solidFill>
                                <a:srgbClr val="FF5AAC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noProof="0" smtClean="0">
                              <a:solidFill>
                                <a:srgbClr val="FF5AAC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  <m:d>
                        <m:dPr>
                          <m:ctrlPr>
                            <a:rPr lang="en-US" sz="2400" b="0" i="1" noProof="0" smtClean="0">
                              <a:solidFill>
                                <a:srgbClr val="FF5AA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noProof="0" smtClean="0">
                                  <a:solidFill>
                                    <a:srgbClr val="FF5AA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 noProof="0" smtClean="0">
                                      <a:solidFill>
                                        <a:srgbClr val="FF5AA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noProof="0" smtClean="0">
                                      <a:solidFill>
                                        <a:srgbClr val="FF5AAC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FF5AA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noProof="0">
                              <a:solidFill>
                                <a:srgbClr val="FF5AAC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noProof="0">
                                  <a:solidFill>
                                    <a:srgbClr val="FF5AA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 noProof="0" smtClean="0">
                                      <a:solidFill>
                                        <a:srgbClr val="FF5AA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noProof="0" smtClean="0">
                                      <a:solidFill>
                                        <a:srgbClr val="FF5AAC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FF5AA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noProof="0" dirty="0">
                  <a:solidFill>
                    <a:srgbClr val="FF5AAC"/>
                  </a:solidFill>
                </a:endParaRPr>
              </a:p>
            </p:txBody>
          </p:sp>
        </mc:Choice>
        <mc:Fallback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C897E99B-8F62-FB58-FE15-7ADB130C6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332" y="978360"/>
                <a:ext cx="1995005" cy="1342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 13">
            <a:extLst>
              <a:ext uri="{FF2B5EF4-FFF2-40B4-BE49-F238E27FC236}">
                <a16:creationId xmlns:a16="http://schemas.microsoft.com/office/drawing/2014/main" id="{90C60009-1172-763F-2BBD-1FF8399DF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7847" y="978360"/>
            <a:ext cx="7443485" cy="556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3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AEE21-1FA9-0039-8982-B6059C971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6C4397-7A5D-F69B-050E-8C40FDB9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7D8AF8-C153-9021-CC82-C598D688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18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12533939-C033-0774-5F60-A9989BB8552F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1E921A87-E607-B03A-9F9B-797F62DEC03A}"/>
                  </a:ext>
                </a:extLst>
              </p:cNvPr>
              <p:cNvSpPr txBox="1"/>
              <p:nvPr/>
            </p:nvSpPr>
            <p:spPr>
              <a:xfrm>
                <a:off x="9231332" y="978360"/>
                <a:ext cx="1557867" cy="661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acc>
                        </m:e>
                        <m:sub>
                          <m: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noProof="0" smtClean="0">
                              <a:solidFill>
                                <a:srgbClr val="00BF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noProof="0" smtClean="0">
                              <a:solidFill>
                                <a:srgbClr val="FF5AA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1E921A87-E607-B03A-9F9B-797F62DEC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332" y="978360"/>
                <a:ext cx="1557867" cy="661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 1">
            <a:extLst>
              <a:ext uri="{FF2B5EF4-FFF2-40B4-BE49-F238E27FC236}">
                <a16:creationId xmlns:a16="http://schemas.microsoft.com/office/drawing/2014/main" id="{598A396A-87DF-2F7A-84C6-34A3450F51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7847" y="978360"/>
            <a:ext cx="7443485" cy="5561293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4A0E090F-C995-4EF1-6F16-4FF16367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Clustering – GMM fitting</a:t>
            </a:r>
            <a:endParaRPr lang="en-US" sz="3800" b="0" noProof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779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385A7-FEED-2A61-CF05-28BDE7BE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80CC49-6406-9FE7-23B7-B9639C7A7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1C27055-3D55-609B-AD1D-77BDF4F4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19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A592F7E3-D647-D411-791E-D71BFDE8D0D8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263DF8B-83FA-0270-21A4-9926D0FAB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7848" y="978360"/>
            <a:ext cx="7443483" cy="55612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60D23839-D8B3-FB9E-AE71-130C6E28180A}"/>
                  </a:ext>
                </a:extLst>
              </p:cNvPr>
              <p:cNvSpPr txBox="1"/>
              <p:nvPr/>
            </p:nvSpPr>
            <p:spPr>
              <a:xfrm>
                <a:off x="9231332" y="978360"/>
                <a:ext cx="1557867" cy="661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noProof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60D23839-D8B3-FB9E-AE71-130C6E281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332" y="978360"/>
                <a:ext cx="1557867" cy="6614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2">
            <a:extLst>
              <a:ext uri="{FF2B5EF4-FFF2-40B4-BE49-F238E27FC236}">
                <a16:creationId xmlns:a16="http://schemas.microsoft.com/office/drawing/2014/main" id="{DF370FBA-DB7E-8A2A-61F2-6DFA801B1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Clustering – GMM fitting</a:t>
            </a:r>
            <a:endParaRPr lang="en-US" sz="3800" b="0" noProof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272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5F5E0-DCD9-890D-FD80-DE1964B38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10D8D0-D158-E518-5818-7D599F76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84B0BA-D803-25CF-7EAA-979A67AF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20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7F430D10-707E-A9B8-1CB2-7EADDC342231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1EE372A5-DC17-A3E8-DCC0-4060BE3B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Clustering – GMM fitting</a:t>
            </a:r>
            <a:endParaRPr lang="en-US" sz="3800" b="0" noProof="0" dirty="0">
              <a:latin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BCAC5AA-50B3-0D3F-47D5-A26204532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4498" y="2841442"/>
            <a:ext cx="4348108" cy="3339252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9882593-A766-64C2-83F9-DFAC7D89F2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9394" y="1171816"/>
            <a:ext cx="4348108" cy="3339252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64B56CC-C828-EC59-1D0F-0541DB72F389}"/>
                  </a:ext>
                </a:extLst>
              </p:cNvPr>
              <p:cNvSpPr txBox="1"/>
              <p:nvPr/>
            </p:nvSpPr>
            <p:spPr>
              <a:xfrm>
                <a:off x="1144498" y="2841443"/>
                <a:ext cx="67521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64B56CC-C828-EC59-1D0F-0541DB72F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498" y="2841443"/>
                <a:ext cx="67521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B3E41C68-6F55-922A-A84D-1FF6E9B9252F}"/>
                  </a:ext>
                </a:extLst>
              </p:cNvPr>
              <p:cNvSpPr txBox="1"/>
              <p:nvPr/>
            </p:nvSpPr>
            <p:spPr>
              <a:xfrm>
                <a:off x="6699394" y="1171816"/>
                <a:ext cx="675217" cy="661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B3E41C68-6F55-922A-A84D-1FF6E9B92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394" y="1171816"/>
                <a:ext cx="675217" cy="661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>
            <a:extLst>
              <a:ext uri="{FF2B5EF4-FFF2-40B4-BE49-F238E27FC236}">
                <a16:creationId xmlns:a16="http://schemas.microsoft.com/office/drawing/2014/main" id="{07F0B1F8-DA69-36FF-0BFC-A6AD7D6C3B77}"/>
              </a:ext>
            </a:extLst>
          </p:cNvPr>
          <p:cNvSpPr txBox="1"/>
          <p:nvPr/>
        </p:nvSpPr>
        <p:spPr>
          <a:xfrm>
            <a:off x="6699394" y="5411253"/>
            <a:ext cx="4502006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200" noProof="0" dirty="0"/>
              <a:t>Poor community separation and hence poor clustering Accuracy</a:t>
            </a:r>
          </a:p>
        </p:txBody>
      </p:sp>
    </p:spTree>
    <p:extLst>
      <p:ext uri="{BB962C8B-B14F-4D97-AF65-F5344CB8AC3E}">
        <p14:creationId xmlns:p14="http://schemas.microsoft.com/office/powerpoint/2010/main" val="28145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AFA1-0C3A-F95A-05CD-1C3CF20A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8BCEC7-6416-8245-F470-7F5564129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83B32C-0B76-32E0-7125-0F5FDAD1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21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9EB55299-78CF-EFCC-8C5B-62CD71CF0BF8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718B6112-0113-49B4-3172-FCEB91D639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45091" y="1201631"/>
                <a:ext cx="10301817" cy="445473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 anchor="ctr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600" noProof="0" dirty="0"/>
                  <a:t>Could we consider transforming </a:t>
                </a:r>
                <a14:m>
                  <m:oMath xmlns:m="http://schemas.openxmlformats.org/officeDocument/2006/math"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noProof="0" dirty="0"/>
                  <a:t> to obtain a spectral 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6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600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6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3600" b="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sz="3600" noProof="0" dirty="0"/>
                  <a:t> that more clearly separates communities?</a:t>
                </a:r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718B6112-0113-49B4-3172-FCEB91D63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91" y="1201631"/>
                <a:ext cx="10301817" cy="4454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677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F31B7-624A-0F87-12EB-9B8463BCF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66BCBB-750B-EAD4-782E-0015235D0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77564A-FFA2-38DE-A462-814DCE587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22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D903E660-8E65-B4BD-9F0E-6F51670774D0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E5FC0048-DD81-FE0F-6DC3-E94658BE0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Weight Transformation</a:t>
            </a:r>
            <a:endParaRPr lang="en-US" sz="3800" b="0" noProof="0" dirty="0">
              <a:latin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6AEFE1C-D0C2-6AD3-273C-F94934D98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4498" y="2841442"/>
            <a:ext cx="4348107" cy="3339252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30AAD52-5039-6B51-EB7D-0F994023F8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9394" y="1191959"/>
            <a:ext cx="4348108" cy="3298966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0683898-EDF2-6BAA-3B24-361A0E97DE91}"/>
                  </a:ext>
                </a:extLst>
              </p:cNvPr>
              <p:cNvSpPr txBox="1"/>
              <p:nvPr/>
            </p:nvSpPr>
            <p:spPr>
              <a:xfrm>
                <a:off x="1144498" y="2841443"/>
                <a:ext cx="67521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0683898-EDF2-6BAA-3B24-361A0E97D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498" y="2841443"/>
                <a:ext cx="67521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6C494DB8-4B92-FA0D-3ADE-3519E032F008}"/>
                  </a:ext>
                </a:extLst>
              </p:cNvPr>
              <p:cNvSpPr txBox="1"/>
              <p:nvPr/>
            </p:nvSpPr>
            <p:spPr>
              <a:xfrm>
                <a:off x="6699393" y="1171816"/>
                <a:ext cx="1043189" cy="699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6C494DB8-4B92-FA0D-3ADE-3519E032F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393" y="1171816"/>
                <a:ext cx="1043189" cy="6997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E4BA220A-E020-B04F-D9BC-890270E85478}"/>
                  </a:ext>
                </a:extLst>
              </p:cNvPr>
              <p:cNvSpPr txBox="1"/>
              <p:nvPr/>
            </p:nvSpPr>
            <p:spPr>
              <a:xfrm>
                <a:off x="6699393" y="5411254"/>
                <a:ext cx="4348109" cy="76944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US" sz="2200" noProof="0" dirty="0"/>
                  <a:t>Applying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200" noProof="0" dirty="0"/>
                  <a:t> leads to a better community separation!</a:t>
                </a:r>
              </a:p>
            </p:txBody>
          </p:sp>
        </mc:Choice>
        <mc:Fallback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E4BA220A-E020-B04F-D9BC-890270E85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393" y="5411254"/>
                <a:ext cx="4348109" cy="769441"/>
              </a:xfrm>
              <a:prstGeom prst="rect">
                <a:avLst/>
              </a:prstGeom>
              <a:blipFill>
                <a:blip r:embed="rId7"/>
                <a:stretch>
                  <a:fillRect l="-1823" t="-396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855CC624-C24E-D2E9-D10E-F40A9BD94584}"/>
                  </a:ext>
                </a:extLst>
              </p:cNvPr>
              <p:cNvSpPr txBox="1"/>
              <p:nvPr/>
            </p:nvSpPr>
            <p:spPr>
              <a:xfrm>
                <a:off x="6699393" y="676082"/>
                <a:ext cx="224997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sz="2200" b="0" i="0" noProof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200" b="1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1" i="1" noProof="0" smtClean="0"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nor/>
                      </m:rPr>
                      <a:rPr lang="en-US" sz="2200" b="1" noProof="0"/>
                      <m:t>𝟙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noProof="0" dirty="0"/>
                  <a:t> </a:t>
                </a:r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855CC624-C24E-D2E9-D10E-F40A9BD94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393" y="676082"/>
                <a:ext cx="2249974" cy="430887"/>
              </a:xfrm>
              <a:prstGeom prst="rect">
                <a:avLst/>
              </a:prstGeom>
              <a:blipFill>
                <a:blip r:embed="rId8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00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D8738-73C7-E22F-905A-B42C538C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3DD1AA-C20A-17DC-C12B-8EFD9409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2F20F6-7E8E-7A43-280A-18D56A21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23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32C6FD5-4B51-1DA1-08E4-4BA9D97BD28E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3AF6136-15F2-487B-8AE7-D82C2CE8E863}"/>
              </a:ext>
            </a:extLst>
          </p:cNvPr>
          <p:cNvSpPr txBox="1">
            <a:spLocks/>
          </p:cNvSpPr>
          <p:nvPr/>
        </p:nvSpPr>
        <p:spPr>
          <a:xfrm>
            <a:off x="945091" y="1201631"/>
            <a:ext cx="10301817" cy="44547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 anchor="ctr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600" noProof="0" dirty="0"/>
              <a:t>How can we measure community separation?</a:t>
            </a:r>
          </a:p>
        </p:txBody>
      </p:sp>
    </p:spTree>
    <p:extLst>
      <p:ext uri="{BB962C8B-B14F-4D97-AF65-F5344CB8AC3E}">
        <p14:creationId xmlns:p14="http://schemas.microsoft.com/office/powerpoint/2010/main" val="315019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44686-FE47-CFA2-B886-09B8E411E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E3DF8251-5794-79C1-DA45-BF4D6473D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9607273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Separability measure – Chernoff Information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8AB29E5-10A5-743A-4E9F-C7C7011B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3B927B-E893-C2B3-66C5-804315DA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24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2C852C7-308C-3088-E9F3-3E5D5DF869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7"/>
                <a:ext cx="10301817" cy="517819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The Chernoff information measures the separability of the gaussian distributions in the GMM, and hence the corresponding communities.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It can be computed from the Spectral embedding GMM parameters or directly from the Graph block matrices</a:t>
                </a:r>
                <a:br>
                  <a:rPr lang="en-US" sz="2200" noProof="0" dirty="0"/>
                </a:br>
                <a:br>
                  <a:rPr lang="en-US" sz="2200" i="1" noProof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noProof="0" smtClean="0"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1" i="0" noProof="0" smtClean="0">
                            <a:latin typeface="Cambria Math" panose="02040503050406030204" pitchFamily="18" charset="0"/>
                          </a:rPr>
                          <m:t>𝚺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200" b="0" i="0" noProof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noProof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1" i="1" noProof="0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1" noProof="0">
                            <a:latin typeface="Cambria Math" panose="02040503050406030204" pitchFamily="18" charset="0"/>
                          </a:rPr>
                          <m:t>𝚷</m:t>
                        </m:r>
                      </m:e>
                    </m:d>
                  </m:oMath>
                </a14:m>
                <a:br>
                  <a:rPr lang="en-US" sz="2200" i="1" noProof="0" dirty="0">
                    <a:latin typeface="Cambria Math" panose="02040503050406030204" pitchFamily="18" charset="0"/>
                  </a:rPr>
                </a:br>
                <a:br>
                  <a:rPr lang="en-US" sz="2200" noProof="0" dirty="0"/>
                </a:b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 ]0,+∞[</m:t>
                    </m:r>
                  </m:oMath>
                </a14:m>
                <a:r>
                  <a:rPr lang="en-US" sz="2200" noProof="0" dirty="0"/>
                  <a:t>. A Chernoff information close to 0 indicates poor separability.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noProof="0" dirty="0">
                    <a:solidFill>
                      <a:schemeClr val="dk1">
                        <a:alpha val="50000"/>
                      </a:schemeClr>
                    </a:solidFill>
                  </a:rPr>
                  <a:t>Definitions</a:t>
                </a:r>
              </a:p>
              <a:p>
                <a:pPr marL="457189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6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6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sz="16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1" i="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  <m:r>
                          <a:rPr lang="en-US" sz="16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b="0" i="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16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 b="0" i="0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16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6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16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16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b="0" i="0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sup</m:t>
                                </m:r>
                              </m:e>
                              <m:lim>
                                <m: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∈]0,1[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d>
                                  <m:dPr>
                                    <m:ctrlP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b="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1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𝝁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 lang="en-US" sz="1600" b="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b="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1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𝝁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0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  <m:sub>
                                    <m: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𝑘𝑙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b="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e>
                    </m:func>
                  </m:oMath>
                </a14:m>
                <a:r>
                  <a:rPr lang="en-US" sz="1400" i="1" noProof="0" dirty="0">
                    <a:solidFill>
                      <a:schemeClr val="dk1">
                        <a:alpha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br>
                  <a:rPr lang="en-US" sz="1400" i="1" noProof="0" dirty="0">
                    <a:solidFill>
                      <a:schemeClr val="dk1">
                        <a:alpha val="50000"/>
                      </a:schemeClr>
                    </a:solidFill>
                    <a:latin typeface="Cambria Math" panose="02040503050406030204" pitchFamily="18" charset="0"/>
                  </a:rPr>
                </a:br>
                <a:r>
                  <a:rPr lang="en-US" sz="1200" noProof="0" dirty="0">
                    <a:solidFill>
                      <a:schemeClr val="dk1">
                        <a:alpha val="50000"/>
                      </a:schemeClr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1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𝑘𝑙</m:t>
                        </m:r>
                      </m:sub>
                    </m:sSub>
                    <m:d>
                      <m:dPr>
                        <m:ctrlP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en-US" sz="1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sz="1200" b="1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200" b="1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sz="1200" b="0" i="1" noProof="0" dirty="0">
                  <a:solidFill>
                    <a:schemeClr val="dk1">
                      <a:alpha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457189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6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6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16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1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sz="16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1" i="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𝚷</m:t>
                        </m:r>
                      </m:e>
                    </m:d>
                    <m:r>
                      <a:rPr lang="en-US" sz="16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16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6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16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16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sup</m:t>
                                </m:r>
                              </m:e>
                              <m:lim>
                                <m:r>
                                  <a:rPr lang="en-US" sz="16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∈]0,1[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sz="16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d>
                                  <m:dPr>
                                    <m:ctrlP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16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1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𝒆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1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𝒆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r>
                                  <a:rPr lang="en-US" sz="1600" b="1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0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𝚷</m:t>
                                </m:r>
                                <m:sSub>
                                  <m:sSubPr>
                                    <m:ctrlP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𝑘𝑙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1600" b="1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d>
                                  <m:dPr>
                                    <m:ctrlP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𝒆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𝒆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e>
                    </m:func>
                  </m:oMath>
                </a14:m>
                <a:r>
                  <a:rPr lang="en-US" sz="1400" noProof="0" dirty="0">
                    <a:solidFill>
                      <a:schemeClr val="dk1">
                        <a:alpha val="50000"/>
                      </a:schemeClr>
                    </a:solidFill>
                  </a:rPr>
                  <a:t> </a:t>
                </a:r>
                <a:br>
                  <a:rPr lang="en-US" sz="1400" noProof="0" dirty="0">
                    <a:solidFill>
                      <a:schemeClr val="dk1">
                        <a:alpha val="50000"/>
                      </a:schemeClr>
                    </a:solidFill>
                  </a:rPr>
                </a:br>
                <a:r>
                  <a:rPr lang="en-US" sz="1200" noProof="0" dirty="0">
                    <a:solidFill>
                      <a:schemeClr val="dk1">
                        <a:alpha val="50000"/>
                      </a:schemeClr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1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𝑘𝑙</m:t>
                        </m:r>
                      </m:sub>
                    </m:sSub>
                    <m:d>
                      <m:dPr>
                        <m:ctrlP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 sz="1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1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1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1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200" noProof="0" dirty="0">
                    <a:solidFill>
                      <a:schemeClr val="dk1">
                        <a:alpha val="50000"/>
                      </a:schemeClr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200" b="1" noProof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𝚷</m:t>
                    </m:r>
                    <m:r>
                      <a:rPr lang="en-US" sz="1200" i="1" noProof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 noProof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sz="1200" i="1" noProof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noProof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noProof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1200" i="1" noProof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200" i="1" noProof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200" i="1" noProof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noProof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1200" i="1" noProof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1200" i="1" noProof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sz="1200" noProof="0" dirty="0">
                    <a:solidFill>
                      <a:schemeClr val="dk1">
                        <a:alpha val="50000"/>
                      </a:schemeClr>
                    </a:solidFill>
                  </a:rPr>
                </a:br>
                <a:r>
                  <a:rPr lang="en-US" sz="1200" noProof="0" dirty="0">
                    <a:solidFill>
                      <a:schemeClr val="dk1">
                        <a:alpha val="50000"/>
                      </a:schemeClr>
                    </a:solidFill>
                  </a:rPr>
                  <a:t>is the community proportions matrix.</a:t>
                </a:r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2C852C7-308C-3088-E9F3-3E5D5DF86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7"/>
                <a:ext cx="10301817" cy="5178192"/>
              </a:xfrm>
              <a:prstGeom prst="rect">
                <a:avLst/>
              </a:prstGeom>
              <a:blipFill>
                <a:blip r:embed="rId3"/>
                <a:stretch>
                  <a:fillRect t="-7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2EDDF13-AA4C-7A03-3E42-F189F678B74B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128444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84499-A51B-52D6-CBC1-E560E9F71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6D1A44-D6B8-B290-E02C-0ADC4131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ACB048-3B66-7835-AC84-7B564F5A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25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41BB472D-1E15-52D1-155C-9BE61001E54A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94941E-5DD4-0575-9D6C-CECC89DB0BEB}"/>
              </a:ext>
            </a:extLst>
          </p:cNvPr>
          <p:cNvSpPr txBox="1">
            <a:spLocks/>
          </p:cNvSpPr>
          <p:nvPr/>
        </p:nvSpPr>
        <p:spPr>
          <a:xfrm>
            <a:off x="945091" y="1201631"/>
            <a:ext cx="10301817" cy="44547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 anchor="ctr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600" noProof="0" dirty="0"/>
              <a:t>Experimentation</a:t>
            </a:r>
          </a:p>
        </p:txBody>
      </p:sp>
    </p:spTree>
    <p:extLst>
      <p:ext uri="{BB962C8B-B14F-4D97-AF65-F5344CB8AC3E}">
        <p14:creationId xmlns:p14="http://schemas.microsoft.com/office/powerpoint/2010/main" val="379884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F51B-E330-3907-2981-2456169E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30F72AF2-A94B-CA21-9EDC-27B9D6FC6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Experimental Setup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C382CC-3D6E-9080-E1F3-9CB69857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711C3C-20B3-868D-2EE2-D29C5FBBD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26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49C8F61-ED5C-56E7-FFFF-45D7901D57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6"/>
                <a:ext cx="10301817" cy="472434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3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=1000, 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sz="2200" noProof="0" dirty="0"/>
                  <a:t>-WSBM with community proportions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noProof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200" noProof="0" dirty="0"/>
                  <a:t> and edge probability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en-US" sz="2200" noProof="0" dirty="0"/>
              </a:p>
              <a:p>
                <a:pPr>
                  <a:lnSpc>
                    <a:spcPct val="130000"/>
                  </a:lnSpc>
                </a:pPr>
                <a:r>
                  <a:rPr lang="en-US" sz="2200" noProof="0" dirty="0"/>
                  <a:t>Tested distributions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200" noProof="0" dirty="0"/>
              </a:p>
              <a:p>
                <a:pPr lvl="1">
                  <a:lnSpc>
                    <a:spcPct val="130000"/>
                  </a:lnSpc>
                </a:pPr>
                <a:r>
                  <a:rPr lang="en-US" sz="2200" b="0" noProof="0" dirty="0"/>
                  <a:t>Beta:		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2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200" b="0" i="0" noProof="0" smtClean="0">
                        <a:latin typeface="Cambria Math" panose="02040503050406030204" pitchFamily="18" charset="0"/>
                      </a:rPr>
                      <m:t>Beta</m:t>
                    </m:r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𝑘𝑙</m:t>
                            </m:r>
                          </m:sub>
                        </m:s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200" noProof="0" dirty="0"/>
              </a:p>
              <a:p>
                <a:pPr lvl="1">
                  <a:lnSpc>
                    <a:spcPct val="130000"/>
                  </a:lnSpc>
                </a:pPr>
                <a:r>
                  <a:rPr lang="en-US" sz="2200" b="0" noProof="0" dirty="0"/>
                  <a:t>Log-normal:	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200" b="0" i="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𝑘𝑙</m:t>
                            </m:r>
                          </m:sub>
                          <m:sup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200" noProof="0" dirty="0"/>
              </a:p>
              <a:p>
                <a:pPr>
                  <a:lnSpc>
                    <a:spcPct val="130000"/>
                  </a:lnSpc>
                </a:pPr>
                <a:r>
                  <a:rPr lang="en-US" sz="2200" noProof="0" dirty="0"/>
                  <a:t>Tested transformations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200" noProof="0" dirty="0"/>
              </a:p>
              <a:p>
                <a:pPr lvl="1">
                  <a:lnSpc>
                    <a:spcPct val="130000"/>
                  </a:lnSpc>
                </a:pPr>
                <a:r>
                  <a:rPr lang="en-US" sz="2200" noProof="0" dirty="0">
                    <a:solidFill>
                      <a:schemeClr val="dk1">
                        <a:alpha val="50000"/>
                      </a:schemeClr>
                    </a:solidFill>
                  </a:rPr>
                  <a:t>Identity:		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200" noProof="0" dirty="0">
                  <a:solidFill>
                    <a:schemeClr val="dk1">
                      <a:alpha val="50000"/>
                    </a:schemeClr>
                  </a:solidFill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en-US" sz="2200" noProof="0" dirty="0"/>
                  <a:t>Opposite:	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200" b="0" i="1" noProof="0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en-US" sz="2200" b="0" noProof="0" dirty="0"/>
                  <a:t>Logarithmic</a:t>
                </a:r>
                <a:r>
                  <a:rPr lang="en-US" sz="2200" noProof="0" dirty="0"/>
                  <a:t>:	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noProof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endParaRPr lang="en-US" sz="2200" b="0" noProof="0" dirty="0"/>
              </a:p>
              <a:p>
                <a:pPr lvl="1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200" noProof="0" dirty="0"/>
                  <a:t>-Threshold: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b="1" noProof="0" smtClean="0"/>
                      <m:t>𝟙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noProof="0" dirty="0"/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49C8F61-ED5C-56E7-FFFF-45D7901D5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6"/>
                <a:ext cx="10301817" cy="4724347"/>
              </a:xfrm>
              <a:prstGeom prst="rect">
                <a:avLst/>
              </a:prstGeom>
              <a:blipFill>
                <a:blip r:embed="rId3"/>
                <a:stretch>
                  <a:fillRect b="-12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8A254D10-C8BC-8AB5-666C-2DD38DA64884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35251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C02D1-F353-30A6-C7AD-55A7A3ED7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63B02E-BC42-AD2C-00AD-E23ED6AD8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E02EBA-0573-3153-369C-493E2453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27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353F16-5D02-BD0B-89ED-2A47437792BF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B02B927-2FCC-A781-2770-D1404E147911}"/>
              </a:ext>
            </a:extLst>
          </p:cNvPr>
          <p:cNvSpPr txBox="1">
            <a:spLocks/>
          </p:cNvSpPr>
          <p:nvPr/>
        </p:nvSpPr>
        <p:spPr>
          <a:xfrm>
            <a:off x="945091" y="1201631"/>
            <a:ext cx="10301817" cy="44547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 anchor="ctr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600" noProof="0" dirty="0"/>
              <a:t>Transformations accuracy analysis </a:t>
            </a:r>
          </a:p>
          <a:p>
            <a:pPr marL="0" indent="0" algn="ctr">
              <a:lnSpc>
                <a:spcPct val="100000"/>
              </a:lnSpc>
              <a:buNone/>
            </a:pPr>
            <a:br>
              <a:rPr lang="en-US" sz="3600" noProof="0" dirty="0"/>
            </a:br>
            <a:r>
              <a:rPr lang="en-US" sz="3600" noProof="0" dirty="0"/>
              <a:t>Some results</a:t>
            </a:r>
          </a:p>
        </p:txBody>
      </p:sp>
    </p:spTree>
    <p:extLst>
      <p:ext uri="{BB962C8B-B14F-4D97-AF65-F5344CB8AC3E}">
        <p14:creationId xmlns:p14="http://schemas.microsoft.com/office/powerpoint/2010/main" val="104803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C4430-D814-D770-19AD-6EA85167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2D9841B2-0AE2-7D32-7917-8EC1F7B4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Transformations Accuracy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86CF76-EAB9-74BC-EFCF-79399049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0D1BDD-2719-4381-3175-25F698AC9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28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C4093BB8-9673-2443-BE04-6C2C896CD8A6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17A2AB71-FC16-09AD-F0CF-C4729E155E7D}"/>
                  </a:ext>
                </a:extLst>
              </p:cNvPr>
              <p:cNvSpPr txBox="1"/>
              <p:nvPr/>
            </p:nvSpPr>
            <p:spPr>
              <a:xfrm>
                <a:off x="7461601" y="954479"/>
                <a:ext cx="3700042" cy="2260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=1000,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000" b="0" noProof="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0.1, 0.9</m:t>
                        </m:r>
                      </m:e>
                    </m:d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noProof="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noProof="0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eta</m:t>
                    </m:r>
                    <m:d>
                      <m:d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noProof="0" smtClean="0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br>
                  <a:rPr lang="en-US" sz="2000" b="0" noProof="0" dirty="0"/>
                </a:br>
                <a14:m>
                  <m:oMath xmlns:m="http://schemas.openxmlformats.org/officeDocument/2006/math"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=0.8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=0.8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b="0" noProof="0" dirty="0"/>
                  <a:t> </a:t>
                </a:r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17A2AB71-FC16-09AD-F0CF-C4729E155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601" y="954479"/>
                <a:ext cx="3700042" cy="2260875"/>
              </a:xfrm>
              <a:prstGeom prst="rect">
                <a:avLst/>
              </a:prstGeom>
              <a:blipFill>
                <a:blip r:embed="rId3"/>
                <a:stretch>
                  <a:fillRect l="-1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 9">
            <a:extLst>
              <a:ext uri="{FF2B5EF4-FFF2-40B4-BE49-F238E27FC236}">
                <a16:creationId xmlns:a16="http://schemas.microsoft.com/office/drawing/2014/main" id="{100CB01A-6E8F-4159-4151-D8D5EC5BE0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8"/>
          <a:stretch/>
        </p:blipFill>
        <p:spPr>
          <a:xfrm>
            <a:off x="1369365" y="954479"/>
            <a:ext cx="6108611" cy="57288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C9B6D80-0EED-7F7B-5DC3-FF1B14300046}"/>
              </a:ext>
            </a:extLst>
          </p:cNvPr>
          <p:cNvSpPr/>
          <p:nvPr/>
        </p:nvSpPr>
        <p:spPr>
          <a:xfrm>
            <a:off x="8356599" y="2594113"/>
            <a:ext cx="1264479" cy="318052"/>
          </a:xfrm>
          <a:prstGeom prst="rect">
            <a:avLst/>
          </a:prstGeom>
          <a:solidFill>
            <a:srgbClr val="F8CE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C92A5E-92CC-0785-3782-0BA3AAB24805}"/>
              </a:ext>
            </a:extLst>
          </p:cNvPr>
          <p:cNvSpPr/>
          <p:nvPr/>
        </p:nvSpPr>
        <p:spPr>
          <a:xfrm>
            <a:off x="1369366" y="3653824"/>
            <a:ext cx="6108610" cy="3029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038925F-10B4-6D13-00A5-5094B745C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508" y="3664623"/>
            <a:ext cx="416339" cy="3085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E92DF45-BF9F-B824-EC1D-044EB99F5A2B}"/>
              </a:ext>
            </a:extLst>
          </p:cNvPr>
          <p:cNvSpPr/>
          <p:nvPr/>
        </p:nvSpPr>
        <p:spPr>
          <a:xfrm>
            <a:off x="4366508" y="3664623"/>
            <a:ext cx="416339" cy="262611"/>
          </a:xfrm>
          <a:prstGeom prst="rect">
            <a:avLst/>
          </a:prstGeom>
          <a:solidFill>
            <a:srgbClr val="F8CE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17CDB835-A6EC-D8FA-29C3-93EBF478B650}"/>
                  </a:ext>
                </a:extLst>
              </p:cNvPr>
              <p:cNvSpPr txBox="1"/>
              <p:nvPr/>
            </p:nvSpPr>
            <p:spPr>
              <a:xfrm>
                <a:off x="7779788" y="3381037"/>
                <a:ext cx="3235345" cy="523220"/>
              </a:xfrm>
              <a:prstGeom prst="rect">
                <a:avLst/>
              </a:prstGeom>
              <a:noFill/>
            </p:spPr>
            <p:txBody>
              <a:bodyPr wrap="square" anchor="b">
                <a:spAutoFit/>
              </a:bodyPr>
              <a:lstStyle/>
              <a:p>
                <a:r>
                  <a:rPr lang="en-US" sz="1400" noProof="0" dirty="0">
                    <a:solidFill>
                      <a:schemeClr val="tx1">
                        <a:alpha val="50000"/>
                      </a:schemeClr>
                    </a:solidFill>
                  </a:rPr>
                  <a:t>Avg of 20 samples </a:t>
                </a:r>
                <a14:m>
                  <m:oMath xmlns:m="http://schemas.openxmlformats.org/officeDocument/2006/math">
                    <m:r>
                      <a:rPr lang="en-US" sz="1400" b="0" i="1" noProof="0" smtClean="0">
                        <a:solidFill>
                          <a:schemeClr val="tx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400" b="0" i="1" noProof="0" smtClean="0">
                        <a:solidFill>
                          <a:schemeClr val="tx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sz="1400" b="0" i="0" noProof="0" smtClean="0">
                        <a:solidFill>
                          <a:schemeClr val="tx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WSBM</m:t>
                    </m:r>
                    <m:r>
                      <a:rPr lang="en-US" sz="1400" b="0" i="1" noProof="0" smtClean="0">
                        <a:solidFill>
                          <a:schemeClr val="tx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b="0" i="1" noProof="0" smtClean="0">
                            <a:solidFill>
                              <a:schemeClr val="tx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noProof="0" smtClean="0">
                            <a:solidFill>
                              <a:schemeClr val="tx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…;</m:t>
                        </m:r>
                        <m:r>
                          <a:rPr lang="en-US" sz="1400" b="0" i="1" noProof="0" smtClean="0">
                            <a:solidFill>
                              <a:schemeClr val="tx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 b="0" i="1" noProof="0" smtClean="0">
                            <a:solidFill>
                              <a:schemeClr val="tx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z="1400" b="0" i="1" noProof="0" smtClean="0">
                        <a:solidFill>
                          <a:schemeClr val="tx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noProof="0" dirty="0">
                  <a:solidFill>
                    <a:schemeClr val="tx1">
                      <a:alpha val="5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noProof="0" smtClean="0">
                            <a:solidFill>
                              <a:schemeClr val="tx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noProof="0" smtClean="0">
                            <a:solidFill>
                              <a:schemeClr val="tx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 b="0" i="1" noProof="0" smtClean="0">
                            <a:solidFill>
                              <a:schemeClr val="tx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z="1400" b="0" i="1" noProof="0" smtClean="0">
                        <a:solidFill>
                          <a:schemeClr val="tx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400" b="0" i="0" noProof="0" smtClean="0">
                        <a:solidFill>
                          <a:schemeClr val="tx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Linspace</m:t>
                    </m:r>
                    <m:r>
                      <a:rPr lang="en-US" sz="1400" b="0" i="0" noProof="0" smtClean="0">
                        <a:solidFill>
                          <a:schemeClr val="tx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(0, 1, </m:t>
                    </m:r>
                    <m:r>
                      <a:rPr lang="en-US" sz="1400" b="0" i="1" noProof="0" smtClean="0">
                        <a:solidFill>
                          <a:schemeClr val="tx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400" b="0" i="1" noProof="0" smtClean="0">
                        <a:solidFill>
                          <a:schemeClr val="tx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0" noProof="0" smtClean="0">
                        <a:solidFill>
                          <a:schemeClr val="tx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100)</m:t>
                    </m:r>
                  </m:oMath>
                </a14:m>
                <a:r>
                  <a:rPr lang="en-US" sz="1400" noProof="0" dirty="0">
                    <a:solidFill>
                      <a:schemeClr val="tx1">
                        <a:alpha val="50000"/>
                      </a:schemeClr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17CDB835-A6EC-D8FA-29C3-93EBF478B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788" y="3381037"/>
                <a:ext cx="3235345" cy="523220"/>
              </a:xfrm>
              <a:prstGeom prst="rect">
                <a:avLst/>
              </a:prstGeom>
              <a:blipFill>
                <a:blip r:embed="rId6"/>
                <a:stretch>
                  <a:fillRect l="-565" t="-117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77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30919-A6BA-56E9-05BA-1D92E09A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03F2EF28-73C8-D463-71E9-D71F756EE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Transformations Accuracy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D917BD-12B6-6D1C-5D70-A4AD5BE2E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520D5B-D6AF-3A45-6317-DFA7EB0C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29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D3419017-1129-D6D0-3336-676F3A808AB9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A0EC6FD7-EDD0-7298-6EE5-427614190832}"/>
                  </a:ext>
                </a:extLst>
              </p:cNvPr>
              <p:cNvSpPr txBox="1"/>
              <p:nvPr/>
            </p:nvSpPr>
            <p:spPr>
              <a:xfrm>
                <a:off x="7461601" y="954479"/>
                <a:ext cx="3700042" cy="2260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=1000,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000" b="0" noProof="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0.1, 0.9</m:t>
                        </m:r>
                      </m:e>
                    </m:d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noProof="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noProof="0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eta</m:t>
                    </m:r>
                    <m:d>
                      <m:d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noProof="0" smtClean="0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br>
                  <a:rPr lang="en-US" sz="2000" b="0" noProof="0" dirty="0"/>
                </a:br>
                <a14:m>
                  <m:oMath xmlns:m="http://schemas.openxmlformats.org/officeDocument/2006/math"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=0.8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=0.8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b="0" noProof="0" dirty="0"/>
                  <a:t> </a:t>
                </a:r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A0EC6FD7-EDD0-7298-6EE5-427614190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601" y="954479"/>
                <a:ext cx="3700042" cy="2260875"/>
              </a:xfrm>
              <a:prstGeom prst="rect">
                <a:avLst/>
              </a:prstGeom>
              <a:blipFill>
                <a:blip r:embed="rId3"/>
                <a:stretch>
                  <a:fillRect l="-1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 9">
            <a:extLst>
              <a:ext uri="{FF2B5EF4-FFF2-40B4-BE49-F238E27FC236}">
                <a16:creationId xmlns:a16="http://schemas.microsoft.com/office/drawing/2014/main" id="{29C2A461-A07C-870D-02AC-602AB1666B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8"/>
          <a:stretch/>
        </p:blipFill>
        <p:spPr>
          <a:xfrm>
            <a:off x="1369365" y="954479"/>
            <a:ext cx="6108611" cy="57288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63A7DDD-FEE0-9AE3-9101-1E3C91299EA2}"/>
                  </a:ext>
                </a:extLst>
              </p:cNvPr>
              <p:cNvSpPr txBox="1"/>
              <p:nvPr/>
            </p:nvSpPr>
            <p:spPr>
              <a:xfrm>
                <a:off x="7477976" y="4078579"/>
                <a:ext cx="3700042" cy="2179956"/>
              </a:xfrm>
              <a:prstGeom prst="rect">
                <a:avLst/>
              </a:prstGeom>
              <a:noFill/>
            </p:spPr>
            <p:txBody>
              <a:bodyPr wrap="square" anchor="b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0" noProof="0" dirty="0">
                    <a:highlight>
                      <a:srgbClr val="FFFF39"/>
                    </a:highlight>
                  </a:rPr>
                  <a:t>Best Transformation according </a:t>
                </a:r>
                <a:r>
                  <a:rPr lang="en-US" b="0" noProof="0" dirty="0"/>
                  <a:t>to</a:t>
                </a:r>
                <a:r>
                  <a:rPr lang="en-US" noProof="0" dirty="0"/>
                  <a:t> </a:t>
                </a:r>
                <a:r>
                  <a:rPr lang="en-US" b="0" noProof="0" dirty="0"/>
                  <a:t>estimated</a:t>
                </a:r>
                <a:r>
                  <a:rPr lang="en-US" noProof="0" dirty="0"/>
                  <a:t> embedding-CI</a:t>
                </a:r>
                <a:br>
                  <a:rPr lang="en-US" noProof="0" dirty="0"/>
                </a:br>
                <a14:m>
                  <m:oMath xmlns:m="http://schemas.openxmlformats.org/officeDocument/2006/math">
                    <m:r>
                      <a:rPr lang="en-US" b="0" i="1" noProof="0" smtClean="0">
                        <a:highlight>
                          <a:srgbClr val="FFFF39"/>
                        </a:highlight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0" noProof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noProof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noProof="0" smtClean="0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</m:acc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noProof="0" smtClean="0"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</m:acc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noProof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</m:d>
                          </m:e>
                          <m:sub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d>
                              <m:dPr>
                                <m:ctrl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endParaRPr lang="en-US" b="0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0" noProof="0" dirty="0">
                    <a:highlight>
                      <a:srgbClr val="3FFFFF"/>
                    </a:highlight>
                  </a:rPr>
                  <a:t>Best Transformation according </a:t>
                </a:r>
                <a:r>
                  <a:rPr lang="en-US" b="0" noProof="0" dirty="0"/>
                  <a:t>to</a:t>
                </a:r>
                <a:r>
                  <a:rPr lang="en-US" noProof="0" dirty="0"/>
                  <a:t> </a:t>
                </a:r>
                <a:r>
                  <a:rPr lang="en-US" b="0" noProof="0" dirty="0"/>
                  <a:t>estimated</a:t>
                </a:r>
                <a:r>
                  <a:rPr lang="en-US" noProof="0" dirty="0"/>
                  <a:t> graph-CI</a:t>
                </a:r>
                <a:br>
                  <a:rPr lang="en-US" noProof="0" dirty="0"/>
                </a:br>
                <a14:m>
                  <m:oMath xmlns:m="http://schemas.openxmlformats.org/officeDocument/2006/math">
                    <m:r>
                      <a:rPr lang="en-US" b="0" i="1" noProof="0" smtClean="0">
                        <a:highlight>
                          <a:srgbClr val="3FFFFF"/>
                        </a:highlight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0" noProof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0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noProof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noProof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acc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noProof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acc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noProof="0" smtClean="0">
                                        <a:latin typeface="Cambria Math" panose="02040503050406030204" pitchFamily="18" charset="0"/>
                                      </a:rPr>
                                      <m:t>𝚷</m:t>
                                    </m:r>
                                  </m:e>
                                </m:acc>
                              </m:e>
                            </m:d>
                          </m:e>
                          <m:sub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d>
                              <m:dPr>
                                <m:ctrl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endParaRPr lang="en-US" b="0" noProof="0" dirty="0"/>
              </a:p>
            </p:txBody>
          </p:sp>
        </mc:Choice>
        <mc:Fallback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63A7DDD-FEE0-9AE3-9101-1E3C91299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976" y="4078579"/>
                <a:ext cx="3700042" cy="2179956"/>
              </a:xfrm>
              <a:prstGeom prst="rect">
                <a:avLst/>
              </a:prstGeom>
              <a:blipFill>
                <a:blip r:embed="rId5"/>
                <a:stretch>
                  <a:fillRect l="-1153" t="-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68E5A5A-6A71-7253-983A-8201F831B4BD}"/>
              </a:ext>
            </a:extLst>
          </p:cNvPr>
          <p:cNvSpPr/>
          <p:nvPr/>
        </p:nvSpPr>
        <p:spPr>
          <a:xfrm>
            <a:off x="1289785" y="847023"/>
            <a:ext cx="10218532" cy="280680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927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4C077-90E6-EE01-648E-4BFD111B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0B1FB1-71BD-D51A-D847-757C99A0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A3C2A3-CFA9-0D8A-2F7D-1D75AE44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30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2441B595-2F85-1E30-DD50-A27F13215D90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C98F875-5352-2DD2-8A21-43EC21769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8"/>
          <a:stretch/>
        </p:blipFill>
        <p:spPr>
          <a:xfrm>
            <a:off x="1369365" y="954479"/>
            <a:ext cx="6108611" cy="57288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A774EF9A-2883-0910-9F60-D4EC0FAE7BC8}"/>
                  </a:ext>
                </a:extLst>
              </p:cNvPr>
              <p:cNvSpPr txBox="1"/>
              <p:nvPr/>
            </p:nvSpPr>
            <p:spPr>
              <a:xfrm>
                <a:off x="7461601" y="954479"/>
                <a:ext cx="3700042" cy="2260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=1000,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000" b="0" noProof="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0.1, 0.9</m:t>
                        </m:r>
                      </m:e>
                    </m:d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endParaRPr lang="en-US" sz="2000" b="0" noProof="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noProof="0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eta</m:t>
                    </m:r>
                    <m:d>
                      <m:d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noProof="0" smtClean="0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br>
                  <a:rPr lang="en-US" sz="2000" b="0" noProof="0" dirty="0"/>
                </a:br>
                <a14:m>
                  <m:oMath xmlns:m="http://schemas.openxmlformats.org/officeDocument/2006/math"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=0.6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=0.6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b="0" noProof="0" dirty="0"/>
                  <a:t> </a:t>
                </a:r>
              </a:p>
            </p:txBody>
          </p:sp>
        </mc:Choice>
        <mc:Fallback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A774EF9A-2883-0910-9F60-D4EC0FAE7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601" y="954479"/>
                <a:ext cx="3700042" cy="2260875"/>
              </a:xfrm>
              <a:prstGeom prst="rect">
                <a:avLst/>
              </a:prstGeom>
              <a:blipFill>
                <a:blip r:embed="rId4"/>
                <a:stretch>
                  <a:fillRect l="-1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2">
            <a:extLst>
              <a:ext uri="{FF2B5EF4-FFF2-40B4-BE49-F238E27FC236}">
                <a16:creationId xmlns:a16="http://schemas.microsoft.com/office/drawing/2014/main" id="{1869ACD4-A0DA-B66F-5A2E-E86274112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Transformations Accuracy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1391B8-D4DE-6CD9-6BEB-93075368EAFA}"/>
              </a:ext>
            </a:extLst>
          </p:cNvPr>
          <p:cNvSpPr/>
          <p:nvPr/>
        </p:nvSpPr>
        <p:spPr>
          <a:xfrm>
            <a:off x="9365216" y="1540565"/>
            <a:ext cx="1070872" cy="347869"/>
          </a:xfrm>
          <a:prstGeom prst="rect">
            <a:avLst/>
          </a:prstGeom>
          <a:solidFill>
            <a:srgbClr val="F8CE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3091F2-50D4-02BB-9755-F138DFC9DB65}"/>
              </a:ext>
            </a:extLst>
          </p:cNvPr>
          <p:cNvSpPr/>
          <p:nvPr/>
        </p:nvSpPr>
        <p:spPr>
          <a:xfrm>
            <a:off x="8454912" y="2867485"/>
            <a:ext cx="1194432" cy="347869"/>
          </a:xfrm>
          <a:prstGeom prst="rect">
            <a:avLst/>
          </a:prstGeom>
          <a:solidFill>
            <a:srgbClr val="F8CE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4CF554-94A1-5F52-53EA-94C4A8B0B534}"/>
              </a:ext>
            </a:extLst>
          </p:cNvPr>
          <p:cNvSpPr/>
          <p:nvPr/>
        </p:nvSpPr>
        <p:spPr>
          <a:xfrm>
            <a:off x="9720494" y="2532481"/>
            <a:ext cx="1194432" cy="347869"/>
          </a:xfrm>
          <a:prstGeom prst="rect">
            <a:avLst/>
          </a:prstGeom>
          <a:solidFill>
            <a:srgbClr val="F8CE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8671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7298-E10A-92DF-C41F-45AA90E90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B8ED52-CD68-F8B5-8825-76FBD971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63DDD6A-3B6D-E5E1-C279-D6DDD1EAA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31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B25C16CC-D6C5-94F3-5D3D-B91B97B57173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3E577A10-D5C9-6BCA-D83C-80D5A14A1E82}"/>
                  </a:ext>
                </a:extLst>
              </p:cNvPr>
              <p:cNvSpPr txBox="1"/>
              <p:nvPr/>
            </p:nvSpPr>
            <p:spPr>
              <a:xfrm>
                <a:off x="7461601" y="954479"/>
                <a:ext cx="3553532" cy="2260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=1000,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000" b="0" noProof="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0.5, 0.5</m:t>
                        </m:r>
                      </m:e>
                    </m:d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noProof="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noProof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=−2.33, </m:t>
                        </m:r>
                        <m:r>
                          <a:rPr lang="en-US" sz="2000" b="1" i="1" noProof="0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</m:d>
                  </m:oMath>
                </a14:m>
                <a:br>
                  <a:rPr lang="en-US" sz="2000" b="0" noProof="0" dirty="0"/>
                </a:br>
                <a14:m>
                  <m:oMath xmlns:m="http://schemas.openxmlformats.org/officeDocument/2006/math"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=0.6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=0.6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b="0" noProof="0" dirty="0"/>
                  <a:t> </a:t>
                </a:r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3E577A10-D5C9-6BCA-D83C-80D5A14A1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601" y="954479"/>
                <a:ext cx="3553532" cy="2260875"/>
              </a:xfrm>
              <a:prstGeom prst="rect">
                <a:avLst/>
              </a:prstGeom>
              <a:blipFill>
                <a:blip r:embed="rId3"/>
                <a:stretch>
                  <a:fillRect l="-1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21633AB1-193C-AD3E-864D-7FF960D3CD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8"/>
          <a:stretch/>
        </p:blipFill>
        <p:spPr>
          <a:xfrm>
            <a:off x="1369365" y="954479"/>
            <a:ext cx="6108611" cy="572881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7BF9875-611F-3FF9-05D1-33A5F2EEAB15}"/>
              </a:ext>
            </a:extLst>
          </p:cNvPr>
          <p:cNvSpPr txBox="1"/>
          <p:nvPr/>
        </p:nvSpPr>
        <p:spPr>
          <a:xfrm>
            <a:off x="7779788" y="4762404"/>
            <a:ext cx="3235345" cy="1446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sz="2200" noProof="0" dirty="0"/>
              <a:t>We may find models where the studied non-trivial transformations are not suited.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27FBDE54-851E-F5F9-6941-45FB74204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Transformations Accuracy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32A203-4BFF-8CE4-4B4A-2D8A8D293932}"/>
              </a:ext>
            </a:extLst>
          </p:cNvPr>
          <p:cNvSpPr/>
          <p:nvPr/>
        </p:nvSpPr>
        <p:spPr>
          <a:xfrm>
            <a:off x="7779788" y="1990492"/>
            <a:ext cx="837438" cy="375021"/>
          </a:xfrm>
          <a:prstGeom prst="rect">
            <a:avLst/>
          </a:prstGeom>
          <a:solidFill>
            <a:srgbClr val="F8CE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EA2B2A-38AC-181D-5AE4-1B87B4D9F403}"/>
              </a:ext>
            </a:extLst>
          </p:cNvPr>
          <p:cNvSpPr/>
          <p:nvPr/>
        </p:nvSpPr>
        <p:spPr>
          <a:xfrm>
            <a:off x="8292698" y="1506531"/>
            <a:ext cx="1105302" cy="375021"/>
          </a:xfrm>
          <a:prstGeom prst="rect">
            <a:avLst/>
          </a:prstGeom>
          <a:solidFill>
            <a:srgbClr val="F8CE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3744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2" grpId="1" animBg="1"/>
      <p:bldP spid="2" grpId="0" animBg="1"/>
      <p:bldP spid="2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EC51B-D344-7080-BE05-B50F15B37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F543740-5ED4-5C00-CC20-128E4A2B0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BDAEED-94F0-AC1F-31DD-B854F76B4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32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94AACDA7-F698-D58C-66E9-D17F3C8A4E3B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BF714C7B-515A-47AE-328E-C295BF0ABE2F}"/>
                  </a:ext>
                </a:extLst>
              </p:cNvPr>
              <p:cNvSpPr txBox="1"/>
              <p:nvPr/>
            </p:nvSpPr>
            <p:spPr>
              <a:xfrm>
                <a:off x="7461601" y="954479"/>
                <a:ext cx="3553532" cy="2260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=1000,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000" b="0" noProof="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0.1, 0.9</m:t>
                        </m:r>
                      </m:e>
                    </m:d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endParaRPr lang="en-US" sz="2000" b="0" noProof="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noProof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=−2.33, </m:t>
                        </m:r>
                        <m:r>
                          <a:rPr lang="en-US" sz="2000" b="1" i="1" noProof="0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</m:d>
                  </m:oMath>
                </a14:m>
                <a:br>
                  <a:rPr lang="en-US" sz="2000" b="0" noProof="0" dirty="0"/>
                </a:br>
                <a14:m>
                  <m:oMath xmlns:m="http://schemas.openxmlformats.org/officeDocument/2006/math"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=0.8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b="0" noProof="0" dirty="0"/>
                  <a:t> </a:t>
                </a:r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BF714C7B-515A-47AE-328E-C295BF0AB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601" y="954479"/>
                <a:ext cx="3553532" cy="2260875"/>
              </a:xfrm>
              <a:prstGeom prst="rect">
                <a:avLst/>
              </a:prstGeom>
              <a:blipFill>
                <a:blip r:embed="rId3"/>
                <a:stretch>
                  <a:fillRect l="-1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 11">
            <a:extLst>
              <a:ext uri="{FF2B5EF4-FFF2-40B4-BE49-F238E27FC236}">
                <a16:creationId xmlns:a16="http://schemas.microsoft.com/office/drawing/2014/main" id="{E1A17F3D-EC71-21EA-625D-242838F592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t="6176" r="5"/>
          <a:stretch/>
        </p:blipFill>
        <p:spPr>
          <a:xfrm>
            <a:off x="1369365" y="954479"/>
            <a:ext cx="6108611" cy="5731369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CD3B6EAA-D7A2-536F-40AF-E0B56FC80CB0}"/>
              </a:ext>
            </a:extLst>
          </p:cNvPr>
          <p:cNvSpPr txBox="1"/>
          <p:nvPr/>
        </p:nvSpPr>
        <p:spPr>
          <a:xfrm>
            <a:off x="7779788" y="5100958"/>
            <a:ext cx="3235345" cy="110799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sz="2200" noProof="0" dirty="0"/>
              <a:t>For some models, community separation seems intrinsically hard.</a:t>
            </a: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663DCEA0-0711-D6EB-4459-33E15C5F1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Transformations Accuracy</a:t>
            </a:r>
            <a:endParaRPr lang="en-US" sz="3800" b="0" noProof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310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8119B-6A8D-3AF7-33C8-75B6DF5A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217DFC17-D5D2-37D3-6F44-9FDED3258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Preliminary observations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BAEB61-C74B-AC5F-8510-47309A3D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ECDB40-E6FC-492A-258D-8DD4DF87D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33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1F20074-04C7-EDE8-BAD1-F337768AA8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6"/>
                <a:ext cx="10301817" cy="472434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2000" noProof="0" dirty="0"/>
                  <a:t>The </a:t>
                </a:r>
                <a14:m>
                  <m:oMath xmlns:m="http://schemas.openxmlformats.org/officeDocument/2006/math">
                    <m:r>
                      <a:rPr lang="en-US" sz="2000" i="1" noProof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noProof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 noProof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noProof="0" dirty="0"/>
                  <a:t> technique often appears to be able to</a:t>
                </a:r>
                <a:r>
                  <a:rPr lang="en-US" sz="2000" b="1" noProof="0" dirty="0"/>
                  <a:t> </a:t>
                </a:r>
                <a:r>
                  <a:rPr lang="en-US" sz="2000" noProof="0" dirty="0"/>
                  <a:t>select the transformation with the highest accuracy.</a:t>
                </a:r>
                <a:br>
                  <a:rPr lang="en-US" sz="2000" noProof="0" dirty="0"/>
                </a:br>
                <a:r>
                  <a:rPr lang="en-US" sz="2000" b="1" noProof="0" dirty="0"/>
                  <a:t>Chernoff information seems to be a good proxy for clustering Accuracy</a:t>
                </a:r>
                <a:r>
                  <a:rPr lang="en-US" sz="2000" noProof="0" dirty="0"/>
                  <a:t>.</a:t>
                </a:r>
                <a:br>
                  <a:rPr lang="en-US" sz="2000" noProof="0" dirty="0"/>
                </a:br>
                <a:endParaRPr lang="en-US" sz="2000" noProof="0" dirty="0"/>
              </a:p>
              <a:p>
                <a:pPr>
                  <a:lnSpc>
                    <a:spcPct val="100000"/>
                  </a:lnSpc>
                </a:pPr>
                <a:r>
                  <a:rPr lang="en-US" sz="2000" noProof="0" dirty="0"/>
                  <a:t>In practice, it's hard to find model initializations that exhibit dynamic competition between transformations, </a:t>
                </a:r>
                <a:r>
                  <a:rPr lang="en-US" sz="2000" i="1" noProof="0" dirty="0"/>
                  <a:t>i.e.</a:t>
                </a:r>
                <a:r>
                  <a:rPr lang="en-US" sz="2000" noProof="0" dirty="0"/>
                  <a:t>, where, as the model parameter varies, the accuracy lead shifts meaningfully and repeatedly between them, for non-trivial accuracy values (</a:t>
                </a:r>
                <a:r>
                  <a:rPr lang="en-US" sz="2000" i="1" noProof="0" dirty="0"/>
                  <a:t>i.e. </a:t>
                </a:r>
                <a:r>
                  <a:rPr lang="en-US" sz="2000" noProof="0" dirty="0"/>
                  <a:t>not too extreme).</a:t>
                </a:r>
                <a:br>
                  <a:rPr lang="en-US" sz="2000" noProof="0" dirty="0"/>
                </a:br>
                <a:r>
                  <a:rPr lang="en-US" sz="2000" noProof="0" dirty="0"/>
                  <a:t>Put simply, </a:t>
                </a:r>
                <a:r>
                  <a:rPr lang="en-US" sz="2000" b="1" noProof="0" dirty="0"/>
                  <a:t>for a given model</a:t>
                </a:r>
                <a:r>
                  <a:rPr lang="en-US" sz="2000" noProof="0" dirty="0"/>
                  <a:t>, </a:t>
                </a:r>
                <a:r>
                  <a:rPr lang="en-US" sz="2000" b="1" noProof="0" dirty="0"/>
                  <a:t>one</a:t>
                </a:r>
                <a:r>
                  <a:rPr lang="en-US" sz="2000" noProof="0" dirty="0"/>
                  <a:t> (or possibly several) </a:t>
                </a:r>
                <a:r>
                  <a:rPr lang="en-US" sz="2000" b="1" noProof="0" dirty="0"/>
                  <a:t>transformation will typically dominate the others</a:t>
                </a:r>
                <a:r>
                  <a:rPr lang="en-US" sz="2000" noProof="0" dirty="0"/>
                  <a:t>.</a:t>
                </a:r>
                <a:br>
                  <a:rPr lang="en-US" sz="2000" noProof="0" dirty="0"/>
                </a:br>
                <a:endParaRPr lang="en-US" sz="2000" noProof="0" dirty="0"/>
              </a:p>
              <a:p>
                <a:pPr>
                  <a:lnSpc>
                    <a:spcPct val="100000"/>
                  </a:lnSpc>
                </a:pPr>
                <a:r>
                  <a:rPr lang="en-US" sz="2000" noProof="0" dirty="0"/>
                  <a:t>The (studied) transformations are unable to overcome the intrinsic difficulty of clustering certain graphs, </a:t>
                </a:r>
                <a:r>
                  <a:rPr lang="en-US" sz="2000" i="1" noProof="0" dirty="0"/>
                  <a:t>i.e.</a:t>
                </a:r>
                <a:r>
                  <a:rPr lang="en-US" sz="2000" noProof="0" dirty="0"/>
                  <a:t>, those whose model parameters are deliberately selected to be challenging. </a:t>
                </a:r>
                <a:r>
                  <a:rPr lang="en-US" sz="2000" b="1" noProof="0" dirty="0"/>
                  <a:t>Sometimes no transformation is best</a:t>
                </a:r>
                <a:r>
                  <a:rPr lang="en-US" sz="2000" noProof="0" dirty="0"/>
                  <a:t>!</a:t>
                </a:r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1F20074-04C7-EDE8-BAD1-F337768AA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6"/>
                <a:ext cx="10301817" cy="4724347"/>
              </a:xfrm>
              <a:prstGeom prst="rect">
                <a:avLst/>
              </a:prstGeom>
              <a:blipFill>
                <a:blip r:embed="rId3"/>
                <a:stretch>
                  <a:fillRect t="-645" r="-11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41EBCC8E-BE5F-B3BA-E934-F5FDA2F0E472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3694119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D641A-ADD0-0F63-89BE-54FCCC2CA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9A853499-473F-FF17-03F5-B37BD493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What’s next?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447613-DF78-C2FE-D635-2D297747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71E4E0-D569-FF14-1A48-0428DF5F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34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867A8949-4B3D-096E-3780-AA5928DD23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6"/>
                <a:ext cx="10301817" cy="472434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noProof="0" dirty="0"/>
                  <a:t>Test other transformations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sz="2400" noProof="0" dirty="0"/>
                  <a:t>Rank Transform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sz="2400" noProof="0" dirty="0"/>
                  <a:t>How well would </a:t>
                </a:r>
                <a14:m>
                  <m:oMath xmlns:m="http://schemas.openxmlformats.org/officeDocument/2006/math">
                    <m:r>
                      <a:rPr lang="en-US" sz="2400" i="1" noProof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400" noProof="0" dirty="0"/>
                  <a:t>-Threshold perform for other </a:t>
                </a:r>
                <a14:m>
                  <m:oMath xmlns:m="http://schemas.openxmlformats.org/officeDocument/2006/math">
                    <m:r>
                      <a:rPr lang="en-US" sz="2400" i="1" noProof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400" noProof="0" dirty="0"/>
                  <a:t> values?</a:t>
                </a:r>
                <a:br>
                  <a:rPr lang="en-US" sz="2400" noProof="0" dirty="0"/>
                </a:br>
                <a:r>
                  <a:rPr lang="en-US" sz="2400" noProof="0" dirty="0"/>
                  <a:t>Can it be tuned? What about </a:t>
                </a:r>
                <a14:m>
                  <m:oMath xmlns:m="http://schemas.openxmlformats.org/officeDocument/2006/math">
                    <m:r>
                      <a:rPr lang="en-US" sz="2400" i="1" noProof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noProof="0" smtClean="0">
                        <a:latin typeface="Cambria Math" panose="02040503050406030204" pitchFamily="18" charset="0"/>
                      </a:rPr>
                      <m:t>Median</m:t>
                    </m:r>
                    <m:r>
                      <a:rPr lang="en-US" sz="24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noProof="0" dirty="0"/>
                  <a:t>?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noProof="0" dirty="0"/>
                  <a:t>Evaluate the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0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noProof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noProof="0" dirty="0"/>
                  <a:t> transform technique on a real-world large graph.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noProof="0" dirty="0"/>
                  <a:t>An analysis of the (monotonic) correlation between Chernoff information and clustering Accuracy may be warranted to substantiate its use as a reliable proxy.</a:t>
                </a:r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867A8949-4B3D-096E-3780-AA5928DD2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6"/>
                <a:ext cx="10301817" cy="4724347"/>
              </a:xfrm>
              <a:prstGeom prst="rect">
                <a:avLst/>
              </a:prstGeom>
              <a:blipFill>
                <a:blip r:embed="rId3"/>
                <a:stretch>
                  <a:fillRect r="-710" b="-25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7C5791CA-9D18-C683-B379-55A599923FC1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105345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F7362-1878-E7D1-4FD8-5AAB6C0DA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45203562-C0A3-F67C-9128-E04025DAA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References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25F160-5292-0B14-1535-E51FA01D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118B41-41CF-8FA5-8863-D3508A78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35</a:t>
            </a:fld>
            <a:endParaRPr lang="en-US" noProof="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E574455-0B2A-A7F2-C4DC-31292F196403}"/>
              </a:ext>
            </a:extLst>
          </p:cNvPr>
          <p:cNvSpPr txBox="1">
            <a:spLocks/>
          </p:cNvSpPr>
          <p:nvPr/>
        </p:nvSpPr>
        <p:spPr>
          <a:xfrm>
            <a:off x="1206500" y="1419456"/>
            <a:ext cx="10301817" cy="47243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200" noProof="0" dirty="0"/>
              <a:t>Ian Gallagher, Andrew Jones, Anna </a:t>
            </a:r>
            <a:r>
              <a:rPr lang="en-US" sz="2200" noProof="0" dirty="0" err="1"/>
              <a:t>Bertiger</a:t>
            </a:r>
            <a:r>
              <a:rPr lang="en-US" sz="2200" noProof="0" dirty="0"/>
              <a:t>, Carey E. Priebe &amp; Patrick Rubin-</a:t>
            </a:r>
            <a:r>
              <a:rPr lang="en-US" sz="2200" noProof="0" dirty="0" err="1"/>
              <a:t>Delanchy</a:t>
            </a:r>
            <a:r>
              <a:rPr lang="en-US" sz="2200" noProof="0" dirty="0"/>
              <a:t> (2024) </a:t>
            </a:r>
            <a:r>
              <a:rPr lang="en-US" sz="2200" b="1" noProof="0" dirty="0"/>
              <a:t>Spectral Embedding of Weighted Graphs</a:t>
            </a:r>
            <a:r>
              <a:rPr lang="en-US" sz="2200" noProof="0" dirty="0"/>
              <a:t>, Journal of the American Statistical Association, 119:547, 1923-1932, DOI: </a:t>
            </a:r>
            <a:r>
              <a:rPr lang="en-US" sz="2200" noProof="0" dirty="0">
                <a:hlinkClick r:id="rId3"/>
              </a:rPr>
              <a:t>10.1080/01621459.2023.2225239</a:t>
            </a:r>
            <a:br>
              <a:rPr lang="en-US" sz="2200" noProof="0" dirty="0"/>
            </a:br>
            <a:endParaRPr lang="en-US" sz="2200" noProof="0" dirty="0"/>
          </a:p>
          <a:p>
            <a:pPr>
              <a:lnSpc>
                <a:spcPct val="110000"/>
              </a:lnSpc>
            </a:pPr>
            <a:r>
              <a:rPr lang="en-US" sz="2200" noProof="0" dirty="0"/>
              <a:t>Joshua Cape, </a:t>
            </a:r>
            <a:r>
              <a:rPr lang="en-US" sz="2200" noProof="0" dirty="0" err="1"/>
              <a:t>Xianshi</a:t>
            </a:r>
            <a:r>
              <a:rPr lang="en-US" sz="2200" noProof="0" dirty="0"/>
              <a:t> Yu, &amp; Jonquil Z. Liao (2024). </a:t>
            </a:r>
            <a:r>
              <a:rPr lang="en-US" sz="2200" b="1" noProof="0" dirty="0"/>
              <a:t>Robust spectral clustering with rank statistics</a:t>
            </a:r>
            <a:r>
              <a:rPr lang="en-US" sz="2200" noProof="0" dirty="0"/>
              <a:t>. </a:t>
            </a:r>
            <a:r>
              <a:rPr lang="en-US" sz="2200" noProof="0" dirty="0" err="1"/>
              <a:t>arXiv</a:t>
            </a:r>
            <a:r>
              <a:rPr lang="en-US" sz="2200" noProof="0" dirty="0"/>
              <a:t> preprint arXiv:2408.10136. </a:t>
            </a:r>
            <a:r>
              <a:rPr lang="en-US" sz="2200" noProof="0" dirty="0">
                <a:hlinkClick r:id="rId4"/>
              </a:rPr>
              <a:t>https://doi.org/10.48550/arXiv.2408.10136</a:t>
            </a:r>
            <a:endParaRPr lang="en-US" sz="2200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C72EF79-BB86-7C7C-9E7D-4E0CAE637B7A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6340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90972-3455-882D-8985-833D82CC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CE2661-3990-08BA-FEC1-FD2A52BA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402A60-D47D-15A3-942A-0B5BD0B72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36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11E0C3CC-037A-1D1B-7FC8-F1CF370490ED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BA39442-7EC7-8DCC-4AB1-4FF5503771CC}"/>
              </a:ext>
            </a:extLst>
          </p:cNvPr>
          <p:cNvSpPr txBox="1">
            <a:spLocks/>
          </p:cNvSpPr>
          <p:nvPr/>
        </p:nvSpPr>
        <p:spPr>
          <a:xfrm>
            <a:off x="945091" y="1201631"/>
            <a:ext cx="10301817" cy="44547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 anchor="ctr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600" noProof="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0731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hème Office">
  <a:themeElements>
    <a:clrScheme name="Personnalisé 1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0070C0"/>
      </a:hlink>
      <a:folHlink>
        <a:srgbClr val="4F8FCC"/>
      </a:folHlink>
    </a:clrScheme>
    <a:fontScheme name="EPFL_Beta2">
      <a:majorFont>
        <a:latin typeface="Franklin Gothic Demi Cond"/>
        <a:ea typeface=""/>
        <a:cs typeface=""/>
      </a:majorFont>
      <a:minorFont>
        <a:latin typeface="Arial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EPFL_Beta2" id="{6A525B41-3E68-491F-A6C9-0B15EA1321FE}" vid="{993E2952-EB5D-4425-8012-1B04381EBC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9503</TotalTime>
  <Words>2631</Words>
  <Application>Microsoft Office PowerPoint</Application>
  <PresentationFormat>Grand écran</PresentationFormat>
  <Paragraphs>406</Paragraphs>
  <Slides>36</Slides>
  <Notes>36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Cambria Math</vt:lpstr>
      <vt:lpstr>Franklin Gothic Demi Cond</vt:lpstr>
      <vt:lpstr>Wingdings</vt:lpstr>
      <vt:lpstr>1_Thème Office</vt:lpstr>
      <vt:lpstr>Improving Spectral Clustering through Edge Weight Transformations</vt:lpstr>
      <vt:lpstr>Table of contents</vt:lpstr>
      <vt:lpstr>Introduction</vt:lpstr>
      <vt:lpstr>Présentation PowerPoint</vt:lpstr>
      <vt:lpstr>Weighted Stochastic Block Model</vt:lpstr>
      <vt:lpstr>Weighted Stochastic Block Model</vt:lpstr>
      <vt:lpstr>Weighted Stochastic Block Model</vt:lpstr>
      <vt:lpstr>Weighted Stochastic Block Model</vt:lpstr>
      <vt:lpstr>Weighted Stochastic Block Model</vt:lpstr>
      <vt:lpstr>Weighted Stochastic Block Model</vt:lpstr>
      <vt:lpstr>Présentation PowerPoint</vt:lpstr>
      <vt:lpstr>Spectral Embedding</vt:lpstr>
      <vt:lpstr>Spectral Embedding</vt:lpstr>
      <vt:lpstr>Spectral Embedding</vt:lpstr>
      <vt:lpstr>Central Limit Theorem – Corollary</vt:lpstr>
      <vt:lpstr>Spectral Clustering – GMM fitting</vt:lpstr>
      <vt:lpstr>Spectral Clustering – GMM fitting</vt:lpstr>
      <vt:lpstr>Spectral Clustering – GMM fitting</vt:lpstr>
      <vt:lpstr>Spectral Clustering – GMM fitting</vt:lpstr>
      <vt:lpstr>Spectral Clustering – GMM fitting</vt:lpstr>
      <vt:lpstr>Présentation PowerPoint</vt:lpstr>
      <vt:lpstr>Weight Transformation</vt:lpstr>
      <vt:lpstr>Présentation PowerPoint</vt:lpstr>
      <vt:lpstr>Separability measure – Chernoff Information</vt:lpstr>
      <vt:lpstr>Présentation PowerPoint</vt:lpstr>
      <vt:lpstr>Experimental Setup</vt:lpstr>
      <vt:lpstr>Présentation PowerPoint</vt:lpstr>
      <vt:lpstr>Transformations Accuracy</vt:lpstr>
      <vt:lpstr>Transformations Accuracy</vt:lpstr>
      <vt:lpstr>Transformations Accuracy</vt:lpstr>
      <vt:lpstr>Transformations Accuracy</vt:lpstr>
      <vt:lpstr>Transformations Accuracy</vt:lpstr>
      <vt:lpstr>Preliminary observations</vt:lpstr>
      <vt:lpstr>What’s next?</vt:lpstr>
      <vt:lpstr>References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Sparsifying a graph by keeping only the shortest paths –  Comparing networks using their APSP structure</dc:title>
  <dc:creator>Nicolas Gonzalez</dc:creator>
  <cp:lastModifiedBy>Nicolas Gonzalez</cp:lastModifiedBy>
  <cp:revision>119</cp:revision>
  <dcterms:created xsi:type="dcterms:W3CDTF">2024-02-22T00:58:57Z</dcterms:created>
  <dcterms:modified xsi:type="dcterms:W3CDTF">2025-04-14T21:24:58Z</dcterms:modified>
</cp:coreProperties>
</file>