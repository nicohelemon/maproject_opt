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8"/>
  </p:notesMasterIdLst>
  <p:sldIdLst>
    <p:sldId id="256" r:id="rId2"/>
    <p:sldId id="396" r:id="rId3"/>
    <p:sldId id="410" r:id="rId4"/>
    <p:sldId id="430" r:id="rId5"/>
    <p:sldId id="431" r:id="rId6"/>
    <p:sldId id="398" r:id="rId7"/>
    <p:sldId id="437" r:id="rId8"/>
    <p:sldId id="414" r:id="rId9"/>
    <p:sldId id="416" r:id="rId10"/>
    <p:sldId id="417" r:id="rId11"/>
    <p:sldId id="418" r:id="rId12"/>
    <p:sldId id="420" r:id="rId13"/>
    <p:sldId id="421" r:id="rId14"/>
    <p:sldId id="422" r:id="rId15"/>
    <p:sldId id="406" r:id="rId16"/>
    <p:sldId id="424" r:id="rId17"/>
    <p:sldId id="423" r:id="rId18"/>
    <p:sldId id="407" r:id="rId19"/>
    <p:sldId id="427" r:id="rId20"/>
    <p:sldId id="425" r:id="rId21"/>
    <p:sldId id="428" r:id="rId22"/>
    <p:sldId id="426" r:id="rId23"/>
    <p:sldId id="433" r:id="rId24"/>
    <p:sldId id="432" r:id="rId25"/>
    <p:sldId id="429" r:id="rId26"/>
    <p:sldId id="434" r:id="rId27"/>
    <p:sldId id="435" r:id="rId28"/>
    <p:sldId id="399" r:id="rId29"/>
    <p:sldId id="436" r:id="rId30"/>
    <p:sldId id="404" r:id="rId31"/>
    <p:sldId id="441" r:id="rId32"/>
    <p:sldId id="440" r:id="rId33"/>
    <p:sldId id="438" r:id="rId34"/>
    <p:sldId id="439" r:id="rId35"/>
    <p:sldId id="443" r:id="rId36"/>
    <p:sldId id="442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0"/>
    <a:srgbClr val="FF5AAC"/>
    <a:srgbClr val="00BFFF"/>
    <a:srgbClr val="2E8B57"/>
    <a:srgbClr val="90EE90"/>
    <a:srgbClr val="006400"/>
    <a:srgbClr val="D5E8D4"/>
    <a:srgbClr val="F8CECC"/>
    <a:srgbClr val="FFC0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54062" autoAdjust="0"/>
  </p:normalViewPr>
  <p:slideViewPr>
    <p:cSldViewPr snapToGrid="0">
      <p:cViewPr varScale="1">
        <p:scale>
          <a:sx n="64" d="100"/>
          <a:sy n="64" d="100"/>
        </p:scale>
        <p:origin x="748" y="48"/>
      </p:cViewPr>
      <p:guideLst/>
    </p:cSldViewPr>
  </p:slideViewPr>
  <p:outlineViewPr>
    <p:cViewPr>
      <p:scale>
        <a:sx n="33" d="100"/>
        <a:sy n="33" d="100"/>
      </p:scale>
      <p:origin x="0" y="-3880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-5364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1AD6DF-F372-41A5-81E1-A18C808642C0}" type="datetimeFigureOut">
              <a:rPr lang="en-GB" smtClean="0"/>
              <a:t>13/04/2025</a:t>
            </a:fld>
            <a:endParaRPr lang="en-GB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729FEC-4337-47A3-81F7-50750F04E850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5227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noProof="0" dirty="0"/>
              <a:t>Good morning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noProof="0" dirty="0"/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noProof="0" dirty="0"/>
              <a:t>I’m Nicolas, and I’m here to present my master semester project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F50783-AAED-1941-8BCC-9F6140F0A6B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06434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My presentation is structured as follows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29FEC-4337-47A3-81F7-50750F04E850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03578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CFA41-E194-5FDB-EE46-2C8C44403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DAAB2F3-798A-82E7-F704-94BB4F8CE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CFFF49C-552D-1A9F-3BA3-9C2D8E6B54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Just briefly, across all the project graphs being considered are undirected simple and weighted</a:t>
            </a:r>
            <a:endParaRPr lang="en-US" sz="12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2FDE84B-417A-F7EF-B924-1C551827B6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29FEC-4337-47A3-81F7-50750F04E850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84318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EC49C-EAD6-BBBB-7706-A10F54B47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6B696A6-BCCF-EB18-5B4B-98A01CB951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6565CE1-F4CE-F8CF-6189-CFE28E4C34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Just briefly, across all the project graphs being considered are undirected simple and weighted</a:t>
            </a:r>
            <a:endParaRPr lang="en-US" sz="12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8280B63-0B17-1220-FDDA-C64890162C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29FEC-4337-47A3-81F7-50750F04E850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08828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F2172-434F-ACF2-7119-BF2D12A91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C86452D-1643-3DB8-1502-739886C330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4BDB6DC-9538-1948-7BF8-88F70E4222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Just briefly, across all the project graphs being considered are undirected simple and weighted</a:t>
            </a:r>
            <a:endParaRPr lang="en-US" sz="12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B751867-BFB2-109B-BA40-BA9ED5DC67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29FEC-4337-47A3-81F7-50750F04E850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88922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73D84-16B0-3719-59B6-9524DD15B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44336FC-AB7C-5ABC-34BC-F294C816E5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4DE9927-D377-9805-7485-0FA34CFD1B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Just briefly, across all the project graphs being considered are undirected simple and weighted</a:t>
            </a:r>
            <a:endParaRPr lang="en-US" sz="12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3FD8AF4-F391-C3EC-C2B4-B04E28E91A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29FEC-4337-47A3-81F7-50750F04E850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83332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B0C3B-5352-A1B4-8C62-3131BAAD3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F6E33B1-07BB-859E-FB5F-911DA4C4E4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375FAE5-C6AE-CF99-12A6-485989F148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Just briefly, across all the project graphs being considered are undirected simple and weighted</a:t>
            </a:r>
            <a:endParaRPr lang="en-US" sz="12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D363375-2951-D7D7-A81C-F88D0757AD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29FEC-4337-47A3-81F7-50750F04E850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8090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FE9BC-AC75-BFAE-F763-08BD33EBF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9430EDE-F9B4-448C-1017-EDD67ADCE9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0457076-39EE-9B7C-D6B2-85F602502C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Just briefly, across all the project graphs being considered are undirected simple and weighted</a:t>
            </a:r>
            <a:endParaRPr lang="en-US" sz="12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CF9777D-A63B-8ADB-E211-E3656FBD5A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29FEC-4337-47A3-81F7-50750F04E850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67963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04882-1BD7-5866-349B-92FBC8CC7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3EE3A49-B354-4C97-1375-CA3227C513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DD42A5D-D564-D29A-F82C-A61450AD10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Just briefly, across all the project graphs being considered are undirected simple and weighted</a:t>
            </a:r>
            <a:endParaRPr lang="en-US" sz="12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23BA13B-B789-35D2-85E9-BA2C275A11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29FEC-4337-47A3-81F7-50750F04E850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72949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64F5D-2024-27E5-A716-27A1AB3C5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AFF74F2-7919-1600-3AFD-820985577B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CCCB70F-F8CF-D688-90D9-3D6526FCDA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Just briefly, across all the project graphs being considered are undirected simple and weighted</a:t>
            </a:r>
            <a:endParaRPr lang="en-US" sz="12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8F848CB-6908-0C06-7A63-7B2504C23A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29FEC-4337-47A3-81F7-50750F04E850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55268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0CE53-C338-6CEF-D863-E2D4B03B5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6E90E18-E866-3BD7-6DD9-D3EA520FB3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A17EB3C-A954-C185-0FC7-F7613875D7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Just briefly, across all the project graphs being considered are undirected simple and weighted</a:t>
            </a:r>
            <a:endParaRPr lang="en-US" sz="12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6C94708-48EC-4396-8542-E78F9649D1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29FEC-4337-47A3-81F7-50750F04E850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71135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7F6F6-2848-5A55-1636-3CAB5714A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19DF674-92E4-058F-61D9-D58191CA3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5BC847F-F0BC-CDDC-0839-4F5EF694BC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Just briefly, across all the project graphs being considered are undirected simple and weighted</a:t>
            </a:r>
            <a:endParaRPr lang="en-US" sz="12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0A83974-5C65-0494-F471-CF4609F6BC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29FEC-4337-47A3-81F7-50750F04E850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15682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82E3E-9C31-476A-DEF3-7A98D9680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DBB7C22-CF6A-6FD4-B173-2B31E4124B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1996EE7-ABB6-FB10-8F40-F0F258074A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Just briefly, across all the project graphs being considered are undirected simple and weighted</a:t>
            </a:r>
            <a:endParaRPr lang="en-US" sz="12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F965A7E-7E2C-AA87-26CA-D0F8C3B1C0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29FEC-4337-47A3-81F7-50750F04E850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68914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38F49-8AB0-5052-BCFA-18B0AAE5C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BD17B96-494C-F810-FA16-B477403C58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562D5BF-ADE1-8F74-BC9D-9EBCC98E64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Just briefly, across all the project graphs being considered are undirected simple and weighted</a:t>
            </a:r>
            <a:endParaRPr lang="en-US" sz="12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577B82B-9325-1AF5-0A56-EA21B90D31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29FEC-4337-47A3-81F7-50750F04E850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00713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242F2-076E-AD79-BD54-25B8D6EFF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0391028-0537-7D02-5818-2FD12084B7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A740D6F-A816-032E-659B-5DAB28C244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Just briefly, across all the project graphs being considered are undirected simple and weighted</a:t>
            </a:r>
            <a:endParaRPr lang="en-US" sz="12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C0CB072-0A12-FC86-E2B5-02D0A58DEE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29FEC-4337-47A3-81F7-50750F04E850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48548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9409C-0F42-6A46-8DC9-BEA462074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1E637ED-A3CA-D2E4-1877-019BB8510C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A48F296-F2C0-122F-1414-7AC84515FB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Just briefly, across all the project graphs being considered are undirected simple and weighted</a:t>
            </a:r>
            <a:endParaRPr lang="en-US" sz="12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FF5DDBF-5DB4-4FDC-B817-5FA66FE570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29FEC-4337-47A3-81F7-50750F04E850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81134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F60DD-73BF-466B-3BA7-27803CA83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855F6EC-BDDD-FB3C-4691-1EF599B1A4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7E3EB91-2379-CCF5-AA7A-BE0E6B2150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Just briefly, across all the project graphs being considered are undirected simple and weighted</a:t>
            </a:r>
            <a:endParaRPr lang="en-US" sz="12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EC8022A-2057-1AA5-DA96-B62B59ECA3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29FEC-4337-47A3-81F7-50750F04E850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44622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924E6-FE76-C188-1BF7-B627EDF3E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FB9D447-D02B-EFB5-83CC-4C760AB3A7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71A54E7-ADB4-C3C1-7893-2DEBD2520C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Just briefly, across all the project graphs being considered are undirected simple and weighted</a:t>
            </a:r>
            <a:endParaRPr lang="en-US" sz="12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F00C827-42B2-7970-68CD-5A8E43866D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29FEC-4337-47A3-81F7-50750F04E850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06810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589F3-EC90-89C4-BBBE-370A6AF2B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1EA2CAD-6A1D-2E1E-AD28-84CE387BF4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4BC2AA2-6E4F-44C2-6E6D-C6F5E9149A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Just briefly, across all the project graphs being considered are undirected simple and weighted</a:t>
            </a:r>
            <a:endParaRPr lang="en-US" sz="12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7A3E51C-E07F-10BB-5FF0-787D4B23A4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29FEC-4337-47A3-81F7-50750F04E850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85269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34F04-6C72-1A45-8960-90C7A214D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8BAF03E-EF00-E6CC-C10C-086DDDDF0F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4B93868-B409-D6DE-E543-5FE286E99B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Just briefly, across all the project graphs being considered are undirected simple and weighted</a:t>
            </a:r>
            <a:endParaRPr lang="en-US" sz="12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32D8FFE-0F44-47D1-E04B-F4FA1E1955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29FEC-4337-47A3-81F7-50750F04E850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59670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54847-84EA-010E-260E-B65233515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69EA10F-EEB2-E59B-41F6-6A6A7CEFCB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9ADF94E-32A4-03DF-4CAB-D4E62A4DAC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Just briefly, across all the project graphs being considered are undirected simple and weighted</a:t>
            </a:r>
            <a:endParaRPr lang="en-US" sz="12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122F8B1-8C8F-D9D5-07A4-B54F74EE49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29FEC-4337-47A3-81F7-50750F04E850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70408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002D6-42DC-A1CB-2B93-C2AF2CD3B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7376AD0-BF69-96BB-4B22-022316BDA5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31FCFAC-C173-6DEC-C146-620B2E3598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Just briefly, across all the project graphs being considered are undirected simple and weighted</a:t>
            </a:r>
            <a:endParaRPr lang="en-US" sz="12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3405A60-E624-941F-6E68-5C09AF6962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29FEC-4337-47A3-81F7-50750F04E850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770450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56C50-5765-67DA-6109-2DE2AED48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1CE11DD-2A60-98F8-C0D9-77681E2E1F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D81E190-BCE5-987A-6B4E-4E30D48122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Just briefly, across all the project graphs being considered are undirected simple and weighted</a:t>
            </a:r>
            <a:endParaRPr lang="en-US" sz="12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B7AD6EC-C51F-8CC7-8764-B042F56038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29FEC-4337-47A3-81F7-50750F04E850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98126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50305-3651-7043-ADF1-52646B9AF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0B3EBFB-D433-D588-FDE0-D870656555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140E0EE-51FC-272E-E130-EBB8D522E1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Just briefly, across all the project graphs being considered are undirected simple and weighted</a:t>
            </a:r>
            <a:endParaRPr lang="en-US" sz="12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64A826D-2767-F839-74C9-6A1B252F30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29FEC-4337-47A3-81F7-50750F04E850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13874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EDF29-61EB-5597-EE50-9D308E7D8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4490F1C-9C22-9CF6-1E1B-5778781F1B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F9A745C-7E76-8513-E37D-3F5BB6AAC0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Just briefly, across all the project graphs being considered are undirected simple and weighted</a:t>
            </a:r>
            <a:endParaRPr lang="en-US" sz="12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4802CF0-8AD1-3928-EDDA-8A38B8D14A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29FEC-4337-47A3-81F7-50750F04E850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08921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DCB4E-6F15-20AD-BA2C-CDBC0C1E8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8DEB139-C760-E32B-3450-5792C2DAFD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0FEA95D-42FF-BCDE-B3FC-D8F6AB111B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Just briefly, across all the project graphs being considered are undirected simple and weighted</a:t>
            </a:r>
            <a:endParaRPr lang="en-US" sz="12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77AE149-6588-4B21-5B80-B98A61DFAC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29FEC-4337-47A3-81F7-50750F04E850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198701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4AB82-5837-5F58-7239-BC0DC2079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FC6EC60-A537-B37B-ED16-DFDCB0BE00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B4E872B-2B1A-5BB6-1363-D825475E85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Just briefly, across all the project graphs being considered are undirected simple and weighted</a:t>
            </a:r>
            <a:endParaRPr lang="en-US" sz="12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DC28A82-2B4A-39BA-F358-29C5E97EB9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29FEC-4337-47A3-81F7-50750F04E850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847038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2E0F1-70F7-C6F5-E7E2-ABF30F257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2036A1D-B4C3-DE9A-6EF3-EE60F7A097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84E2904-2A11-4FD1-43A6-C98BFF45F2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Just briefly, across all the project graphs being considered are undirected simple and weighted</a:t>
            </a:r>
            <a:endParaRPr lang="en-US" sz="12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6FCD27B-FF4E-DCD5-DB99-010EE67EC2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29FEC-4337-47A3-81F7-50750F04E850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033311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54B23-68C3-0528-A60A-110978665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72A2EA2-0CA3-88AE-4DEC-1C78E29F53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9CEB05C-3178-E097-1546-7BF10E21D1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Just briefly, across all the project graphs being considered are undirected simple and weighted</a:t>
            </a:r>
            <a:endParaRPr lang="en-US" sz="12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6E27E8F-5676-3DA2-5ADA-32C3FA510D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29FEC-4337-47A3-81F7-50750F04E850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598144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E85C4-3B63-2351-A1A5-C9BBE23C7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E45AA49-E4AC-6C41-A8FC-A5670E1271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6564680-B4AC-A9BA-03B0-106D340852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Just briefly, across all the project graphs being considered are undirected simple and weighted</a:t>
            </a:r>
            <a:endParaRPr lang="en-US" sz="12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6E49457-CE3B-A760-8B95-940A187A06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29FEC-4337-47A3-81F7-50750F04E850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935477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77C4E-FDF1-D37E-B908-F2EBE0E79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79E5D07-08BB-E850-2A24-340D29B2F6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537F40A-6DEE-D7CF-024C-C26C67B1B5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Just briefly, across all the project graphs being considered are undirected simple and weighted</a:t>
            </a:r>
            <a:endParaRPr lang="en-US" sz="12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085BC19-E5D1-5EBE-EB88-0AC7AD818E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29FEC-4337-47A3-81F7-50750F04E850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035341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E3E3B-4F54-DE35-C29A-4C0D59D16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B17CF44-6DA9-681F-E973-5B76BD4627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751C948-3ACE-307B-E15D-44CAEC02CC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Just briefly, across all the project graphs being considered are undirected simple and weighted</a:t>
            </a:r>
            <a:endParaRPr lang="en-US" sz="12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6126E53-E616-9383-886B-8E23E626C0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29FEC-4337-47A3-81F7-50750F04E850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347986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CA9DD-E553-E1C5-C9B9-D3972A2E8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B709063-0895-DA50-6A39-6A6B9A62B3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8B960F5-7879-F048-00CB-45E5F549C6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Just briefly, across all the project graphs being considered are undirected simple and weighted</a:t>
            </a:r>
            <a:endParaRPr lang="en-US" sz="12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4EF83EB-9EB6-F963-77FB-20D8633D7B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29FEC-4337-47A3-81F7-50750F04E850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38996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D7FFD-B3CA-AF95-A43C-BAEC9D399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30486CF-E834-6FCB-3D49-1CC211E2B7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F1F1678-F7BA-2762-D9B9-CFDD44ACB5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Just briefly, across all the project graphs being considered are undirected simple and weighted</a:t>
            </a:r>
            <a:endParaRPr lang="en-US" sz="12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96A407E-EAC4-9FD9-5519-A8A93F7119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29FEC-4337-47A3-81F7-50750F04E850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329533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0012D-2EB7-AA9B-B5B6-494889D49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C5FF148-260C-C55B-8810-4FA10507BA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ABD1F4C-69C2-45C6-BCF9-0603F6EEE3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Just briefly, across all the project graphs being considered are undirected simple and weighted</a:t>
            </a:r>
            <a:endParaRPr lang="en-US" sz="12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44E3F46-4602-6A1C-5684-03942C0BF5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29FEC-4337-47A3-81F7-50750F04E850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645007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209A0-BDCB-14EB-D3A6-CDCE5DA55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D627111-7B53-9482-22CA-F7BEC67FCC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C8236B1-6C56-A85F-1FCA-DC9543D9DC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Just briefly, across all the project graphs being considered are undirected simple and weighted</a:t>
            </a:r>
            <a:endParaRPr lang="en-US" sz="12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564F88F-B567-DDF5-98AE-923CD17E49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29FEC-4337-47A3-81F7-50750F04E850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8286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pour une image  11">
            <a:extLst>
              <a:ext uri="{FF2B5EF4-FFF2-40B4-BE49-F238E27FC236}">
                <a16:creationId xmlns:a16="http://schemas.microsoft.com/office/drawing/2014/main" id="{4CF6F629-51E7-9F40-939D-F50AE3925A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775885" y="0"/>
            <a:ext cx="10416116" cy="6597651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40752" y="1048714"/>
            <a:ext cx="3651249" cy="3117849"/>
          </a:xfrm>
          <a:solidFill>
            <a:schemeClr val="accent1"/>
          </a:solidFill>
        </p:spPr>
        <p:txBody>
          <a:bodyPr lIns="216000" anchor="ctr" anchorCtr="0">
            <a:norm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02351" y="4166563"/>
            <a:ext cx="2438400" cy="2091267"/>
          </a:xfrm>
          <a:solidFill>
            <a:schemeClr val="tx1"/>
          </a:solidFill>
        </p:spPr>
        <p:txBody>
          <a:bodyPr lIns="90000"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6535A482-EC85-1C41-A1E4-7882A0E39F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197" y="107045"/>
            <a:ext cx="1567068" cy="678207"/>
          </a:xfrm>
          <a:prstGeom prst="rect">
            <a:avLst/>
          </a:prstGeom>
        </p:spPr>
      </p:pic>
      <p:sp>
        <p:nvSpPr>
          <p:cNvPr id="16" name="Espace réservé du texte 4">
            <a:extLst>
              <a:ext uri="{FF2B5EF4-FFF2-40B4-BE49-F238E27FC236}">
                <a16:creationId xmlns:a16="http://schemas.microsoft.com/office/drawing/2014/main" id="{01960462-6F28-0740-916D-499D3BEDB2B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534400" y="6244168"/>
            <a:ext cx="2438400" cy="613833"/>
          </a:xfrm>
          <a:solidFill>
            <a:schemeClr val="bg1"/>
          </a:solidFill>
        </p:spPr>
        <p:txBody>
          <a:bodyPr lIns="90000" anchor="ctr">
            <a:noAutofit/>
          </a:bodyPr>
          <a:lstStyle>
            <a:lvl1pPr marL="0" indent="0" algn="ctr">
              <a:buNone/>
              <a:defRPr sz="1467"/>
            </a:lvl1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E187583-F16A-6F41-8B68-000F9C9C20D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0067" y="5920353"/>
            <a:ext cx="931333" cy="677300"/>
          </a:xfrm>
        </p:spPr>
        <p:txBody>
          <a:bodyPr lIns="0" tIns="0" rIns="0" bIns="0" anchor="b" anchorCtr="0">
            <a:noAutofit/>
          </a:bodyPr>
          <a:lstStyle>
            <a:lvl1pPr marL="152396" indent="-143930">
              <a:buFontTx/>
              <a:buBlip>
                <a:blip r:embed="rId3"/>
              </a:buBlip>
              <a:tabLst/>
              <a:defRPr sz="933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1612339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126">
          <p15:clr>
            <a:srgbClr val="FBAE40"/>
          </p15:clr>
        </p15:guide>
        <p15:guide id="5" orient="horz" pos="123">
          <p15:clr>
            <a:srgbClr val="FBAE40"/>
          </p15:clr>
        </p15:guide>
        <p15:guide id="6" orient="horz" pos="3117">
          <p15:clr>
            <a:srgbClr val="FBAE40"/>
          </p15:clr>
        </p15:guide>
        <p15:guide id="7" pos="839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A9F6C81-AE59-DE44-BF60-E773080CD91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>
              <a:latin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0" y="1037168"/>
            <a:ext cx="5411893" cy="2391833"/>
          </a:xfrm>
        </p:spPr>
        <p:txBody>
          <a:bodyPr anchor="ctr" anchorCtr="0">
            <a:normAutofit/>
          </a:bodyPr>
          <a:lstStyle>
            <a:lvl1pPr>
              <a:defRPr sz="4267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0" y="3429000"/>
            <a:ext cx="5411893" cy="2875344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Modifier les styles du texte du masque
Deuxième niveau
Troisième niveau
Quatrième niveau
Cinquième niveau</a:t>
            </a:r>
          </a:p>
        </p:txBody>
      </p:sp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C58F136D-3292-C745-91DE-A21191C16F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06501" y="0"/>
            <a:ext cx="4889500" cy="68580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NAME EVENT / NAME PRESENTATION</a:t>
            </a:r>
            <a:endParaRPr lang="fr-FR" dirty="0"/>
          </a:p>
        </p:txBody>
      </p:sp>
      <p:sp>
        <p:nvSpPr>
          <p:cNvPr id="13" name="Espace réservé du pied de page 12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Speaker </a:t>
            </a:r>
            <a:endParaRPr lang="fr-FR" dirty="0"/>
          </a:p>
        </p:txBody>
      </p:sp>
      <p:sp>
        <p:nvSpPr>
          <p:cNvPr id="14" name="Espace réservé du numéro de diapositive 1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E1CD7C-2161-7D43-862E-CE4C333CD87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79066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A9F6C81-AE59-DE44-BF60-E773080CD91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>
              <a:latin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0" y="1037168"/>
            <a:ext cx="5411893" cy="2391833"/>
          </a:xfrm>
        </p:spPr>
        <p:txBody>
          <a:bodyPr anchor="ctr" anchorCtr="0">
            <a:normAutofit/>
          </a:bodyPr>
          <a:lstStyle>
            <a:lvl1pPr>
              <a:defRPr sz="4267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0" y="3429000"/>
            <a:ext cx="5411893" cy="2875344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Modifier les styles du texte du masque
Deuxième niveau
Troisième niveau
Quatrième niveau
Cinquième niveau</a:t>
            </a:r>
          </a:p>
        </p:txBody>
      </p:sp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C58F136D-3292-C745-91DE-A21191C16F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06501" y="0"/>
            <a:ext cx="4889500" cy="68580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NAME EVENT / NAME PRESENTATION</a:t>
            </a:r>
            <a:endParaRPr lang="fr-FR" dirty="0"/>
          </a:p>
        </p:txBody>
      </p:sp>
      <p:sp>
        <p:nvSpPr>
          <p:cNvPr id="13" name="Espace réservé du pied de page 12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Speaker </a:t>
            </a:r>
            <a:endParaRPr lang="fr-FR" dirty="0"/>
          </a:p>
        </p:txBody>
      </p:sp>
      <p:sp>
        <p:nvSpPr>
          <p:cNvPr id="14" name="Espace réservé du numéro de diapositive 1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E1CD7C-2161-7D43-862E-CE4C333CD87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24191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A9F6C81-AE59-DE44-BF60-E773080CD91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>
              <a:latin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0" y="1037168"/>
            <a:ext cx="5411893" cy="2391833"/>
          </a:xfrm>
        </p:spPr>
        <p:txBody>
          <a:bodyPr anchor="ctr" anchorCtr="0">
            <a:normAutofit/>
          </a:bodyPr>
          <a:lstStyle>
            <a:lvl1pPr>
              <a:defRPr sz="4267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0" y="3429000"/>
            <a:ext cx="5411893" cy="2875344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C58F136D-3292-C745-91DE-A21191C16F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06501" y="0"/>
            <a:ext cx="4889500" cy="68580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NAME EVENT / NAME PRESENTATION</a:t>
            </a:r>
            <a:endParaRPr lang="fr-FR" dirty="0"/>
          </a:p>
        </p:txBody>
      </p:sp>
      <p:sp>
        <p:nvSpPr>
          <p:cNvPr id="10" name="Espace réservé du pied de page 9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Speaker </a:t>
            </a:r>
            <a:endParaRPr lang="fr-FR" dirty="0"/>
          </a:p>
        </p:txBody>
      </p:sp>
      <p:sp>
        <p:nvSpPr>
          <p:cNvPr id="11" name="Espace réservé du numéro de diapositive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E1CD7C-2161-7D43-862E-CE4C333CD87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57012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A30C78BE-DAD0-D748-8B93-AD898D00C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9" name="Espace réservé de la date 8">
            <a:extLst>
              <a:ext uri="{FF2B5EF4-FFF2-40B4-BE49-F238E27FC236}">
                <a16:creationId xmlns:a16="http://schemas.microsoft.com/office/drawing/2014/main" id="{131A8490-33AC-9443-A9FC-9A5E93229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NAME EVENT / NAME PRESENTATION</a:t>
            </a:r>
            <a:endParaRPr lang="fr-FR" dirty="0"/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B875139C-6471-774D-89EF-2B93FAD2C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Speaker </a:t>
            </a:r>
            <a:endParaRPr lang="fr-FR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3942AF23-4BDC-8C4A-9212-AF88439C6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43997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501" y="2084917"/>
            <a:ext cx="6108700" cy="4515696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70ED9B2D-C513-AF40-B94F-355C174B8F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00" y="0"/>
            <a:ext cx="4193117" cy="68580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55F20A3C-6DA6-684F-8F84-A7C8F1339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B633A2CC-2D27-AE47-AE09-87A5F61228B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NAME EVENT / NAME PRESENTATION</a:t>
            </a:r>
            <a:endParaRPr lang="fr-FR" dirty="0"/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CABC000E-4E22-1A40-9D3F-FE2F141E5CA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/>
              <a:t>Speaker </a:t>
            </a:r>
            <a:endParaRPr lang="fr-FR" dirty="0"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0AF49D93-C78A-F646-92B0-A7932C43D9E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53714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70ED9B2D-C513-AF40-B94F-355C174B8F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06500" y="0"/>
            <a:ext cx="4193117" cy="68580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9194" y="2084917"/>
            <a:ext cx="6108700" cy="4515696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02A0D73-096C-844E-97C3-C4A4AF580FD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NAME EVENT / NAME PRESENTATION</a:t>
            </a:r>
            <a:endParaRPr lang="fr-FR" dirty="0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CEF5AC5C-A2B6-2848-8C47-96A168E211D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/>
              <a:t>Speaker </a:t>
            </a:r>
            <a:endParaRPr lang="fr-FR" dirty="0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31B90E33-03D8-2143-B49F-B1474EE1A1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1" name="Titre 10">
            <a:extLst>
              <a:ext uri="{FF2B5EF4-FFF2-40B4-BE49-F238E27FC236}">
                <a16:creationId xmlns:a16="http://schemas.microsoft.com/office/drawing/2014/main" id="{3FC7B5EC-066E-EC4A-B320-77DF64E6E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2" y="174710"/>
            <a:ext cx="4192693" cy="1430337"/>
          </a:xfrm>
        </p:spPr>
        <p:txBody>
          <a:bodyPr/>
          <a:lstStyle/>
          <a:p>
            <a:r>
              <a:rPr lang="fr-FR" dirty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4082015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70ED9B2D-C513-AF40-B94F-355C174B8F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06500" y="0"/>
            <a:ext cx="4193117" cy="68580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9194" y="2084917"/>
            <a:ext cx="6108700" cy="4515696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02A0D73-096C-844E-97C3-C4A4AF580FD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NAME EVENT / NAME PRESENTATION</a:t>
            </a:r>
            <a:endParaRPr lang="fr-FR" dirty="0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CEF5AC5C-A2B6-2848-8C47-96A168E211D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/>
              <a:t>Speaker </a:t>
            </a:r>
            <a:endParaRPr lang="fr-FR" dirty="0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31B90E33-03D8-2143-B49F-B1474EE1A1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1" name="Titre 10">
            <a:extLst>
              <a:ext uri="{FF2B5EF4-FFF2-40B4-BE49-F238E27FC236}">
                <a16:creationId xmlns:a16="http://schemas.microsoft.com/office/drawing/2014/main" id="{3FC7B5EC-066E-EC4A-B320-77DF64E6E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193" y="174710"/>
            <a:ext cx="4192693" cy="1430337"/>
          </a:xfrm>
        </p:spPr>
        <p:txBody>
          <a:bodyPr/>
          <a:lstStyle/>
          <a:p>
            <a:r>
              <a:rPr lang="fr-FR" dirty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896774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70ED9B2D-C513-AF40-B94F-355C174B8F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06500" y="2084917"/>
            <a:ext cx="4193117" cy="4773083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9194" y="2084917"/>
            <a:ext cx="6108700" cy="4515696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C026A30B-6F8E-1445-88F0-A5FB77E12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9" name="Espace réservé de la date 8">
            <a:extLst>
              <a:ext uri="{FF2B5EF4-FFF2-40B4-BE49-F238E27FC236}">
                <a16:creationId xmlns:a16="http://schemas.microsoft.com/office/drawing/2014/main" id="{826567D5-4A83-9E48-B441-CCB2A72BA6D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NAME EVENT / NAME PRESENTATION</a:t>
            </a:r>
            <a:endParaRPr lang="fr-FR" dirty="0"/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C830A539-93F1-2541-B9F0-330893BD519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/>
              <a:t>Speaker </a:t>
            </a:r>
            <a:endParaRPr lang="fr-FR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82F21D18-8706-7E4D-8FBE-C1E2584541D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68349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6500" y="2084917"/>
            <a:ext cx="4895288" cy="4351339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029" y="2084917"/>
            <a:ext cx="4895288" cy="4351339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6897D737-724C-984A-82E1-2A2DBD5F6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9" name="Espace réservé de la date 8">
            <a:extLst>
              <a:ext uri="{FF2B5EF4-FFF2-40B4-BE49-F238E27FC236}">
                <a16:creationId xmlns:a16="http://schemas.microsoft.com/office/drawing/2014/main" id="{E34C2B73-67B7-BB4C-AE0F-7D16D8DDD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NAME EVENT / NAME PRESENTATION</a:t>
            </a:r>
            <a:endParaRPr lang="fr-FR" dirty="0"/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C9FF6AA9-AC16-D748-B815-56221BFFF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Speaker </a:t>
            </a:r>
            <a:endParaRPr lang="fr-FR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DD59D891-3F23-D04C-AB43-6FA4220AF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42199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9BFFD8D9-6AAA-B44F-8BD5-98D7A6546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84C64CE-C88F-2044-AD84-19F588F18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NAME EVENT / NAME PRESENTATION</a:t>
            </a:r>
            <a:endParaRPr lang="fr-FR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948AF20-C2DF-3542-BB6A-8354A9817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Speaker </a:t>
            </a:r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1083942-1443-BC45-9F95-32C82A8DC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428170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625DAC6D-23F0-6941-BE81-E7A79CA3AF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06501" y="0"/>
            <a:ext cx="10985500" cy="68580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0752" y="3429001"/>
            <a:ext cx="3651249" cy="2815167"/>
          </a:xfrm>
          <a:solidFill>
            <a:schemeClr val="accent2"/>
          </a:solidFill>
        </p:spPr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0E5EA1C-63CE-2C4F-B9F4-39FDBC14B9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NAME EVENT / NAME PRESENTATION</a:t>
            </a:r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E7A5892-F23D-BD48-84D1-FD279BA168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/>
              <a:t>Speaker 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C516D46-C7BB-2141-A4EE-18D1756414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430858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625DAC6D-23F0-6941-BE81-E7A79CA3AF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06501" y="0"/>
            <a:ext cx="10301817" cy="68580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1E6F4EB-CC02-6E4D-9146-CE4A7A789A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/>
              <a:t>NAME EVENT / NAME PRESENTATION</a:t>
            </a:r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ED4AA2C-29B3-CA42-B7C3-C932911A758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/>
              <a:t>Speaker </a:t>
            </a:r>
            <a:endParaRPr lang="fr-FR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0FE7A1E3-AAEC-7641-B6C5-8D9FC0B6A21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975055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625DAC6D-23F0-6941-BE81-E7A79CA3AF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06501" y="4152899"/>
            <a:ext cx="10985500" cy="27051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7"/>
          </p:nvPr>
        </p:nvSpPr>
        <p:spPr>
          <a:xfrm>
            <a:off x="1206500" y="2084918"/>
            <a:ext cx="10195984" cy="1915583"/>
          </a:xfrm>
        </p:spPr>
        <p:txBody>
          <a:bodyPr/>
          <a:lstStyle>
            <a:lvl4pPr>
              <a:defRPr>
                <a:latin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</a:defRPr>
            </a:lvl5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fr-CH" dirty="0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37CF3032-2465-874C-B786-95E1B594A5A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fr-CH"/>
              <a:t>NAME EVENT / NAME PRESENTATION</a:t>
            </a:r>
            <a:endParaRPr lang="fr-FR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AF73E2A-22D7-894A-9267-185CB4E4B13E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fr-FR"/>
              <a:t>Speaker </a:t>
            </a:r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9D9777C-EC90-1141-9E30-4B4F669C2BE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1" name="Titre 10">
            <a:extLst>
              <a:ext uri="{FF2B5EF4-FFF2-40B4-BE49-F238E27FC236}">
                <a16:creationId xmlns:a16="http://schemas.microsoft.com/office/drawing/2014/main" id="{0E011164-727C-4C46-B34E-7729CB350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7875710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D8101AB-8ACE-BB4C-9D61-B4AABFE11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NAME EVENT / NAME PRESENTATION</a:t>
            </a:r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F9CFC1D-0B2A-0A4E-9C0D-682EECA55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Speaker </a:t>
            </a:r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6622065-A833-2340-B0FD-ACB065A3B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9807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6501" y="174710"/>
            <a:ext cx="4889500" cy="1430337"/>
          </a:xfrm>
          <a:prstGeom prst="rect">
            <a:avLst/>
          </a:prstGeom>
        </p:spPr>
        <p:txBody>
          <a:bodyPr vert="horz" lIns="180000" tIns="0" rIns="72000" bIns="46800" rtlCol="0" anchor="t">
            <a:norm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6501" y="2084917"/>
            <a:ext cx="10301817" cy="4515696"/>
          </a:xfrm>
          <a:prstGeom prst="rect">
            <a:avLst/>
          </a:prstGeom>
        </p:spPr>
        <p:txBody>
          <a:bodyPr vert="horz" lIns="180000" tIns="45720" rIns="91440" bIns="45720" rtlCol="0">
            <a:normAutofit/>
          </a:bodyPr>
          <a:lstStyle/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
Quatrième niveau
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33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r>
              <a:rPr lang="fr-CH"/>
              <a:t>NAME EVENT / NAME PRESENTATION</a:t>
            </a:r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487985" y="2498752"/>
            <a:ext cx="4724347" cy="683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33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fr-FR" dirty="0"/>
              <a:t>Speaker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08317" y="260351"/>
            <a:ext cx="683683" cy="218069"/>
          </a:xfrm>
          <a:prstGeom prst="rect">
            <a:avLst/>
          </a:prstGeom>
        </p:spPr>
        <p:txBody>
          <a:bodyPr vert="horz" lIns="90000" tIns="0" rIns="90000" bIns="0" rtlCol="0" anchor="t"/>
          <a:lstStyle>
            <a:lvl1pPr algn="ctr">
              <a:defRPr sz="933" b="1">
                <a:solidFill>
                  <a:schemeClr val="tx1"/>
                </a:solidFill>
                <a:latin typeface="+mj-lt"/>
              </a:defRPr>
            </a:lvl1pPr>
          </a:lstStyle>
          <a:p>
            <a:fld id="{E1E1CD7C-2161-7D43-862E-CE4C333CD873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717E6E68-87EB-C34E-85D5-C26372DFEC99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73697" y="176445"/>
            <a:ext cx="871936" cy="377363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5D7A1C0-94CD-D94F-A99F-21847E542637}"/>
              </a:ext>
            </a:extLst>
          </p:cNvPr>
          <p:cNvSpPr/>
          <p:nvPr userDrawn="1"/>
        </p:nvSpPr>
        <p:spPr>
          <a:xfrm rot="16200000">
            <a:off x="573338" y="6530279"/>
            <a:ext cx="60959" cy="797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 noProof="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9294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267" b="1" i="0" kern="1000" spc="-93" baseline="0">
          <a:solidFill>
            <a:schemeClr val="tx1"/>
          </a:solidFill>
          <a:latin typeface="Franklin Gothic Demi Cond" panose="020B0706030402020204" pitchFamily="34" charset="0"/>
          <a:ea typeface="Roboto Black" panose="02000000000000000000" pitchFamily="2" charset="0"/>
          <a:cs typeface="Arial" panose="020B0604020202020204" pitchFamily="34" charset="0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90000"/>
        <a:buFont typeface="Wingdings" pitchFamily="2" charset="2"/>
        <a:buChar char="§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133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SzPct val="90000"/>
        <a:buFont typeface="Wingdings" pitchFamily="2" charset="2"/>
        <a:buChar char="§"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126">
          <p15:clr>
            <a:srgbClr val="F26B43"/>
          </p15:clr>
        </p15:guide>
        <p15:guide id="3" pos="5602">
          <p15:clr>
            <a:srgbClr val="F26B43"/>
          </p15:clr>
        </p15:guide>
        <p15:guide id="4" pos="2880">
          <p15:clr>
            <a:srgbClr val="F26B43"/>
          </p15:clr>
        </p15:guide>
        <p15:guide id="5" orient="horz" pos="123">
          <p15:clr>
            <a:srgbClr val="F26B43"/>
          </p15:clr>
        </p15:guide>
        <p15:guide id="6" orient="horz" pos="3117">
          <p15:clr>
            <a:srgbClr val="F26B43"/>
          </p15:clr>
        </p15:guide>
        <p15:guide id="7" pos="570">
          <p15:clr>
            <a:srgbClr val="F26B43"/>
          </p15:clr>
        </p15:guide>
        <p15:guide id="8" pos="1155">
          <p15:clr>
            <a:srgbClr val="F26B43"/>
          </p15:clr>
        </p15:guide>
        <p15:guide id="9" pos="1728">
          <p15:clr>
            <a:srgbClr val="F26B43"/>
          </p15:clr>
        </p15:guide>
        <p15:guide id="10" pos="2304">
          <p15:clr>
            <a:srgbClr val="F26B43"/>
          </p15:clr>
        </p15:guide>
        <p15:guide id="11" pos="3456">
          <p15:clr>
            <a:srgbClr val="F26B43"/>
          </p15:clr>
        </p15:guide>
        <p15:guide id="12" pos="4035">
          <p15:clr>
            <a:srgbClr val="F26B43"/>
          </p15:clr>
        </p15:guide>
        <p15:guide id="13" pos="4608">
          <p15:clr>
            <a:srgbClr val="F26B43"/>
          </p15:clr>
        </p15:guide>
        <p15:guide id="14" pos="5180">
          <p15:clr>
            <a:srgbClr val="F26B43"/>
          </p15:clr>
        </p15:guide>
        <p15:guide id="15" orient="horz" pos="490">
          <p15:clr>
            <a:srgbClr val="F26B43"/>
          </p15:clr>
        </p15:guide>
        <p15:guide id="16" orient="horz" pos="985">
          <p15:clr>
            <a:srgbClr val="F26B43"/>
          </p15:clr>
        </p15:guide>
        <p15:guide id="17" orient="horz" pos="1475">
          <p15:clr>
            <a:srgbClr val="F26B43"/>
          </p15:clr>
        </p15:guide>
        <p15:guide id="18" orient="horz" pos="1962">
          <p15:clr>
            <a:srgbClr val="F26B43"/>
          </p15:clr>
        </p15:guide>
        <p15:guide id="19" orient="horz" pos="2458">
          <p15:clr>
            <a:srgbClr val="F26B43"/>
          </p15:clr>
        </p15:guide>
        <p15:guide id="20" orient="horz" pos="2950">
          <p15:clr>
            <a:srgbClr val="F26B43"/>
          </p15:clr>
        </p15:guide>
        <p15:guide id="21" pos="5437">
          <p15:clr>
            <a:srgbClr val="F26B43"/>
          </p15:clr>
        </p15:guide>
        <p15:guide id="22" orient="horz">
          <p15:clr>
            <a:srgbClr val="F26B43"/>
          </p15:clr>
        </p15:guide>
        <p15:guide id="23" pos="5760">
          <p15:clr>
            <a:srgbClr val="F26B43"/>
          </p15:clr>
        </p15:guide>
        <p15:guide id="24" orient="horz" pos="3240">
          <p15:clr>
            <a:srgbClr val="F26B43"/>
          </p15:clr>
        </p15:guide>
        <p15:guide id="2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andfonline.com/doi/full/10.1080/01621459.2023.2225239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doi.org/10.48550/arXiv.2408.10136" TargetMode="Externa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55A5C923-5A79-224D-A6A6-8267C6475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0107" y="1037167"/>
            <a:ext cx="4728210" cy="2391833"/>
          </a:xfrm>
        </p:spPr>
        <p:txBody>
          <a:bodyPr anchor="ctr">
            <a:normAutofit fontScale="90000"/>
          </a:bodyPr>
          <a:lstStyle/>
          <a:p>
            <a:r>
              <a:rPr lang="en-US" noProof="0" dirty="0">
                <a:latin typeface="+mn-lt"/>
              </a:rPr>
              <a:t>Exploring good transformations of edge weights for spectral clustering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8627059-A97D-428F-BEEE-BA5ABBDCB4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38265" y="3747052"/>
            <a:ext cx="5411893" cy="2557292"/>
          </a:xfrm>
        </p:spPr>
        <p:txBody>
          <a:bodyPr>
            <a:norm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noProof="0" dirty="0"/>
              <a:t>Professor:	Patrick </a:t>
            </a:r>
            <a:r>
              <a:rPr lang="en-US" noProof="0" dirty="0" err="1"/>
              <a:t>Thiran</a:t>
            </a:r>
            <a:endParaRPr lang="en-US" noProof="0" dirty="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noProof="0" dirty="0"/>
              <a:t>Assistant:	Daichi Kuroda</a:t>
            </a:r>
            <a:br>
              <a:rPr lang="en-US" noProof="0" dirty="0"/>
            </a:br>
            <a:r>
              <a:rPr lang="en-US" noProof="0" dirty="0"/>
              <a:t>		Maximilien </a:t>
            </a:r>
            <a:r>
              <a:rPr lang="en-US" noProof="0" dirty="0" err="1"/>
              <a:t>Dreveton</a:t>
            </a:r>
            <a:endParaRPr lang="en-US" noProof="0" dirty="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noProof="0" dirty="0"/>
              <a:t>Student: 	Nicolas Gonzalez</a:t>
            </a:r>
          </a:p>
        </p:txBody>
      </p:sp>
      <p:sp>
        <p:nvSpPr>
          <p:cNvPr id="15" name="Date Placeholder 4">
            <a:extLst>
              <a:ext uri="{FF2B5EF4-FFF2-40B4-BE49-F238E27FC236}">
                <a16:creationId xmlns:a16="http://schemas.microsoft.com/office/drawing/2014/main" id="{7B7E6C5A-319D-4EA7-AEEE-5B5C9349402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16200000">
            <a:off x="-1628551" y="3704603"/>
            <a:ext cx="4454736" cy="1215365"/>
          </a:xfrm>
        </p:spPr>
        <p:txBody>
          <a:bodyPr anchor="ctr">
            <a:normAutofit/>
          </a:bodyPr>
          <a:lstStyle/>
          <a:p>
            <a:pPr defTabSz="914377">
              <a:spcAft>
                <a:spcPts val="800"/>
              </a:spcAft>
            </a:pPr>
            <a:r>
              <a:rPr lang="en-US" noProof="0" dirty="0">
                <a:solidFill>
                  <a:srgbClr val="E30613"/>
                </a:solidFill>
              </a:rPr>
              <a:t>INDY - Information and Network Dynamics</a:t>
            </a:r>
          </a:p>
        </p:txBody>
      </p:sp>
      <p:sp>
        <p:nvSpPr>
          <p:cNvPr id="17" name="Footer Placeholder 5">
            <a:extLst>
              <a:ext uri="{FF2B5EF4-FFF2-40B4-BE49-F238E27FC236}">
                <a16:creationId xmlns:a16="http://schemas.microsoft.com/office/drawing/2014/main" id="{B2D8458E-BDF1-4600-A361-12499697F22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 defTabSz="914377">
              <a:spcAft>
                <a:spcPts val="800"/>
              </a:spcAft>
            </a:pPr>
            <a:r>
              <a:rPr lang="en-US" noProof="0" dirty="0"/>
              <a:t>Nicolas Gonzalez</a:t>
            </a:r>
          </a:p>
        </p:txBody>
      </p:sp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229D9681-1A5C-4378-B6D7-207FAC5799B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 defTabSz="914377">
              <a:spcAft>
                <a:spcPts val="800"/>
              </a:spcAft>
            </a:pPr>
            <a:fld id="{E1E1CD7C-2161-7D43-862E-CE4C333CD873}" type="slidenum">
              <a:rPr lang="en-US" noProof="0" smtClean="0"/>
              <a:pPr defTabSz="914377">
                <a:spcAft>
                  <a:spcPts val="800"/>
                </a:spcAft>
              </a:pPr>
              <a:t>1</a:t>
            </a:fld>
            <a:endParaRPr lang="en-US" noProof="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28BCB4E-224D-D81E-4EB7-464442EF36B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44459" y="868395"/>
            <a:ext cx="3168115" cy="2433044"/>
          </a:xfrm>
          <a:prstGeom prst="rect">
            <a:avLst/>
          </a:prstGeom>
          <a:ln>
            <a:noFill/>
          </a:ln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88E9EB01-C4F5-9EC2-0647-6396483DECB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44459" y="3900654"/>
            <a:ext cx="3168115" cy="240369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10988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2">
            <a:extLst>
              <a:ext uri="{FF2B5EF4-FFF2-40B4-BE49-F238E27FC236}">
                <a16:creationId xmlns:a16="http://schemas.microsoft.com/office/drawing/2014/main" id="{44DA83C8-1132-D58F-341D-B02BCED7B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1" y="174711"/>
            <a:ext cx="4889500" cy="561889"/>
          </a:xfrm>
        </p:spPr>
        <p:txBody>
          <a:bodyPr anchor="ctr">
            <a:normAutofit fontScale="90000"/>
          </a:bodyPr>
          <a:lstStyle/>
          <a:p>
            <a:r>
              <a:rPr lang="en-US" sz="3800" noProof="0" dirty="0">
                <a:latin typeface="+mn-lt"/>
              </a:rPr>
              <a:t>Table of contents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9BE33E0-AE99-AF06-BD9B-156434893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Nicolas Gonzalez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BECB8E5-A8EE-37F4-3A8F-C0AE456A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en-US" noProof="0" smtClean="0"/>
              <a:pPr>
                <a:spcAft>
                  <a:spcPts val="600"/>
                </a:spcAft>
              </a:pPr>
              <a:t>2</a:t>
            </a:fld>
            <a:endParaRPr lang="en-US" noProof="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8801952-9EE1-06F6-15AB-E86897AF76BD}"/>
              </a:ext>
            </a:extLst>
          </p:cNvPr>
          <p:cNvSpPr txBox="1">
            <a:spLocks/>
          </p:cNvSpPr>
          <p:nvPr/>
        </p:nvSpPr>
        <p:spPr>
          <a:xfrm>
            <a:off x="1987826" y="970358"/>
            <a:ext cx="7123043" cy="54900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18000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90000"/>
              <a:buFont typeface="Wingdings" pitchFamily="2" charset="2"/>
              <a:buChar char="§"/>
              <a:defRPr sz="24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133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SzPct val="90000"/>
              <a:buFont typeface="Wingdings" pitchFamily="2" charset="2"/>
              <a:buChar char="§"/>
              <a:defRPr sz="20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800" b="1" noProof="0" dirty="0"/>
              <a:t>Introduction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800" b="1" noProof="0" dirty="0"/>
              <a:t>Theoretical background</a:t>
            </a:r>
          </a:p>
          <a:p>
            <a:pPr marL="914389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600" noProof="0" dirty="0">
                <a:latin typeface="+mn-lt"/>
              </a:rPr>
              <a:t>WSBM</a:t>
            </a:r>
          </a:p>
          <a:p>
            <a:pPr marL="914389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600" noProof="0" dirty="0"/>
              <a:t>Spectral Clustering</a:t>
            </a:r>
          </a:p>
          <a:p>
            <a:pPr marL="914389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600" noProof="0" dirty="0"/>
              <a:t>Weight Transformation</a:t>
            </a:r>
          </a:p>
          <a:p>
            <a:pPr marL="914389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600" noProof="0" dirty="0">
                <a:latin typeface="+mn-lt"/>
              </a:rPr>
              <a:t>Separability Measure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800" b="1" noProof="0" dirty="0"/>
              <a:t>Experimentation</a:t>
            </a:r>
          </a:p>
          <a:p>
            <a:pPr marL="914389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600" noProof="0" dirty="0"/>
              <a:t>Experimental Setup</a:t>
            </a:r>
          </a:p>
          <a:p>
            <a:pPr marL="914389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600" noProof="0" dirty="0"/>
              <a:t>Results</a:t>
            </a:r>
          </a:p>
          <a:p>
            <a:pPr marL="914389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600" noProof="0" dirty="0"/>
              <a:t>Preliminary observations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800" b="1" noProof="0" dirty="0"/>
              <a:t>What’s next</a:t>
            </a:r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576B52A9-FF00-913A-0BFA-1568736D7018}"/>
              </a:ext>
            </a:extLst>
          </p:cNvPr>
          <p:cNvSpPr txBox="1">
            <a:spLocks/>
          </p:cNvSpPr>
          <p:nvPr/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Aft>
                <a:spcPts val="800"/>
              </a:spcAft>
            </a:pPr>
            <a:r>
              <a:rPr lang="en-US" sz="930" noProof="0" dirty="0">
                <a:solidFill>
                  <a:srgbClr val="E30613"/>
                </a:solidFill>
              </a:rPr>
              <a:t>INDY</a:t>
            </a:r>
          </a:p>
        </p:txBody>
      </p:sp>
    </p:spTree>
    <p:extLst>
      <p:ext uri="{BB962C8B-B14F-4D97-AF65-F5344CB8AC3E}">
        <p14:creationId xmlns:p14="http://schemas.microsoft.com/office/powerpoint/2010/main" val="31934326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881CE-185E-CD2D-7D84-C16E3C5BE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2">
            <a:extLst>
              <a:ext uri="{FF2B5EF4-FFF2-40B4-BE49-F238E27FC236}">
                <a16:creationId xmlns:a16="http://schemas.microsoft.com/office/drawing/2014/main" id="{7D3461AF-1F76-DDF0-736A-24C677499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1" y="174711"/>
            <a:ext cx="4889500" cy="561889"/>
          </a:xfrm>
        </p:spPr>
        <p:txBody>
          <a:bodyPr anchor="ctr">
            <a:normAutofit fontScale="90000"/>
          </a:bodyPr>
          <a:lstStyle/>
          <a:p>
            <a:r>
              <a:rPr lang="en-US" sz="3800" noProof="0" dirty="0">
                <a:latin typeface="+mn-lt"/>
              </a:rPr>
              <a:t>Introduction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4497D4A-D945-D7D5-B92A-6AE0B1037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Nicolas Gonzalez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8728EF2-1183-941A-03B6-2D3F310E9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en-US" noProof="0" smtClean="0"/>
              <a:pPr>
                <a:spcAft>
                  <a:spcPts val="600"/>
                </a:spcAft>
              </a:pPr>
              <a:t>3</a:t>
            </a:fld>
            <a:endParaRPr lang="en-US" noProof="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ACFA618-D62F-270B-7E79-D64E018F2802}"/>
              </a:ext>
            </a:extLst>
          </p:cNvPr>
          <p:cNvSpPr txBox="1">
            <a:spLocks/>
          </p:cNvSpPr>
          <p:nvPr/>
        </p:nvSpPr>
        <p:spPr>
          <a:xfrm>
            <a:off x="945091" y="1201631"/>
            <a:ext cx="10301817" cy="445473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180000" tIns="45720" rIns="91440" bIns="45720" rtlCol="0" anchor="ctr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90000"/>
              <a:buFont typeface="Wingdings" pitchFamily="2" charset="2"/>
              <a:buChar char="§"/>
              <a:defRPr sz="24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133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SzPct val="90000"/>
              <a:buFont typeface="Wingdings" pitchFamily="2" charset="2"/>
              <a:buChar char="§"/>
              <a:defRPr sz="20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3000" noProof="0" dirty="0"/>
              <a:t>In the context of spectral clustering, we aim to identify edge weight transformations that most effectively improve community separation in the embedded space.</a:t>
            </a:r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B59D856E-0F8D-F6CB-0AF4-63507FE9CAF8}"/>
              </a:ext>
            </a:extLst>
          </p:cNvPr>
          <p:cNvSpPr txBox="1">
            <a:spLocks/>
          </p:cNvSpPr>
          <p:nvPr/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Aft>
                <a:spcPts val="800"/>
              </a:spcAft>
            </a:pPr>
            <a:r>
              <a:rPr lang="en-US" sz="930" noProof="0" dirty="0">
                <a:solidFill>
                  <a:srgbClr val="E30613"/>
                </a:solidFill>
              </a:rPr>
              <a:t>INDY</a:t>
            </a:r>
          </a:p>
        </p:txBody>
      </p:sp>
    </p:spTree>
    <p:extLst>
      <p:ext uri="{BB962C8B-B14F-4D97-AF65-F5344CB8AC3E}">
        <p14:creationId xmlns:p14="http://schemas.microsoft.com/office/powerpoint/2010/main" val="18709049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7BB78-CD28-14A4-9E60-31C872E1B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2">
            <a:extLst>
              <a:ext uri="{FF2B5EF4-FFF2-40B4-BE49-F238E27FC236}">
                <a16:creationId xmlns:a16="http://schemas.microsoft.com/office/drawing/2014/main" id="{9492D0C6-41AC-E3D7-4689-621045818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1" y="174711"/>
            <a:ext cx="4889500" cy="561889"/>
          </a:xfrm>
        </p:spPr>
        <p:txBody>
          <a:bodyPr anchor="ctr">
            <a:normAutofit fontScale="90000"/>
          </a:bodyPr>
          <a:lstStyle/>
          <a:p>
            <a:r>
              <a:rPr lang="en-US" sz="3800" noProof="0" dirty="0">
                <a:latin typeface="+mn-lt"/>
              </a:rPr>
              <a:t>Introduction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C5C3199-5141-C6F6-196D-FD8D76F8A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Nicolas Gonzalez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B8B4480-0FE1-BCAE-4A3E-EBA7B1806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en-US" noProof="0" smtClean="0"/>
              <a:pPr>
                <a:spcAft>
                  <a:spcPts val="600"/>
                </a:spcAft>
              </a:pPr>
              <a:t>4</a:t>
            </a:fld>
            <a:endParaRPr lang="en-US" noProof="0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27CF9DFA-3F06-5B05-33EC-CD4B5F14D978}"/>
              </a:ext>
            </a:extLst>
          </p:cNvPr>
          <p:cNvSpPr txBox="1">
            <a:spLocks/>
          </p:cNvSpPr>
          <p:nvPr/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Aft>
                <a:spcPts val="800"/>
              </a:spcAft>
            </a:pPr>
            <a:r>
              <a:rPr lang="en-US" sz="930" noProof="0" dirty="0">
                <a:solidFill>
                  <a:srgbClr val="E30613"/>
                </a:solidFill>
              </a:rPr>
              <a:t>INDY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FE1300E1-988D-199F-3FEB-5FBFE034A506}"/>
              </a:ext>
            </a:extLst>
          </p:cNvPr>
          <p:cNvGrpSpPr/>
          <p:nvPr/>
        </p:nvGrpSpPr>
        <p:grpSpPr>
          <a:xfrm>
            <a:off x="1551285" y="3679058"/>
            <a:ext cx="9089430" cy="2433044"/>
            <a:chOff x="1851146" y="3506296"/>
            <a:chExt cx="9089430" cy="2433044"/>
          </a:xfrm>
        </p:grpSpPr>
        <p:pic>
          <p:nvPicPr>
            <p:cNvPr id="3" name="Image 2">
              <a:extLst>
                <a:ext uri="{FF2B5EF4-FFF2-40B4-BE49-F238E27FC236}">
                  <a16:creationId xmlns:a16="http://schemas.microsoft.com/office/drawing/2014/main" id="{29D13856-C60B-A5F2-820F-17D9668A00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51146" y="3506296"/>
              <a:ext cx="3168115" cy="2433044"/>
            </a:xfrm>
            <a:prstGeom prst="rect">
              <a:avLst/>
            </a:prstGeom>
            <a:ln>
              <a:solidFill>
                <a:schemeClr val="tx1">
                  <a:lumMod val="50000"/>
                </a:schemeClr>
              </a:solidFill>
            </a:ln>
          </p:spPr>
        </p:pic>
        <p:pic>
          <p:nvPicPr>
            <p:cNvPr id="5" name="Image 4">
              <a:extLst>
                <a:ext uri="{FF2B5EF4-FFF2-40B4-BE49-F238E27FC236}">
                  <a16:creationId xmlns:a16="http://schemas.microsoft.com/office/drawing/2014/main" id="{425B7EC6-37B6-5FDD-4ED3-A38F60185B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772461" y="3506296"/>
              <a:ext cx="3168115" cy="2403690"/>
            </a:xfrm>
            <a:prstGeom prst="rect">
              <a:avLst/>
            </a:prstGeom>
            <a:ln>
              <a:solidFill>
                <a:schemeClr val="tx1">
                  <a:lumMod val="50000"/>
                </a:schemeClr>
              </a:solidFill>
            </a:ln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2BB1BAB7-7446-F503-38AE-BD78FB19185F}"/>
                  </a:ext>
                </a:extLst>
              </p:cNvPr>
              <p:cNvSpPr txBox="1"/>
              <p:nvPr/>
            </p:nvSpPr>
            <p:spPr>
              <a:xfrm>
                <a:off x="4754792" y="863634"/>
                <a:ext cx="2682415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0" noProof="0" dirty="0"/>
                  <a:t>2-communities</a:t>
                </a:r>
                <a:br>
                  <a:rPr lang="en-US" sz="2400" b="0" noProof="0" dirty="0"/>
                </a:br>
                <a:r>
                  <a:rPr lang="en-US" sz="2400" b="0" noProof="0" dirty="0"/>
                  <a:t>weighted graph </a:t>
                </a:r>
                <a14:m>
                  <m:oMath xmlns:m="http://schemas.openxmlformats.org/officeDocument/2006/math">
                    <m:r>
                      <a:rPr lang="en-US" sz="2400" b="0" i="1" noProof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sz="2400" noProof="0" dirty="0"/>
              </a:p>
            </p:txBody>
          </p:sp>
        </mc:Choice>
        <mc:Fallback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2BB1BAB7-7446-F503-38AE-BD78FB1918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4792" y="863634"/>
                <a:ext cx="2682415" cy="830997"/>
              </a:xfrm>
              <a:prstGeom prst="rect">
                <a:avLst/>
              </a:prstGeom>
              <a:blipFill>
                <a:blip r:embed="rId5"/>
                <a:stretch>
                  <a:fillRect l="-909" t="-5147" b="-169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1B645A7C-239F-A263-A72B-80B48ACEE7C8}"/>
                  </a:ext>
                </a:extLst>
              </p:cNvPr>
              <p:cNvSpPr txBox="1"/>
              <p:nvPr/>
            </p:nvSpPr>
            <p:spPr>
              <a:xfrm>
                <a:off x="1551285" y="2967335"/>
                <a:ext cx="316811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0" noProof="0" dirty="0"/>
                  <a:t>Embedding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2400" b="0" noProof="0" dirty="0"/>
                  <a:t> </a:t>
                </a:r>
                <a:endParaRPr lang="en-US" sz="2400" b="1" noProof="0" dirty="0"/>
              </a:p>
            </p:txBody>
          </p:sp>
        </mc:Choice>
        <mc:Fallback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1B645A7C-239F-A263-A72B-80B48ACEE7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1285" y="2967335"/>
                <a:ext cx="3168114" cy="461665"/>
              </a:xfrm>
              <a:prstGeom prst="rect">
                <a:avLst/>
              </a:prstGeom>
              <a:blipFill>
                <a:blip r:embed="rId6"/>
                <a:stretch>
                  <a:fillRect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F6102F36-3C8D-AFD3-99EB-A87F1BB8EDE5}"/>
                  </a:ext>
                </a:extLst>
              </p:cNvPr>
              <p:cNvSpPr txBox="1"/>
              <p:nvPr/>
            </p:nvSpPr>
            <p:spPr>
              <a:xfrm>
                <a:off x="7472600" y="2967335"/>
                <a:ext cx="3168114" cy="4972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0" noProof="0" dirty="0"/>
                  <a:t>Embedding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en-US" sz="2400" b="0" noProof="0" dirty="0"/>
                  <a:t> </a:t>
                </a:r>
                <a:endParaRPr lang="en-US" sz="2400" b="1" noProof="0" dirty="0"/>
              </a:p>
            </p:txBody>
          </p:sp>
        </mc:Choice>
        <mc:Fallback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F6102F36-3C8D-AFD3-99EB-A87F1BB8ED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2600" y="2967335"/>
                <a:ext cx="3168114" cy="497252"/>
              </a:xfrm>
              <a:prstGeom prst="rect">
                <a:avLst/>
              </a:prstGeom>
              <a:blipFill>
                <a:blip r:embed="rId7"/>
                <a:stretch>
                  <a:fillRect t="-9877" b="-209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889781EF-0DEE-354A-5F27-4CE6701ADAEA}"/>
              </a:ext>
            </a:extLst>
          </p:cNvPr>
          <p:cNvCxnSpPr>
            <a:cxnSpLocks/>
            <a:stCxn id="8" idx="1"/>
            <a:endCxn id="10" idx="0"/>
          </p:cNvCxnSpPr>
          <p:nvPr/>
        </p:nvCxnSpPr>
        <p:spPr>
          <a:xfrm flipH="1">
            <a:off x="3135342" y="1279133"/>
            <a:ext cx="1619450" cy="1688202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E9D7941A-7725-312A-4518-7AFCE1167523}"/>
              </a:ext>
            </a:extLst>
          </p:cNvPr>
          <p:cNvCxnSpPr>
            <a:cxnSpLocks/>
            <a:stCxn id="8" idx="3"/>
            <a:endCxn id="12" idx="0"/>
          </p:cNvCxnSpPr>
          <p:nvPr/>
        </p:nvCxnSpPr>
        <p:spPr>
          <a:xfrm>
            <a:off x="7437207" y="1279133"/>
            <a:ext cx="1619450" cy="1688202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ZoneTexte 18">
                <a:extLst>
                  <a:ext uri="{FF2B5EF4-FFF2-40B4-BE49-F238E27FC236}">
                    <a16:creationId xmlns:a16="http://schemas.microsoft.com/office/drawing/2014/main" id="{F6BEAB5F-2CD5-747B-49BD-017D0F3EC5E8}"/>
                  </a:ext>
                </a:extLst>
              </p:cNvPr>
              <p:cNvSpPr txBox="1"/>
              <p:nvPr/>
            </p:nvSpPr>
            <p:spPr>
              <a:xfrm>
                <a:off x="6905724" y="1976900"/>
                <a:ext cx="2682415" cy="70788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 noProof="0" dirty="0"/>
                  <a:t>Weight transform</a:t>
                </a:r>
                <a:br>
                  <a:rPr lang="en-US" sz="2000" noProof="0" dirty="0"/>
                </a:br>
                <a:r>
                  <a:rPr lang="en-US" sz="2000" b="0" noProof="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↦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b="0" noProof="0" dirty="0"/>
                  <a:t> </a:t>
                </a:r>
                <a:endParaRPr lang="en-US" sz="2000" b="1" noProof="0" dirty="0"/>
              </a:p>
            </p:txBody>
          </p:sp>
        </mc:Choice>
        <mc:Fallback>
          <p:sp>
            <p:nvSpPr>
              <p:cNvPr id="19" name="ZoneTexte 18">
                <a:extLst>
                  <a:ext uri="{FF2B5EF4-FFF2-40B4-BE49-F238E27FC236}">
                    <a16:creationId xmlns:a16="http://schemas.microsoft.com/office/drawing/2014/main" id="{F6BEAB5F-2CD5-747B-49BD-017D0F3EC5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5724" y="1976900"/>
                <a:ext cx="2682415" cy="707886"/>
              </a:xfrm>
              <a:prstGeom prst="rect">
                <a:avLst/>
              </a:prstGeom>
              <a:blipFill>
                <a:blip r:embed="rId8"/>
                <a:stretch>
                  <a:fillRect t="-3448" b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76590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0F896-636A-2E10-39C7-6C35FDE87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8838757-D4BE-1D49-581D-9AE923CF8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Nicolas Gonzalez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77E46C8-020E-CDFF-1847-9F2FF9B51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en-US" noProof="0" smtClean="0"/>
              <a:pPr>
                <a:spcAft>
                  <a:spcPts val="600"/>
                </a:spcAft>
              </a:pPr>
              <a:t>5</a:t>
            </a:fld>
            <a:endParaRPr lang="en-US" noProof="0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8EDDFA65-F487-A0B4-76D0-966EED113FCB}"/>
              </a:ext>
            </a:extLst>
          </p:cNvPr>
          <p:cNvSpPr txBox="1">
            <a:spLocks/>
          </p:cNvSpPr>
          <p:nvPr/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Aft>
                <a:spcPts val="800"/>
              </a:spcAft>
            </a:pPr>
            <a:r>
              <a:rPr lang="en-US" sz="930" noProof="0" dirty="0">
                <a:solidFill>
                  <a:srgbClr val="E30613"/>
                </a:solidFill>
              </a:rPr>
              <a:t>INDY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F11EF82-60C1-1C00-3D3A-5E8C4D61302B}"/>
              </a:ext>
            </a:extLst>
          </p:cNvPr>
          <p:cNvSpPr txBox="1">
            <a:spLocks/>
          </p:cNvSpPr>
          <p:nvPr/>
        </p:nvSpPr>
        <p:spPr>
          <a:xfrm>
            <a:off x="945091" y="1201631"/>
            <a:ext cx="10301817" cy="445473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180000" tIns="45720" rIns="91440" bIns="45720" rtlCol="0" anchor="ctr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90000"/>
              <a:buFont typeface="Wingdings" pitchFamily="2" charset="2"/>
              <a:buChar char="§"/>
              <a:defRPr sz="24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133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SzPct val="90000"/>
              <a:buFont typeface="Wingdings" pitchFamily="2" charset="2"/>
              <a:buChar char="§"/>
              <a:defRPr sz="20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3600" noProof="0" dirty="0"/>
              <a:t>Theoretical Background</a:t>
            </a:r>
          </a:p>
        </p:txBody>
      </p:sp>
    </p:spTree>
    <p:extLst>
      <p:ext uri="{BB962C8B-B14F-4D97-AF65-F5344CB8AC3E}">
        <p14:creationId xmlns:p14="http://schemas.microsoft.com/office/powerpoint/2010/main" val="30994581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81CF1-FED6-1E5E-D32A-6F86394B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2">
            <a:extLst>
              <a:ext uri="{FF2B5EF4-FFF2-40B4-BE49-F238E27FC236}">
                <a16:creationId xmlns:a16="http://schemas.microsoft.com/office/drawing/2014/main" id="{D5C4CE89-163C-E773-B221-AE8C67E81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0" y="174711"/>
            <a:ext cx="7150099" cy="561889"/>
          </a:xfrm>
        </p:spPr>
        <p:txBody>
          <a:bodyPr anchor="ctr">
            <a:normAutofit fontScale="90000"/>
          </a:bodyPr>
          <a:lstStyle/>
          <a:p>
            <a:r>
              <a:rPr lang="en-US" sz="3800" noProof="0" dirty="0">
                <a:latin typeface="+mn-lt"/>
              </a:rPr>
              <a:t>W</a:t>
            </a:r>
            <a:r>
              <a:rPr lang="en-US" sz="3800" b="0" noProof="0" dirty="0">
                <a:latin typeface="+mn-lt"/>
              </a:rPr>
              <a:t>eighted</a:t>
            </a:r>
            <a:r>
              <a:rPr lang="en-US" sz="3800" noProof="0" dirty="0">
                <a:latin typeface="+mn-lt"/>
              </a:rPr>
              <a:t> S</a:t>
            </a:r>
            <a:r>
              <a:rPr lang="en-US" sz="3800" b="0" noProof="0" dirty="0">
                <a:latin typeface="+mn-lt"/>
              </a:rPr>
              <a:t>tochastic</a:t>
            </a:r>
            <a:r>
              <a:rPr lang="en-US" sz="3800" noProof="0" dirty="0">
                <a:latin typeface="+mn-lt"/>
              </a:rPr>
              <a:t> B</a:t>
            </a:r>
            <a:r>
              <a:rPr lang="en-US" sz="3800" b="0" noProof="0" dirty="0">
                <a:latin typeface="+mn-lt"/>
              </a:rPr>
              <a:t>lock</a:t>
            </a:r>
            <a:r>
              <a:rPr lang="en-US" sz="3800" noProof="0" dirty="0">
                <a:latin typeface="+mn-lt"/>
              </a:rPr>
              <a:t> M</a:t>
            </a:r>
            <a:r>
              <a:rPr lang="en-US" sz="3800" b="0" noProof="0" dirty="0">
                <a:latin typeface="+mn-lt"/>
              </a:rPr>
              <a:t>odel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C483674-2845-6E01-CD54-041D339D9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Nicolas Gonzalez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E94E7B3-7544-58D7-09EB-8BD24748F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en-US" noProof="0" smtClean="0"/>
              <a:pPr>
                <a:spcAft>
                  <a:spcPts val="600"/>
                </a:spcAft>
              </a:pPr>
              <a:t>6</a:t>
            </a:fld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8F25934C-DDD9-AF3C-DAB1-3D4A75BDBE8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06500" y="1419457"/>
                <a:ext cx="10301817" cy="4842195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lIns="180000" tIns="45720" rIns="91440" bIns="45720" rtlCol="0">
                <a:normAutofit/>
              </a:bodyPr>
              <a:lstStyle>
                <a:lvl1pPr marL="228594" indent="-228594" algn="l" defTabSz="914377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1"/>
                  </a:buClr>
                  <a:buSzPct val="90000"/>
                  <a:buFont typeface="Wingdings" pitchFamily="2" charset="2"/>
                  <a:buChar char="§"/>
                  <a:defRPr sz="2400" b="0" i="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68578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2133" b="0" i="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1142971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SzPct val="90000"/>
                  <a:buFont typeface="Wingdings" pitchFamily="2" charset="2"/>
                  <a:buChar char="§"/>
                  <a:defRPr sz="2000" b="0" i="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600160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2057349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514537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en-US" sz="2200" noProof="0" dirty="0"/>
                  <a:t>We work with </a:t>
                </a:r>
                <a14:m>
                  <m:oMath xmlns:m="http://schemas.openxmlformats.org/officeDocument/2006/math"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200" noProof="0" dirty="0"/>
                  <a:t>-community </a:t>
                </a:r>
                <a14:m>
                  <m:oMath xmlns:m="http://schemas.openxmlformats.org/officeDocument/2006/math">
                    <m:r>
                      <a:rPr lang="en-US" sz="2200" i="1" noProof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200" noProof="0" dirty="0"/>
                  <a:t>-WSBM graphs </a:t>
                </a:r>
                <a14:m>
                  <m:oMath xmlns:m="http://schemas.openxmlformats.org/officeDocument/2006/math">
                    <m:r>
                      <a:rPr lang="en-US" sz="2200" i="1" noProof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200" noProof="0" dirty="0"/>
                  <a:t> of size </a:t>
                </a:r>
                <a14:m>
                  <m:oMath xmlns:m="http://schemas.openxmlformats.org/officeDocument/2006/math"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200" b="0" i="1" noProof="0" dirty="0">
                    <a:latin typeface="Cambria Math" panose="02040503050406030204" pitchFamily="18" charset="0"/>
                  </a:rPr>
                  <a:t>.</a:t>
                </a:r>
                <a:endParaRPr lang="en-US" sz="2200" i="1" noProof="0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200" noProof="0" dirty="0"/>
                  <a:t> is specified by the symmetric adjacency matrix </a:t>
                </a:r>
                <a14:m>
                  <m:oMath xmlns:m="http://schemas.openxmlformats.org/officeDocument/2006/math"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200" b="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200" noProof="0" dirty="0"/>
                  <a:t>, community labels </a:t>
                </a:r>
                <a14:m>
                  <m:oMath xmlns:m="http://schemas.openxmlformats.org/officeDocument/2006/math">
                    <m:r>
                      <a:rPr lang="en-US" i="1" noProof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i="1" noProof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 noProof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0, …, </m:t>
                            </m:r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noProof="0" dirty="0"/>
                  <a:t> </a:t>
                </a:r>
                <a:r>
                  <a:rPr lang="en-US" sz="2200" noProof="0" dirty="0"/>
                  <a:t>and block edge weight distribution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200" b="0" i="1" noProof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2200" b="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 noProof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d>
                              <m:dPr>
                                <m:ctrlPr>
                                  <a:rPr lang="en-US" sz="2200" b="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2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 noProof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sz="2200" b="0" i="1" noProof="0" smtClean="0">
                                        <a:latin typeface="Cambria Math" panose="02040503050406030204" pitchFamily="18" charset="0"/>
                                      </a:rPr>
                                      <m:t>𝑘𝑙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b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bSup>
                  </m:oMath>
                </a14:m>
                <a:br>
                  <a:rPr lang="en-US" sz="2200" noProof="0" dirty="0"/>
                </a:br>
                <a:br>
                  <a:rPr lang="en-US" sz="2200" noProof="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noProof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200" i="1" noProof="0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2200" i="1" noProof="0" smtClean="0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en-US" sz="22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noProof="0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20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200" i="1" noProof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noProof="0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200" i="1" noProof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limUpp>
                      <m:limUppPr>
                        <m:ctrlPr>
                          <a:rPr lang="en-US" sz="2200" b="0" i="1" noProof="0" smtClean="0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en-US" sz="2200" i="1" noProof="0" smtClean="0">
                            <a:latin typeface="Cambria Math" panose="02040503050406030204" pitchFamily="18" charset="0"/>
                          </a:rPr>
                          <m:t>∼</m:t>
                        </m:r>
                      </m:e>
                      <m:lim>
                        <m:r>
                          <m:rPr>
                            <m:sty m:val="p"/>
                          </m:rPr>
                          <a:rPr lang="en-US" sz="2200" b="0" i="0" noProof="0" smtClean="0">
                            <a:latin typeface="Cambria Math" panose="02040503050406030204" pitchFamily="18" charset="0"/>
                          </a:rPr>
                          <m:t>ind</m:t>
                        </m:r>
                      </m:lim>
                    </m:limUpp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sz="220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noProof="0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2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 noProof="0" smtClean="0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sz="2200" i="1" noProof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2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 noProof="0" smtClean="0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sz="2200" i="1" noProof="0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sub>
                        </m:sSub>
                      </m:e>
                    </m:d>
                  </m:oMath>
                </a14:m>
                <a:endParaRPr lang="en-US" sz="2200" noProof="0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sz="2200" noProof="0" dirty="0"/>
              </a:p>
              <a:p>
                <a:pPr>
                  <a:lnSpc>
                    <a:spcPct val="100000"/>
                  </a:lnSpc>
                </a:pPr>
                <a:r>
                  <a:rPr lang="en-US" sz="2200" noProof="0" dirty="0"/>
                  <a:t>We also define the block mean and block variance matrices </a:t>
                </a:r>
                <a14:m>
                  <m:oMath xmlns:m="http://schemas.openxmlformats.org/officeDocument/2006/math"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200" b="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</m:oMath>
                </a14:m>
                <a:r>
                  <a:rPr lang="en-US" sz="2200" noProof="0" dirty="0"/>
                  <a:t> as</a:t>
                </a:r>
                <a:br>
                  <a:rPr lang="en-US" sz="2200" noProof="0" dirty="0"/>
                </a:br>
                <a:endParaRPr lang="en-US" sz="2200" noProof="0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noProof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2200" b="0" i="1" noProof="0" smtClean="0">
                              <a:latin typeface="Cambria Math" panose="02040503050406030204" pitchFamily="18" charset="0"/>
                            </a:rPr>
                            <m:t>𝑘𝑙</m:t>
                          </m:r>
                        </m:sub>
                      </m:sSub>
                      <m:r>
                        <a:rPr lang="en-US" sz="22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i="1" noProof="0">
                          <a:latin typeface="Cambria Math" panose="02040503050406030204" pitchFamily="18" charset="0"/>
                        </a:rPr>
                        <m:t>𝔼</m:t>
                      </m:r>
                      <m:r>
                        <a:rPr lang="en-US" sz="2200" b="0" i="1" noProof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200" i="1" noProof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sz="22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200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 noProof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200" i="1" noProof="0" smtClean="0">
                                  <a:latin typeface="Cambria Math" panose="02040503050406030204" pitchFamily="18" charset="0"/>
                                </a:rPr>
                                <m:t>𝑘𝑙</m:t>
                              </m:r>
                            </m:sub>
                          </m:sSub>
                        </m:e>
                      </m:d>
                      <m:r>
                        <a:rPr lang="en-US" sz="2200" b="0" i="1" noProof="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br>
                  <a:rPr lang="en-US" sz="2200" b="0" noProof="0" dirty="0"/>
                </a:br>
                <a:endParaRPr lang="en-US" sz="2200" b="0" noProof="0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sz="2200" noProof="0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noProof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200" i="1" noProof="0" smtClean="0">
                              <a:latin typeface="Cambria Math" panose="02040503050406030204" pitchFamily="18" charset="0"/>
                            </a:rPr>
                            <m:t>𝑘𝑙</m:t>
                          </m:r>
                        </m:sub>
                      </m:sSub>
                      <m:r>
                        <a:rPr lang="en-US" sz="22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i="1" noProof="0">
                          <a:latin typeface="Cambria Math" panose="02040503050406030204" pitchFamily="18" charset="0"/>
                        </a:rPr>
                        <m:t>𝕍</m:t>
                      </m:r>
                      <m:r>
                        <a:rPr lang="en-US" sz="2200" b="0" i="1" noProof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200" i="1" noProof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sz="22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200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 noProof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200" i="1" noProof="0" smtClean="0">
                                  <a:latin typeface="Cambria Math" panose="02040503050406030204" pitchFamily="18" charset="0"/>
                                </a:rPr>
                                <m:t>𝑘𝑙</m:t>
                              </m:r>
                            </m:sub>
                          </m:sSub>
                        </m:e>
                      </m:d>
                      <m:r>
                        <a:rPr lang="en-US" sz="2200" b="0" i="1" noProof="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200" noProof="0" dirty="0"/>
              </a:p>
            </p:txBody>
          </p:sp>
        </mc:Choice>
        <mc:Fallback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8F25934C-DDD9-AF3C-DAB1-3D4A75BDBE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6500" y="1419457"/>
                <a:ext cx="10301817" cy="4842195"/>
              </a:xfrm>
              <a:prstGeom prst="rect">
                <a:avLst/>
              </a:prstGeom>
              <a:blipFill>
                <a:blip r:embed="rId3"/>
                <a:stretch>
                  <a:fillRect t="-88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747E6DB8-4E7B-5A9E-A3E6-5EBDFD6A51F6}"/>
              </a:ext>
            </a:extLst>
          </p:cNvPr>
          <p:cNvSpPr txBox="1">
            <a:spLocks/>
          </p:cNvSpPr>
          <p:nvPr/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Aft>
                <a:spcPts val="800"/>
              </a:spcAft>
            </a:pPr>
            <a:r>
              <a:rPr lang="en-US" sz="930" noProof="0" dirty="0">
                <a:solidFill>
                  <a:srgbClr val="E30613"/>
                </a:solidFill>
              </a:rPr>
              <a:t>INDY</a:t>
            </a:r>
          </a:p>
        </p:txBody>
      </p:sp>
    </p:spTree>
    <p:extLst>
      <p:ext uri="{BB962C8B-B14F-4D97-AF65-F5344CB8AC3E}">
        <p14:creationId xmlns:p14="http://schemas.microsoft.com/office/powerpoint/2010/main" val="14312757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E6822-663B-069B-C735-79E1BB652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A19427D-7886-C720-0FE1-914DB9F21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Nicolas Gonzalez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CE15E01-D7B3-019A-7EA4-64AE4DC5B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en-US" noProof="0" smtClean="0"/>
              <a:pPr>
                <a:spcAft>
                  <a:spcPts val="600"/>
                </a:spcAft>
              </a:pPr>
              <a:t>7</a:t>
            </a:fld>
            <a:endParaRPr lang="en-US" noProof="0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7BFB4EC4-83EB-5145-DF02-141A585B427A}"/>
              </a:ext>
            </a:extLst>
          </p:cNvPr>
          <p:cNvSpPr txBox="1">
            <a:spLocks/>
          </p:cNvSpPr>
          <p:nvPr/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Aft>
                <a:spcPts val="800"/>
              </a:spcAft>
            </a:pPr>
            <a:r>
              <a:rPr lang="en-US" sz="930" noProof="0" dirty="0">
                <a:solidFill>
                  <a:srgbClr val="E30613"/>
                </a:solidFill>
              </a:rPr>
              <a:t>INDY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A8C2A6E-507C-F90C-224D-67E1BC6F9CAF}"/>
              </a:ext>
            </a:extLst>
          </p:cNvPr>
          <p:cNvSpPr txBox="1">
            <a:spLocks/>
          </p:cNvSpPr>
          <p:nvPr/>
        </p:nvSpPr>
        <p:spPr>
          <a:xfrm>
            <a:off x="945091" y="1201631"/>
            <a:ext cx="10301817" cy="445473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180000" tIns="45720" rIns="91440" bIns="45720" rtlCol="0" anchor="ctr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90000"/>
              <a:buFont typeface="Wingdings" pitchFamily="2" charset="2"/>
              <a:buChar char="§"/>
              <a:defRPr sz="24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133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SzPct val="90000"/>
              <a:buFont typeface="Wingdings" pitchFamily="2" charset="2"/>
              <a:buChar char="§"/>
              <a:defRPr sz="20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3600" noProof="0" dirty="0"/>
              <a:t>What does it look like?</a:t>
            </a:r>
          </a:p>
        </p:txBody>
      </p:sp>
    </p:spTree>
    <p:extLst>
      <p:ext uri="{BB962C8B-B14F-4D97-AF65-F5344CB8AC3E}">
        <p14:creationId xmlns:p14="http://schemas.microsoft.com/office/powerpoint/2010/main" val="2930504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B4ADD-C93E-6A22-D29E-A94506741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2">
            <a:extLst>
              <a:ext uri="{FF2B5EF4-FFF2-40B4-BE49-F238E27FC236}">
                <a16:creationId xmlns:a16="http://schemas.microsoft.com/office/drawing/2014/main" id="{2C8D8035-B65E-535B-A91A-C263D2D06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0" y="174711"/>
            <a:ext cx="7150099" cy="561889"/>
          </a:xfrm>
        </p:spPr>
        <p:txBody>
          <a:bodyPr anchor="ctr">
            <a:normAutofit fontScale="90000"/>
          </a:bodyPr>
          <a:lstStyle/>
          <a:p>
            <a:r>
              <a:rPr lang="en-US" sz="3800" noProof="0" dirty="0">
                <a:latin typeface="+mn-lt"/>
              </a:rPr>
              <a:t>W</a:t>
            </a:r>
            <a:r>
              <a:rPr lang="en-US" sz="3800" b="0" noProof="0" dirty="0">
                <a:latin typeface="+mn-lt"/>
              </a:rPr>
              <a:t>eighted</a:t>
            </a:r>
            <a:r>
              <a:rPr lang="en-US" sz="3800" noProof="0" dirty="0">
                <a:latin typeface="+mn-lt"/>
              </a:rPr>
              <a:t> S</a:t>
            </a:r>
            <a:r>
              <a:rPr lang="en-US" sz="3800" b="0" noProof="0" dirty="0">
                <a:latin typeface="+mn-lt"/>
              </a:rPr>
              <a:t>tochastic</a:t>
            </a:r>
            <a:r>
              <a:rPr lang="en-US" sz="3800" noProof="0" dirty="0">
                <a:latin typeface="+mn-lt"/>
              </a:rPr>
              <a:t> B</a:t>
            </a:r>
            <a:r>
              <a:rPr lang="en-US" sz="3800" b="0" noProof="0" dirty="0">
                <a:latin typeface="+mn-lt"/>
              </a:rPr>
              <a:t>lock</a:t>
            </a:r>
            <a:r>
              <a:rPr lang="en-US" sz="3800" noProof="0" dirty="0">
                <a:latin typeface="+mn-lt"/>
              </a:rPr>
              <a:t> M</a:t>
            </a:r>
            <a:r>
              <a:rPr lang="en-US" sz="3800" b="0" noProof="0" dirty="0">
                <a:latin typeface="+mn-lt"/>
              </a:rPr>
              <a:t>odel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1D06DF8-9F78-D499-BF05-B5ADC56EA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Nicolas Gonzalez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E8298EF-A830-2D8A-E5CA-9E7EF8137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en-US" noProof="0" smtClean="0"/>
              <a:pPr>
                <a:spcAft>
                  <a:spcPts val="600"/>
                </a:spcAft>
              </a:pPr>
              <a:t>8</a:t>
            </a:fld>
            <a:endParaRPr lang="en-US" noProof="0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B3F3C10A-89F8-4481-3506-CD18F2B3A2A7}"/>
              </a:ext>
            </a:extLst>
          </p:cNvPr>
          <p:cNvSpPr txBox="1">
            <a:spLocks/>
          </p:cNvSpPr>
          <p:nvPr/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Aft>
                <a:spcPts val="800"/>
              </a:spcAft>
            </a:pPr>
            <a:r>
              <a:rPr lang="en-US" sz="930" noProof="0" dirty="0">
                <a:solidFill>
                  <a:srgbClr val="E30613"/>
                </a:solidFill>
              </a:rPr>
              <a:t>INDY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B5899C9-32CA-1BC6-F813-0BF6A8F285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20951" y="1205454"/>
            <a:ext cx="7150097" cy="533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7226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237A6-C8D4-881B-1190-A2453719B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2">
            <a:extLst>
              <a:ext uri="{FF2B5EF4-FFF2-40B4-BE49-F238E27FC236}">
                <a16:creationId xmlns:a16="http://schemas.microsoft.com/office/drawing/2014/main" id="{ACD54806-4864-6D34-7A51-7CA35B3C1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0" y="174711"/>
            <a:ext cx="7150099" cy="561889"/>
          </a:xfrm>
        </p:spPr>
        <p:txBody>
          <a:bodyPr anchor="ctr">
            <a:normAutofit fontScale="90000"/>
          </a:bodyPr>
          <a:lstStyle/>
          <a:p>
            <a:r>
              <a:rPr lang="en-US" sz="3800" noProof="0" dirty="0">
                <a:latin typeface="+mn-lt"/>
              </a:rPr>
              <a:t>W</a:t>
            </a:r>
            <a:r>
              <a:rPr lang="en-US" sz="3800" b="0" noProof="0" dirty="0">
                <a:latin typeface="+mn-lt"/>
              </a:rPr>
              <a:t>eighted</a:t>
            </a:r>
            <a:r>
              <a:rPr lang="en-US" sz="3800" noProof="0" dirty="0">
                <a:latin typeface="+mn-lt"/>
              </a:rPr>
              <a:t> S</a:t>
            </a:r>
            <a:r>
              <a:rPr lang="en-US" sz="3800" b="0" noProof="0" dirty="0">
                <a:latin typeface="+mn-lt"/>
              </a:rPr>
              <a:t>tochastic</a:t>
            </a:r>
            <a:r>
              <a:rPr lang="en-US" sz="3800" noProof="0" dirty="0">
                <a:latin typeface="+mn-lt"/>
              </a:rPr>
              <a:t> B</a:t>
            </a:r>
            <a:r>
              <a:rPr lang="en-US" sz="3800" b="0" noProof="0" dirty="0">
                <a:latin typeface="+mn-lt"/>
              </a:rPr>
              <a:t>lock</a:t>
            </a:r>
            <a:r>
              <a:rPr lang="en-US" sz="3800" noProof="0" dirty="0">
                <a:latin typeface="+mn-lt"/>
              </a:rPr>
              <a:t> M</a:t>
            </a:r>
            <a:r>
              <a:rPr lang="en-US" sz="3800" b="0" noProof="0" dirty="0">
                <a:latin typeface="+mn-lt"/>
              </a:rPr>
              <a:t>odel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BB8BB3B-DA29-2081-CBDA-5D4093B20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Nicolas Gonzalez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31462CD-F5BD-55B7-EA5B-EFB251AE6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en-US" noProof="0" smtClean="0"/>
              <a:pPr>
                <a:spcAft>
                  <a:spcPts val="600"/>
                </a:spcAft>
              </a:pPr>
              <a:t>9</a:t>
            </a:fld>
            <a:endParaRPr lang="en-US" noProof="0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184AB5E4-7105-EB69-0281-6E4C9BAECEF1}"/>
              </a:ext>
            </a:extLst>
          </p:cNvPr>
          <p:cNvSpPr txBox="1">
            <a:spLocks/>
          </p:cNvSpPr>
          <p:nvPr/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Aft>
                <a:spcPts val="800"/>
              </a:spcAft>
            </a:pPr>
            <a:r>
              <a:rPr lang="en-US" sz="930" noProof="0" dirty="0">
                <a:solidFill>
                  <a:srgbClr val="E30613"/>
                </a:solidFill>
              </a:rPr>
              <a:t>INDY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D41B01E-E931-110B-CFDB-B2500EECE8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20951" y="1205454"/>
            <a:ext cx="7150097" cy="533419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8246434D-B643-4C21-0D7E-7E91DC023761}"/>
                  </a:ext>
                </a:extLst>
              </p:cNvPr>
              <p:cNvSpPr txBox="1"/>
              <p:nvPr/>
            </p:nvSpPr>
            <p:spPr>
              <a:xfrm>
                <a:off x="1970134" y="4421228"/>
                <a:ext cx="188959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noProof="0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sz="2400" b="0" i="1" noProof="0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2400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4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noProof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2400" b="0" i="1" noProof="0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2400" b="0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r>
                            <a:rPr lang="en-US" sz="2400" b="0" i="1" noProof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sz="2400" noProof="0" dirty="0"/>
              </a:p>
            </p:txBody>
          </p:sp>
        </mc:Choice>
        <mc:Fallback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8246434D-B643-4C21-0D7E-7E91DC0237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0134" y="4421228"/>
                <a:ext cx="1889595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39F6B8A4-3704-791B-5441-6E0D47DF3E30}"/>
                  </a:ext>
                </a:extLst>
              </p:cNvPr>
              <p:cNvSpPr txBox="1"/>
              <p:nvPr/>
            </p:nvSpPr>
            <p:spPr>
              <a:xfrm>
                <a:off x="1970134" y="4983155"/>
                <a:ext cx="1889595" cy="4392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noProof="0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1800" b="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limUpp>
                        <m:limUppPr>
                          <m:ctrlPr>
                            <a:rPr lang="en-US" i="1" noProof="0"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lang="en-US" i="1" noProof="0">
                              <a:latin typeface="Cambria Math" panose="02040503050406030204" pitchFamily="18" charset="0"/>
                            </a:rPr>
                            <m:t>∼</m:t>
                          </m:r>
                        </m:e>
                        <m:lim>
                          <m:r>
                            <m:rPr>
                              <m:sty m:val="p"/>
                            </m:rPr>
                            <a:rPr lang="en-US" noProof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en-US" b="0" i="0" noProof="0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en-US" noProof="0">
                              <a:latin typeface="Cambria Math" panose="02040503050406030204" pitchFamily="18" charset="0"/>
                            </a:rPr>
                            <m:t>d</m:t>
                          </m:r>
                        </m:lim>
                      </m:limUpp>
                      <m:r>
                        <m:rPr>
                          <m:sty m:val="p"/>
                        </m:rPr>
                        <a:rPr lang="en-US" b="0" i="0" noProof="0" smtClean="0">
                          <a:latin typeface="Cambria Math" panose="02040503050406030204" pitchFamily="18" charset="0"/>
                        </a:rPr>
                        <m:t>Cat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noProof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noProof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39F6B8A4-3704-791B-5441-6E0D47DF3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0134" y="4983155"/>
                <a:ext cx="1889595" cy="439223"/>
              </a:xfrm>
              <a:prstGeom prst="rect">
                <a:avLst/>
              </a:prstGeom>
              <a:blipFill>
                <a:blip r:embed="rId5"/>
                <a:stretch>
                  <a:fillRect b="-13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19876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5DC9A-9C13-CA23-46CE-88610CE4B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2">
            <a:extLst>
              <a:ext uri="{FF2B5EF4-FFF2-40B4-BE49-F238E27FC236}">
                <a16:creationId xmlns:a16="http://schemas.microsoft.com/office/drawing/2014/main" id="{36092B49-8D1C-D83B-524D-3F2E84E72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0" y="174711"/>
            <a:ext cx="7150099" cy="561889"/>
          </a:xfrm>
        </p:spPr>
        <p:txBody>
          <a:bodyPr anchor="ctr">
            <a:normAutofit fontScale="90000"/>
          </a:bodyPr>
          <a:lstStyle/>
          <a:p>
            <a:r>
              <a:rPr lang="en-US" sz="3800" noProof="0" dirty="0">
                <a:latin typeface="+mn-lt"/>
              </a:rPr>
              <a:t>W</a:t>
            </a:r>
            <a:r>
              <a:rPr lang="en-US" sz="3800" b="0" noProof="0" dirty="0">
                <a:latin typeface="+mn-lt"/>
              </a:rPr>
              <a:t>eighted</a:t>
            </a:r>
            <a:r>
              <a:rPr lang="en-US" sz="3800" noProof="0" dirty="0">
                <a:latin typeface="+mn-lt"/>
              </a:rPr>
              <a:t> S</a:t>
            </a:r>
            <a:r>
              <a:rPr lang="en-US" sz="3800" b="0" noProof="0" dirty="0">
                <a:latin typeface="+mn-lt"/>
              </a:rPr>
              <a:t>tochastic</a:t>
            </a:r>
            <a:r>
              <a:rPr lang="en-US" sz="3800" noProof="0" dirty="0">
                <a:latin typeface="+mn-lt"/>
              </a:rPr>
              <a:t> B</a:t>
            </a:r>
            <a:r>
              <a:rPr lang="en-US" sz="3800" b="0" noProof="0" dirty="0">
                <a:latin typeface="+mn-lt"/>
              </a:rPr>
              <a:t>lock</a:t>
            </a:r>
            <a:r>
              <a:rPr lang="en-US" sz="3800" noProof="0" dirty="0">
                <a:latin typeface="+mn-lt"/>
              </a:rPr>
              <a:t> M</a:t>
            </a:r>
            <a:r>
              <a:rPr lang="en-US" sz="3800" b="0" noProof="0" dirty="0">
                <a:latin typeface="+mn-lt"/>
              </a:rPr>
              <a:t>odel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73B93CA-3E6D-055C-1F4D-EE5ECD70F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Nicolas Gonzalez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D73E659-D0BC-53FE-697B-6389A786A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en-US" noProof="0" smtClean="0"/>
              <a:pPr>
                <a:spcAft>
                  <a:spcPts val="600"/>
                </a:spcAft>
              </a:pPr>
              <a:t>10</a:t>
            </a:fld>
            <a:endParaRPr lang="en-US" noProof="0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814A9126-E67E-5415-159B-6932F239080F}"/>
              </a:ext>
            </a:extLst>
          </p:cNvPr>
          <p:cNvSpPr txBox="1">
            <a:spLocks/>
          </p:cNvSpPr>
          <p:nvPr/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Aft>
                <a:spcPts val="800"/>
              </a:spcAft>
            </a:pPr>
            <a:r>
              <a:rPr lang="en-US" sz="930" noProof="0" dirty="0">
                <a:solidFill>
                  <a:srgbClr val="E30613"/>
                </a:solidFill>
              </a:rPr>
              <a:t>INDY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92373A6-58A6-CD9A-0E5F-2EA4FC8F1A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20951" y="1205454"/>
            <a:ext cx="7150096" cy="533419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670224ED-4FF8-08A1-C5FD-107B399F00B8}"/>
                  </a:ext>
                </a:extLst>
              </p:cNvPr>
              <p:cNvSpPr txBox="1"/>
              <p:nvPr/>
            </p:nvSpPr>
            <p:spPr>
              <a:xfrm>
                <a:off x="6216582" y="1279036"/>
                <a:ext cx="4280033" cy="5930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2400" i="1" noProof="0" smtClean="0">
                          <a:latin typeface="Cambria Math" panose="02040503050406030204" pitchFamily="18" charset="0"/>
                        </a:rPr>
                        <m:t>∣</m:t>
                      </m:r>
                      <m:sSub>
                        <m:sSubPr>
                          <m:ctrlP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noProof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i="1" noProof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noProof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limUpp>
                        <m:limUppPr>
                          <m:ctrlPr>
                            <a:rPr lang="en-US" sz="2400" b="0" i="1" noProof="0" smtClean="0"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  <m:t>∼</m:t>
                          </m:r>
                        </m:e>
                        <m:lim>
                          <m:r>
                            <m:rPr>
                              <m:sty m:val="p"/>
                            </m:rPr>
                            <a:rPr lang="en-US" sz="2400" b="0" i="0" noProof="0" smtClean="0">
                              <a:latin typeface="Cambria Math" panose="02040503050406030204" pitchFamily="18" charset="0"/>
                            </a:rPr>
                            <m:t>ind</m:t>
                          </m:r>
                        </m:lim>
                      </m:limUpp>
                      <m:r>
                        <a:rPr lang="en-US" sz="2400" b="0" i="1" noProof="0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noProof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noProof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noProof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0,0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noProof="0" dirty="0"/>
              </a:p>
            </p:txBody>
          </p:sp>
        </mc:Choice>
        <mc:Fallback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670224ED-4FF8-08A1-C5FD-107B399F00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6582" y="1279036"/>
                <a:ext cx="4280033" cy="5930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A60EDC3B-C0E1-53B3-CA38-2AF337A4BDB5}"/>
                  </a:ext>
                </a:extLst>
              </p:cNvPr>
              <p:cNvSpPr txBox="1"/>
              <p:nvPr/>
            </p:nvSpPr>
            <p:spPr>
              <a:xfrm>
                <a:off x="6216582" y="2084917"/>
                <a:ext cx="4280033" cy="7146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noProof="0" smtClean="0"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noProof="0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noProof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1" noProof="0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0,0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noProof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0,0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noProof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0,0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noProof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0,0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noProof="0" dirty="0"/>
              </a:p>
            </p:txBody>
          </p:sp>
        </mc:Choice>
        <mc:Fallback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A60EDC3B-C0E1-53B3-CA38-2AF337A4BD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6582" y="2084917"/>
                <a:ext cx="4280033" cy="7146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74417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2229C-7655-DF76-3CC6-559784934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2">
            <a:extLst>
              <a:ext uri="{FF2B5EF4-FFF2-40B4-BE49-F238E27FC236}">
                <a16:creationId xmlns:a16="http://schemas.microsoft.com/office/drawing/2014/main" id="{C63B0615-9458-9FE5-DFC5-7A9D6C85E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0" y="174711"/>
            <a:ext cx="7150099" cy="561889"/>
          </a:xfrm>
        </p:spPr>
        <p:txBody>
          <a:bodyPr anchor="ctr">
            <a:normAutofit fontScale="90000"/>
          </a:bodyPr>
          <a:lstStyle/>
          <a:p>
            <a:r>
              <a:rPr lang="en-US" sz="3800" noProof="0" dirty="0">
                <a:latin typeface="+mn-lt"/>
              </a:rPr>
              <a:t>W</a:t>
            </a:r>
            <a:r>
              <a:rPr lang="en-US" sz="3800" b="0" noProof="0" dirty="0">
                <a:latin typeface="+mn-lt"/>
              </a:rPr>
              <a:t>eighted</a:t>
            </a:r>
            <a:r>
              <a:rPr lang="en-US" sz="3800" noProof="0" dirty="0">
                <a:latin typeface="+mn-lt"/>
              </a:rPr>
              <a:t> S</a:t>
            </a:r>
            <a:r>
              <a:rPr lang="en-US" sz="3800" b="0" noProof="0" dirty="0">
                <a:latin typeface="+mn-lt"/>
              </a:rPr>
              <a:t>tochastic</a:t>
            </a:r>
            <a:r>
              <a:rPr lang="en-US" sz="3800" noProof="0" dirty="0">
                <a:latin typeface="+mn-lt"/>
              </a:rPr>
              <a:t> B</a:t>
            </a:r>
            <a:r>
              <a:rPr lang="en-US" sz="3800" b="0" noProof="0" dirty="0">
                <a:latin typeface="+mn-lt"/>
              </a:rPr>
              <a:t>lock</a:t>
            </a:r>
            <a:r>
              <a:rPr lang="en-US" sz="3800" noProof="0" dirty="0">
                <a:latin typeface="+mn-lt"/>
              </a:rPr>
              <a:t> M</a:t>
            </a:r>
            <a:r>
              <a:rPr lang="en-US" sz="3800" b="0" noProof="0" dirty="0">
                <a:latin typeface="+mn-lt"/>
              </a:rPr>
              <a:t>odel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A9520E4-1546-FF92-0946-BA9D5F9FE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Nicolas Gonzalez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06828C6-E5C1-F2C1-5AA2-9E614B7F3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en-US" noProof="0" smtClean="0"/>
              <a:pPr>
                <a:spcAft>
                  <a:spcPts val="600"/>
                </a:spcAft>
              </a:pPr>
              <a:t>11</a:t>
            </a:fld>
            <a:endParaRPr lang="en-US" noProof="0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F0C9C0CF-9593-9AAA-1DD6-E3892DA4EA8F}"/>
              </a:ext>
            </a:extLst>
          </p:cNvPr>
          <p:cNvSpPr txBox="1">
            <a:spLocks/>
          </p:cNvSpPr>
          <p:nvPr/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Aft>
                <a:spcPts val="800"/>
              </a:spcAft>
            </a:pPr>
            <a:r>
              <a:rPr lang="en-US" sz="930" noProof="0" dirty="0">
                <a:solidFill>
                  <a:srgbClr val="E30613"/>
                </a:solidFill>
              </a:rPr>
              <a:t>INDY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7C5EBAD-72EB-DCCE-7E1C-99DE0DAD6D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20951" y="1205454"/>
            <a:ext cx="7150096" cy="533419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1E5C8025-2327-E136-6C6F-629F91454547}"/>
                  </a:ext>
                </a:extLst>
              </p:cNvPr>
              <p:cNvSpPr txBox="1"/>
              <p:nvPr/>
            </p:nvSpPr>
            <p:spPr>
              <a:xfrm>
                <a:off x="6216582" y="1279036"/>
                <a:ext cx="4280033" cy="5930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2400" i="1" noProof="0" smtClean="0">
                          <a:latin typeface="Cambria Math" panose="02040503050406030204" pitchFamily="18" charset="0"/>
                        </a:rPr>
                        <m:t>∣</m:t>
                      </m:r>
                      <m:sSub>
                        <m:sSubPr>
                          <m:ctrlP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i="1" noProof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limUpp>
                        <m:limUppPr>
                          <m:ctrlPr>
                            <a:rPr lang="en-US" sz="2400" b="0" i="1" noProof="0" smtClean="0"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  <m:t>∼</m:t>
                          </m:r>
                        </m:e>
                        <m:lim>
                          <m:r>
                            <m:rPr>
                              <m:sty m:val="p"/>
                            </m:rPr>
                            <a:rPr lang="en-US" sz="2400" b="0" i="0" noProof="0" smtClean="0">
                              <a:latin typeface="Cambria Math" panose="02040503050406030204" pitchFamily="18" charset="0"/>
                            </a:rPr>
                            <m:t>ind</m:t>
                          </m:r>
                        </m:lim>
                      </m:limUpp>
                      <m:r>
                        <a:rPr lang="en-US" sz="2400" b="0" i="1" noProof="0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1,1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noProof="0" dirty="0"/>
              </a:p>
            </p:txBody>
          </p:sp>
        </mc:Choice>
        <mc:Fallback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1E5C8025-2327-E136-6C6F-629F914545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6582" y="1279036"/>
                <a:ext cx="4280033" cy="5930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11E61D04-9250-735E-9C24-B84147467F7A}"/>
                  </a:ext>
                </a:extLst>
              </p:cNvPr>
              <p:cNvSpPr txBox="1"/>
              <p:nvPr/>
            </p:nvSpPr>
            <p:spPr>
              <a:xfrm>
                <a:off x="6216582" y="2084917"/>
                <a:ext cx="4280033" cy="7146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noProof="0" smtClean="0"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noProof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0,0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noProof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0,0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noProof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0,0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noProof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noProof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noProof="0" dirty="0"/>
              </a:p>
            </p:txBody>
          </p:sp>
        </mc:Choice>
        <mc:Fallback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11E61D04-9250-735E-9C24-B84147467F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6582" y="2084917"/>
                <a:ext cx="4280033" cy="7146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20400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1D9EC-9920-B769-85F1-7CEA75483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2">
            <a:extLst>
              <a:ext uri="{FF2B5EF4-FFF2-40B4-BE49-F238E27FC236}">
                <a16:creationId xmlns:a16="http://schemas.microsoft.com/office/drawing/2014/main" id="{F8AF9873-81BA-3D9D-5058-964B456B9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0" y="174711"/>
            <a:ext cx="7150099" cy="561889"/>
          </a:xfrm>
        </p:spPr>
        <p:txBody>
          <a:bodyPr anchor="ctr">
            <a:normAutofit fontScale="90000"/>
          </a:bodyPr>
          <a:lstStyle/>
          <a:p>
            <a:r>
              <a:rPr lang="en-US" sz="3800" noProof="0" dirty="0">
                <a:latin typeface="+mn-lt"/>
              </a:rPr>
              <a:t>W</a:t>
            </a:r>
            <a:r>
              <a:rPr lang="en-US" sz="3800" b="0" noProof="0" dirty="0">
                <a:latin typeface="+mn-lt"/>
              </a:rPr>
              <a:t>eighted</a:t>
            </a:r>
            <a:r>
              <a:rPr lang="en-US" sz="3800" noProof="0" dirty="0">
                <a:latin typeface="+mn-lt"/>
              </a:rPr>
              <a:t> S</a:t>
            </a:r>
            <a:r>
              <a:rPr lang="en-US" sz="3800" b="0" noProof="0" dirty="0">
                <a:latin typeface="+mn-lt"/>
              </a:rPr>
              <a:t>tochastic</a:t>
            </a:r>
            <a:r>
              <a:rPr lang="en-US" sz="3800" noProof="0" dirty="0">
                <a:latin typeface="+mn-lt"/>
              </a:rPr>
              <a:t> B</a:t>
            </a:r>
            <a:r>
              <a:rPr lang="en-US" sz="3800" b="0" noProof="0" dirty="0">
                <a:latin typeface="+mn-lt"/>
              </a:rPr>
              <a:t>lock</a:t>
            </a:r>
            <a:r>
              <a:rPr lang="en-US" sz="3800" noProof="0" dirty="0">
                <a:latin typeface="+mn-lt"/>
              </a:rPr>
              <a:t> M</a:t>
            </a:r>
            <a:r>
              <a:rPr lang="en-US" sz="3800" b="0" noProof="0" dirty="0">
                <a:latin typeface="+mn-lt"/>
              </a:rPr>
              <a:t>odel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5AFE117-328E-37CE-90C2-9A128115F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Nicolas Gonzalez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F48D218-89E6-FB6C-F58B-2F84C87F8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en-US" noProof="0" smtClean="0"/>
              <a:pPr>
                <a:spcAft>
                  <a:spcPts val="600"/>
                </a:spcAft>
              </a:pPr>
              <a:t>12</a:t>
            </a:fld>
            <a:endParaRPr lang="en-US" noProof="0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985710D8-CF45-5A0C-5671-56C145779836}"/>
              </a:ext>
            </a:extLst>
          </p:cNvPr>
          <p:cNvSpPr txBox="1">
            <a:spLocks/>
          </p:cNvSpPr>
          <p:nvPr/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Aft>
                <a:spcPts val="800"/>
              </a:spcAft>
            </a:pPr>
            <a:r>
              <a:rPr lang="en-US" sz="930" noProof="0" dirty="0">
                <a:solidFill>
                  <a:srgbClr val="E30613"/>
                </a:solidFill>
              </a:rPr>
              <a:t>INDY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C7E9E1C-09F8-5C74-B32F-2923D79657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20951" y="1205454"/>
            <a:ext cx="7150095" cy="533419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BB9F4F4D-AF9D-522B-2EDF-8B2A9AC99FF6}"/>
                  </a:ext>
                </a:extLst>
              </p:cNvPr>
              <p:cNvSpPr txBox="1"/>
              <p:nvPr/>
            </p:nvSpPr>
            <p:spPr>
              <a:xfrm>
                <a:off x="6216582" y="1279036"/>
                <a:ext cx="4280033" cy="5930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2400" i="1" noProof="0" smtClean="0">
                          <a:latin typeface="Cambria Math" panose="02040503050406030204" pitchFamily="18" charset="0"/>
                        </a:rPr>
                        <m:t>∣</m:t>
                      </m:r>
                      <m:sSub>
                        <m:sSubPr>
                          <m:ctrlP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noProof="0" smtClean="0">
                          <a:solidFill>
                            <a:srgbClr val="2E8B57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b="0" i="1" noProof="0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noProof="0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2400" b="0" i="1" noProof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noProof="0" smtClean="0">
                          <a:solidFill>
                            <a:srgbClr val="2E8B57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limUpp>
                        <m:limUppPr>
                          <m:ctrlPr>
                            <a:rPr lang="en-US" sz="2400" b="0" i="1" noProof="0" smtClean="0"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  <m:t>∼</m:t>
                          </m:r>
                        </m:e>
                        <m:lim>
                          <m:r>
                            <m:rPr>
                              <m:sty m:val="p"/>
                            </m:rPr>
                            <a:rPr lang="en-US" sz="2400" b="0" i="0" noProof="0" smtClean="0">
                              <a:latin typeface="Cambria Math" panose="02040503050406030204" pitchFamily="18" charset="0"/>
                            </a:rPr>
                            <m:t>ind</m:t>
                          </m:r>
                        </m:lim>
                      </m:limUpp>
                      <m:r>
                        <a:rPr lang="en-US" sz="2400" b="0" i="1" noProof="0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noProof="0" smtClean="0">
                                  <a:solidFill>
                                    <a:srgbClr val="2E8B5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noProof="0" smtClean="0">
                                  <a:solidFill>
                                    <a:srgbClr val="2E8B57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b="0" i="1" noProof="0" smtClean="0">
                                  <a:solidFill>
                                    <a:srgbClr val="2E8B57"/>
                                  </a:solidFill>
                                  <a:latin typeface="Cambria Math" panose="02040503050406030204" pitchFamily="18" charset="0"/>
                                </a:rPr>
                                <m:t>0,1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noProof="0" dirty="0"/>
              </a:p>
            </p:txBody>
          </p:sp>
        </mc:Choice>
        <mc:Fallback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BB9F4F4D-AF9D-522B-2EDF-8B2A9AC99F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6582" y="1279036"/>
                <a:ext cx="4280033" cy="5930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2D84F3A4-C397-D873-08A9-2ABC9EC4A15F}"/>
                  </a:ext>
                </a:extLst>
              </p:cNvPr>
              <p:cNvSpPr txBox="1"/>
              <p:nvPr/>
            </p:nvSpPr>
            <p:spPr>
              <a:xfrm>
                <a:off x="6216582" y="2084917"/>
                <a:ext cx="4280033" cy="7146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noProof="0" smtClean="0"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noProof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0,0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 noProof="0" smtClean="0">
                                        <a:solidFill>
                                          <a:srgbClr val="2E8B5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noProof="0">
                                        <a:solidFill>
                                          <a:srgbClr val="2E8B5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b="0" i="1" noProof="0" smtClean="0">
                                        <a:solidFill>
                                          <a:srgbClr val="2E8B5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n-US" i="1" noProof="0" smtClean="0">
                                        <a:solidFill>
                                          <a:srgbClr val="2E8B5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noProof="0" smtClean="0">
                                        <a:solidFill>
                                          <a:srgbClr val="2E8B5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noProof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b="0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noProof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noProof="0" dirty="0"/>
              </a:p>
            </p:txBody>
          </p:sp>
        </mc:Choice>
        <mc:Fallback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2D84F3A4-C397-D873-08A9-2ABC9EC4A1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6582" y="2084917"/>
                <a:ext cx="4280033" cy="7146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69211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00946-85B7-4AD7-08E7-20ABC540B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2">
            <a:extLst>
              <a:ext uri="{FF2B5EF4-FFF2-40B4-BE49-F238E27FC236}">
                <a16:creationId xmlns:a16="http://schemas.microsoft.com/office/drawing/2014/main" id="{26B45AAC-EB0D-A0D0-D2EC-580A9415D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0" y="174711"/>
            <a:ext cx="7150099" cy="561889"/>
          </a:xfrm>
        </p:spPr>
        <p:txBody>
          <a:bodyPr anchor="ctr">
            <a:normAutofit fontScale="90000"/>
          </a:bodyPr>
          <a:lstStyle/>
          <a:p>
            <a:r>
              <a:rPr lang="en-US" sz="3800" noProof="0" dirty="0">
                <a:latin typeface="+mn-lt"/>
              </a:rPr>
              <a:t>W</a:t>
            </a:r>
            <a:r>
              <a:rPr lang="en-US" sz="3800" b="0" noProof="0" dirty="0">
                <a:latin typeface="+mn-lt"/>
              </a:rPr>
              <a:t>eighted</a:t>
            </a:r>
            <a:r>
              <a:rPr lang="en-US" sz="3800" noProof="0" dirty="0">
                <a:latin typeface="+mn-lt"/>
              </a:rPr>
              <a:t> S</a:t>
            </a:r>
            <a:r>
              <a:rPr lang="en-US" sz="3800" b="0" noProof="0" dirty="0">
                <a:latin typeface="+mn-lt"/>
              </a:rPr>
              <a:t>tochastic</a:t>
            </a:r>
            <a:r>
              <a:rPr lang="en-US" sz="3800" noProof="0" dirty="0">
                <a:latin typeface="+mn-lt"/>
              </a:rPr>
              <a:t> B</a:t>
            </a:r>
            <a:r>
              <a:rPr lang="en-US" sz="3800" b="0" noProof="0" dirty="0">
                <a:latin typeface="+mn-lt"/>
              </a:rPr>
              <a:t>lock</a:t>
            </a:r>
            <a:r>
              <a:rPr lang="en-US" sz="3800" noProof="0" dirty="0">
                <a:latin typeface="+mn-lt"/>
              </a:rPr>
              <a:t> M</a:t>
            </a:r>
            <a:r>
              <a:rPr lang="en-US" sz="3800" b="0" noProof="0" dirty="0">
                <a:latin typeface="+mn-lt"/>
              </a:rPr>
              <a:t>odel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70EE823-AAFF-85A1-5B3A-8D0D10C62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Nicolas Gonzalez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742F129-2AEE-E710-FB95-BFC362DA1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en-US" noProof="0" smtClean="0"/>
              <a:pPr>
                <a:spcAft>
                  <a:spcPts val="600"/>
                </a:spcAft>
              </a:pPr>
              <a:t>13</a:t>
            </a:fld>
            <a:endParaRPr lang="en-US" noProof="0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E980B867-923B-A942-441A-BFE896AFBCA1}"/>
              </a:ext>
            </a:extLst>
          </p:cNvPr>
          <p:cNvSpPr txBox="1">
            <a:spLocks/>
          </p:cNvSpPr>
          <p:nvPr/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Aft>
                <a:spcPts val="800"/>
              </a:spcAft>
            </a:pPr>
            <a:r>
              <a:rPr lang="en-US" sz="930" noProof="0" dirty="0">
                <a:solidFill>
                  <a:srgbClr val="E30613"/>
                </a:solidFill>
              </a:rPr>
              <a:t>INDY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1F28D37-3038-9B1D-CDB1-30F881B275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20951" y="1205454"/>
            <a:ext cx="7150095" cy="5334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5811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4B681-7B6F-AE4B-2979-29AF01A74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83F3DE9-B2CD-7CD9-ED7F-502E0185D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Nicolas Gonzalez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1E6A814-6942-D921-FA1B-9FDAD86AF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en-US" noProof="0" smtClean="0"/>
              <a:pPr>
                <a:spcAft>
                  <a:spcPts val="600"/>
                </a:spcAft>
              </a:pPr>
              <a:t>14</a:t>
            </a:fld>
            <a:endParaRPr lang="en-US" noProof="0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1D93C33D-1421-A3C8-8073-DDD77B6470EE}"/>
              </a:ext>
            </a:extLst>
          </p:cNvPr>
          <p:cNvSpPr txBox="1">
            <a:spLocks/>
          </p:cNvSpPr>
          <p:nvPr/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Aft>
                <a:spcPts val="800"/>
              </a:spcAft>
            </a:pPr>
            <a:r>
              <a:rPr lang="en-US" sz="930" noProof="0" dirty="0">
                <a:solidFill>
                  <a:srgbClr val="E30613"/>
                </a:solidFill>
              </a:rPr>
              <a:t>INDY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CBA9E3BE-CF50-CE85-F888-0E95B7595B4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45091" y="1201631"/>
                <a:ext cx="10301817" cy="4454737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lIns="180000" tIns="45720" rIns="91440" bIns="45720" rtlCol="0" anchor="ctr">
                <a:normAutofit/>
              </a:bodyPr>
              <a:lstStyle>
                <a:lvl1pPr marL="228594" indent="-228594" algn="l" defTabSz="914377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1"/>
                  </a:buClr>
                  <a:buSzPct val="90000"/>
                  <a:buFont typeface="Wingdings" pitchFamily="2" charset="2"/>
                  <a:buChar char="§"/>
                  <a:defRPr sz="2400" b="0" i="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68578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2133" b="0" i="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1142971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SzPct val="90000"/>
                  <a:buFont typeface="Wingdings" pitchFamily="2" charset="2"/>
                  <a:buChar char="§"/>
                  <a:defRPr sz="2000" b="0" i="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600160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2057349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514537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US" sz="3600" noProof="0" dirty="0"/>
                  <a:t>When only </a:t>
                </a:r>
                <a14:m>
                  <m:oMath xmlns:m="http://schemas.openxmlformats.org/officeDocument/2006/math">
                    <m:r>
                      <a:rPr lang="en-US" sz="3600" b="0" i="1" noProof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3600" noProof="0" dirty="0"/>
                  <a:t> is observed, </a:t>
                </a:r>
                <a:br>
                  <a:rPr lang="en-US" sz="3600" noProof="0" dirty="0"/>
                </a:br>
                <a:r>
                  <a:rPr lang="en-US" sz="3600" noProof="0" dirty="0"/>
                  <a:t>how can we recover the labelling </a:t>
                </a:r>
                <a14:m>
                  <m:oMath xmlns:m="http://schemas.openxmlformats.org/officeDocument/2006/math">
                    <m:r>
                      <a:rPr lang="en-US" sz="3600" b="0" i="1" noProof="0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sz="3600" noProof="0" dirty="0"/>
                  <a:t>?</a:t>
                </a:r>
              </a:p>
            </p:txBody>
          </p:sp>
        </mc:Choice>
        <mc:Fallback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CBA9E3BE-CF50-CE85-F888-0E95B7595B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091" y="1201631"/>
                <a:ext cx="10301817" cy="44547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50257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66207-3BF5-7F1A-F003-DA0EAC960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2">
            <a:extLst>
              <a:ext uri="{FF2B5EF4-FFF2-40B4-BE49-F238E27FC236}">
                <a16:creationId xmlns:a16="http://schemas.microsoft.com/office/drawing/2014/main" id="{3801E8A7-B1AE-825D-751D-6A9471E58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0" y="174711"/>
            <a:ext cx="7150099" cy="561889"/>
          </a:xfrm>
        </p:spPr>
        <p:txBody>
          <a:bodyPr anchor="ctr">
            <a:normAutofit fontScale="90000"/>
          </a:bodyPr>
          <a:lstStyle/>
          <a:p>
            <a:r>
              <a:rPr lang="en-US" sz="3800" noProof="0" dirty="0">
                <a:latin typeface="+mn-lt"/>
              </a:rPr>
              <a:t>Spectral Embedding</a:t>
            </a:r>
            <a:endParaRPr lang="en-US" sz="3800" b="0" noProof="0" dirty="0">
              <a:latin typeface="+mn-lt"/>
            </a:endParaRP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B4FA47C-6490-1CF2-D42C-2A84B04FA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Nicolas Gonzalez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341EDBB-D64C-C701-2ACB-6DDBEE3CC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en-US" noProof="0" smtClean="0"/>
              <a:pPr>
                <a:spcAft>
                  <a:spcPts val="600"/>
                </a:spcAft>
              </a:pPr>
              <a:t>15</a:t>
            </a:fld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537EBF6E-FE8E-7330-8C28-11956A0EB06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06500" y="1419457"/>
                <a:ext cx="10301817" cy="4960123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lIns="180000" tIns="45720" rIns="91440" bIns="45720" rtlCol="0">
                <a:noAutofit/>
              </a:bodyPr>
              <a:lstStyle>
                <a:lvl1pPr marL="228594" indent="-228594" algn="l" defTabSz="914377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1"/>
                  </a:buClr>
                  <a:buSzPct val="90000"/>
                  <a:buFont typeface="Wingdings" pitchFamily="2" charset="2"/>
                  <a:buChar char="§"/>
                  <a:defRPr sz="2400" b="0" i="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68578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2133" b="0" i="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1142971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SzPct val="90000"/>
                  <a:buFont typeface="Wingdings" pitchFamily="2" charset="2"/>
                  <a:buChar char="§"/>
                  <a:defRPr sz="2000" b="0" i="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600160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2057349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514537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en-US" sz="2200" noProof="0" dirty="0"/>
                  <a:t>Given the symmetric adjacency matrix </a:t>
                </a:r>
                <a14:m>
                  <m:oMath xmlns:m="http://schemas.openxmlformats.org/officeDocument/2006/math">
                    <m:r>
                      <a:rPr lang="en-US" sz="2200" i="1" noProof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200" b="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200" noProof="0" dirty="0"/>
                  <a:t> and a dimension </a:t>
                </a:r>
                <a14:m>
                  <m:oMath xmlns:m="http://schemas.openxmlformats.org/officeDocument/2006/math"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200" noProof="0" dirty="0"/>
                  <a:t>, the spectral </a:t>
                </a:r>
                <a14:m>
                  <m:oMath xmlns:m="http://schemas.openxmlformats.org/officeDocument/2006/math">
                    <m:r>
                      <a:rPr lang="en-US" sz="2200" i="1" noProof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200" noProof="0" dirty="0"/>
                  <a:t>-embedding of the graph is given by</a:t>
                </a:r>
                <a:br>
                  <a:rPr lang="en-US" sz="2200" noProof="0" dirty="0"/>
                </a:br>
                <a:br>
                  <a:rPr lang="en-US" sz="2200" noProof="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sSup>
                      <m:sSupPr>
                        <m:ctrlPr>
                          <a:rPr lang="en-US" sz="2200" b="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200" b="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200" b="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200" b="0" i="0" noProof="0" smtClean="0">
                                    <a:latin typeface="Cambria Math" panose="02040503050406030204" pitchFamily="18" charset="0"/>
                                  </a:rPr>
                                  <m:t>Λ</m:t>
                                </m:r>
                              </m:e>
                              <m:sub>
                                <m:r>
                                  <a:rPr lang="en-US" sz="2200" b="0" i="1" noProof="0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1/2</m:t>
                        </m:r>
                      </m:sup>
                    </m:sSup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200" b="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br>
                  <a:rPr lang="en-US" sz="2200" noProof="0" dirty="0"/>
                </a:br>
                <a:br>
                  <a:rPr lang="en-US" sz="2200" noProof="0" dirty="0"/>
                </a:br>
                <a:r>
                  <a:rPr lang="en-US" sz="2200" b="0" noProof="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 noProof="0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US" sz="2200" i="1" noProof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sz="2200" noProof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noProof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2200" i="1" noProof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sz="2200" noProof="0" dirty="0"/>
                  <a:t> are the truncations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noProof="0">
                        <a:latin typeface="Cambria Math" panose="02040503050406030204" pitchFamily="18" charset="0"/>
                      </a:rPr>
                      <m:t>Λ</m:t>
                    </m:r>
                    <m:r>
                      <a:rPr lang="en-US" sz="2200" noProof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i="1" noProof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sz="2200" noProof="0" dirty="0"/>
                  <a:t> </a:t>
                </a:r>
                <a:r>
                  <a:rPr lang="en-US" sz="2200" i="1" noProof="0" dirty="0"/>
                  <a:t>i.e.</a:t>
                </a:r>
                <a:r>
                  <a:rPr lang="en-US" sz="2200" noProof="0" dirty="0"/>
                  <a:t> the </a:t>
                </a:r>
                <a14:m>
                  <m:oMath xmlns:m="http://schemas.openxmlformats.org/officeDocument/2006/math">
                    <m:r>
                      <a:rPr lang="en-US" sz="2200" i="1" noProof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200" noProof="0" dirty="0"/>
                  <a:t> largest eigenvalues in magnitude of </a:t>
                </a:r>
                <a14:m>
                  <m:oMath xmlns:m="http://schemas.openxmlformats.org/officeDocument/2006/math">
                    <m:r>
                      <a:rPr lang="en-US" sz="2200" i="1" noProof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200" noProof="0" dirty="0"/>
                  <a:t>, and the associated eigenvectors.</a:t>
                </a:r>
                <a:br>
                  <a:rPr lang="en-US" sz="2200" noProof="0" dirty="0"/>
                </a:br>
                <a:br>
                  <a:rPr lang="en-US" sz="2200" noProof="0" dirty="0"/>
                </a:br>
                <a:r>
                  <a:rPr lang="en-US" sz="2200" noProof="0" dirty="0">
                    <a:solidFill>
                      <a:schemeClr val="dk1">
                        <a:alpha val="50000"/>
                      </a:schemeClr>
                    </a:solidFill>
                  </a:rPr>
                  <a:t>Formally,</a:t>
                </a:r>
                <a:r>
                  <a:rPr lang="en-US" sz="2200" b="0" noProof="0" dirty="0">
                    <a:solidFill>
                      <a:schemeClr val="dk1">
                        <a:alpha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b="0" i="1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200" b="0" i="1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US" sz="2200" b="0" i="0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Λ</m:t>
                    </m:r>
                    <m:sSup>
                      <m:sSupPr>
                        <m:ctrlPr>
                          <a:rPr lang="en-US" sz="2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sz="2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lang="en-US" sz="2200" b="0" i="1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sepChr m:val="∣"/>
                        <m:ctrlPr>
                          <a:rPr lang="en-US" sz="2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b="0" i="1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sz="2200" b="0" i="1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sz="2200" b="0" i="1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acc>
                              <m:accPr>
                                <m:chr m:val="̅"/>
                                <m:ctrlPr>
                                  <a:rPr lang="en-US" sz="2200" b="0" i="1" noProof="0" smtClean="0">
                                    <a:solidFill>
                                      <a:schemeClr val="dk1">
                                        <a:alpha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200" b="0" i="1" noProof="0" smtClean="0">
                                    <a:solidFill>
                                      <a:schemeClr val="dk1">
                                        <a:alpha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acc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US" sz="2200" b="0" i="0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diag</m:t>
                    </m:r>
                    <m:d>
                      <m:dPr>
                        <m:ctrlPr>
                          <a:rPr lang="en-US" sz="2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b="0" i="1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200" b="0" i="0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b>
                            <m:r>
                              <a:rPr lang="en-US" sz="2200" b="0" i="1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  <m:r>
                          <a:rPr lang="en-US" sz="2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200" b="0" i="1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200" b="0" i="0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b>
                            <m:acc>
                              <m:accPr>
                                <m:chr m:val="̅"/>
                                <m:ctrlPr>
                                  <a:rPr lang="en-US" sz="2200" b="0" i="1" noProof="0" smtClean="0">
                                    <a:solidFill>
                                      <a:schemeClr val="dk1">
                                        <a:alpha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200" b="0" i="1" noProof="0" smtClean="0">
                                    <a:solidFill>
                                      <a:schemeClr val="dk1">
                                        <a:alpha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acc>
                          </m:sub>
                        </m:sSub>
                      </m:e>
                    </m:d>
                    <m:sSup>
                      <m:sSupPr>
                        <m:ctrlPr>
                          <a:rPr lang="en-US" sz="2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sepChr m:val="∣"/>
                            <m:ctrlPr>
                              <a:rPr lang="en-US" sz="2200" i="1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200" i="1" noProof="0" smtClean="0">
                                    <a:solidFill>
                                      <a:schemeClr val="dk1">
                                        <a:alpha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 noProof="0" smtClean="0">
                                    <a:solidFill>
                                      <a:schemeClr val="dk1">
                                        <a:alpha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sz="2200" i="1" noProof="0" smtClean="0">
                                    <a:solidFill>
                                      <a:schemeClr val="dk1">
                                        <a:alpha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sz="2200" i="1" noProof="0" smtClean="0">
                                    <a:solidFill>
                                      <a:schemeClr val="dk1">
                                        <a:alpha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 noProof="0" smtClean="0">
                                    <a:solidFill>
                                      <a:schemeClr val="dk1">
                                        <a:alpha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acc>
                                  <m:accPr>
                                    <m:chr m:val="̅"/>
                                    <m:ctrlPr>
                                      <a:rPr lang="en-US" sz="2200" i="1" noProof="0" smtClean="0">
                                        <a:solidFill>
                                          <a:schemeClr val="dk1">
                                            <a:alpha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200" i="1" noProof="0" smtClean="0">
                                        <a:solidFill>
                                          <a:schemeClr val="dk1">
                                            <a:alpha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</m:acc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lang="en-US" sz="2200" b="0" i="1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2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sSub>
                      <m:sSubPr>
                        <m:ctrlPr>
                          <a:rPr lang="en-US" sz="2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 i="0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US" sz="2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sSubSup>
                      <m:sSubSupPr>
                        <m:ctrlPr>
                          <a:rPr lang="en-US" sz="2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20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2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  <m:sup>
                        <m:r>
                          <a:rPr lang="en-US" sz="220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bSup>
                    <m:r>
                      <a:rPr lang="en-US" sz="2200" b="0" i="1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acc>
                          <m:accPr>
                            <m:chr m:val="̅"/>
                            <m:ctrlPr>
                              <a:rPr lang="en-US" sz="2200" b="0" i="1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b="0" i="1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sub>
                    </m:sSub>
                    <m:sSub>
                      <m:sSubPr>
                        <m:ctrlPr>
                          <a:rPr lang="en-US" sz="2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acc>
                          <m:accPr>
                            <m:chr m:val="̅"/>
                            <m:ctrlPr>
                              <a:rPr lang="en-US" sz="2200" b="0" i="1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b="0" i="1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  <m:r>
                          <a:rPr lang="en-US" sz="2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sSubSup>
                      <m:sSubSupPr>
                        <m:ctrlPr>
                          <a:rPr lang="en-US" sz="2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20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acc>
                          <m:accPr>
                            <m:chr m:val="̅"/>
                            <m:ctrlPr>
                              <a:rPr lang="en-US" sz="2200" b="0" i="1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b="0" i="1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sub>
                      <m:sup>
                        <m:r>
                          <a:rPr lang="en-US" sz="220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bSup>
                  </m:oMath>
                </a14:m>
                <a:br>
                  <a:rPr lang="en-US" sz="2200" b="0" noProof="0" dirty="0">
                    <a:solidFill>
                      <a:schemeClr val="dk1">
                        <a:alpha val="50000"/>
                      </a:schemeClr>
                    </a:solidFill>
                  </a:rPr>
                </a:br>
                <a:r>
                  <a:rPr lang="en-US" sz="2200" b="0" noProof="0" dirty="0">
                    <a:solidFill>
                      <a:schemeClr val="dk1">
                        <a:alpha val="50000"/>
                      </a:schemeClr>
                    </a:solidFill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200" b="0" i="1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200" b="0" i="1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200" b="0" i="1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𝕆</m:t>
                    </m:r>
                    <m:r>
                      <a:rPr lang="en-US" sz="2200" b="0" i="1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b="0" i="1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b="0" noProof="0" dirty="0">
                    <a:solidFill>
                      <a:schemeClr val="dk1">
                        <a:alpha val="50000"/>
                      </a:schemeClr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noProof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US" sz="2200" b="0" i="0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200" b="0" i="0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diag</m:t>
                    </m:r>
                    <m:r>
                      <a:rPr lang="en-US" sz="2200" b="0" i="0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b="0" i="1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sz="2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200" b="0" i="1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b="0" noProof="0" dirty="0">
                    <a:solidFill>
                      <a:schemeClr val="dk1">
                        <a:alpha val="50000"/>
                      </a:schemeClr>
                    </a:solidFill>
                  </a:rPr>
                  <a:t> with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20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i="1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200" i="1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sz="2200" b="0" i="1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≥…≥|</m:t>
                    </m:r>
                    <m:sSub>
                      <m:sSubPr>
                        <m:ctrlPr>
                          <a:rPr lang="en-US" sz="220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20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200" b="0" i="1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sz="2200" b="0" noProof="0" dirty="0">
                    <a:solidFill>
                      <a:schemeClr val="dk1">
                        <a:alpha val="50000"/>
                      </a:schemeClr>
                    </a:solidFill>
                  </a:rPr>
                  <a:t>.</a:t>
                </a:r>
                <a:br>
                  <a:rPr lang="en-US" sz="2200" b="0" noProof="0" dirty="0"/>
                </a:br>
                <a:endParaRPr lang="en-US" sz="2200" b="0" noProof="0" dirty="0"/>
              </a:p>
              <a:p>
                <a:pPr>
                  <a:lnSpc>
                    <a:spcPct val="100000"/>
                  </a:lnSpc>
                </a:pPr>
                <a:r>
                  <a:rPr lang="en-US" sz="2200" noProof="0" dirty="0"/>
                  <a:t>Row </a:t>
                </a:r>
                <a14:m>
                  <m:oMath xmlns:m="http://schemas.openxmlformats.org/officeDocument/2006/math">
                    <m:r>
                      <a:rPr lang="en-US" sz="2200" i="1" noProof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200" noProof="0" dirty="0"/>
                  <a:t>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noProof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200" i="1" noProof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2200" noProof="0" dirty="0"/>
                  <a:t> provide a </a:t>
                </a:r>
                <a14:m>
                  <m:oMath xmlns:m="http://schemas.openxmlformats.org/officeDocument/2006/math">
                    <m:r>
                      <a:rPr lang="en-US" sz="2200" i="1" noProof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200" noProof="0" dirty="0"/>
                  <a:t>-dimension representation of node </a:t>
                </a:r>
                <a14:m>
                  <m:oMath xmlns:m="http://schemas.openxmlformats.org/officeDocument/2006/math">
                    <m:r>
                      <a:rPr lang="en-US" sz="2200" i="1" noProof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200" noProof="0" dirty="0"/>
                  <a:t>.</a:t>
                </a:r>
              </a:p>
            </p:txBody>
          </p:sp>
        </mc:Choice>
        <mc:Fallback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537EBF6E-FE8E-7330-8C28-11956A0EB0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6500" y="1419457"/>
                <a:ext cx="10301817" cy="4960123"/>
              </a:xfrm>
              <a:prstGeom prst="rect">
                <a:avLst/>
              </a:prstGeom>
              <a:blipFill>
                <a:blip r:embed="rId3"/>
                <a:stretch>
                  <a:fillRect t="-737" r="-71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6B1B67E-4D9B-926D-850C-DFDB7B4243A8}"/>
              </a:ext>
            </a:extLst>
          </p:cNvPr>
          <p:cNvSpPr txBox="1">
            <a:spLocks/>
          </p:cNvSpPr>
          <p:nvPr/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Aft>
                <a:spcPts val="800"/>
              </a:spcAft>
            </a:pPr>
            <a:r>
              <a:rPr lang="en-US" sz="930" noProof="0" dirty="0">
                <a:solidFill>
                  <a:srgbClr val="E30613"/>
                </a:solidFill>
              </a:rPr>
              <a:t>INDY</a:t>
            </a:r>
          </a:p>
        </p:txBody>
      </p:sp>
    </p:spTree>
    <p:extLst>
      <p:ext uri="{BB962C8B-B14F-4D97-AF65-F5344CB8AC3E}">
        <p14:creationId xmlns:p14="http://schemas.microsoft.com/office/powerpoint/2010/main" val="38306134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9AF63-8476-DF67-B0EC-8D994CF40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4B71AEE-C3F5-890C-D872-A544E2638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Nicolas Gonzalez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EF6CEB1-82F0-D578-3C2E-14457279E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en-US" noProof="0" smtClean="0"/>
              <a:pPr>
                <a:spcAft>
                  <a:spcPts val="600"/>
                </a:spcAft>
              </a:pPr>
              <a:t>16</a:t>
            </a:fld>
            <a:endParaRPr lang="en-US" noProof="0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C1AE4248-43F0-3F0A-B8D5-A4B188F6B1B4}"/>
              </a:ext>
            </a:extLst>
          </p:cNvPr>
          <p:cNvSpPr txBox="1">
            <a:spLocks/>
          </p:cNvSpPr>
          <p:nvPr/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Aft>
                <a:spcPts val="800"/>
              </a:spcAft>
            </a:pPr>
            <a:r>
              <a:rPr lang="en-US" sz="930" noProof="0" dirty="0">
                <a:solidFill>
                  <a:srgbClr val="E30613"/>
                </a:solidFill>
              </a:rPr>
              <a:t>INDY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72CD269E-B868-3F4D-72CB-210A22918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0" y="174711"/>
            <a:ext cx="7150099" cy="561889"/>
          </a:xfrm>
        </p:spPr>
        <p:txBody>
          <a:bodyPr anchor="ctr">
            <a:normAutofit fontScale="90000"/>
          </a:bodyPr>
          <a:lstStyle/>
          <a:p>
            <a:r>
              <a:rPr lang="en-US" sz="3800" noProof="0" dirty="0">
                <a:latin typeface="+mn-lt"/>
              </a:rPr>
              <a:t>Spectral Embedding</a:t>
            </a:r>
            <a:endParaRPr lang="en-US" sz="3800" b="0" noProof="0" dirty="0">
              <a:latin typeface="+mn-lt"/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B448B131-82C2-AC26-A2D9-FCC0D273EF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25" b="6425"/>
          <a:stretch/>
        </p:blipFill>
        <p:spPr>
          <a:xfrm>
            <a:off x="2055180" y="940954"/>
            <a:ext cx="8081640" cy="525438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3CEACE74-0724-EC98-F712-138507E4F873}"/>
                  </a:ext>
                </a:extLst>
              </p:cNvPr>
              <p:cNvSpPr txBox="1"/>
              <p:nvPr/>
            </p:nvSpPr>
            <p:spPr>
              <a:xfrm>
                <a:off x="8169965" y="1047187"/>
                <a:ext cx="153062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noProof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b="0" i="1" noProof="0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noProof="0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2400" b="0" i="1" noProof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noProof="0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400" b="0" i="1" noProof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sz="2400" noProof="0" dirty="0"/>
              </a:p>
            </p:txBody>
          </p:sp>
        </mc:Choice>
        <mc:Fallback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3CEACE74-0724-EC98-F712-138507E4F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9965" y="1047187"/>
                <a:ext cx="1530626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12529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1907A-30A6-537B-5E85-882A5DE7C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EC2353B-210D-07A5-1765-079F483EA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Nicolas Gonzalez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793CE28-6B7F-BD99-45A7-7ADA3448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en-US" noProof="0" smtClean="0"/>
              <a:pPr>
                <a:spcAft>
                  <a:spcPts val="600"/>
                </a:spcAft>
              </a:pPr>
              <a:t>17</a:t>
            </a:fld>
            <a:endParaRPr lang="en-US" noProof="0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BB72F055-D64D-24AD-C307-9EC12C7EA8A9}"/>
              </a:ext>
            </a:extLst>
          </p:cNvPr>
          <p:cNvSpPr txBox="1">
            <a:spLocks/>
          </p:cNvSpPr>
          <p:nvPr/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Aft>
                <a:spcPts val="800"/>
              </a:spcAft>
            </a:pPr>
            <a:r>
              <a:rPr lang="en-US" sz="930" noProof="0" dirty="0">
                <a:solidFill>
                  <a:srgbClr val="E30613"/>
                </a:solidFill>
              </a:rPr>
              <a:t>INDY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ECF7E315-48D8-1B12-76FE-AB177B44E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0" y="174711"/>
            <a:ext cx="7150099" cy="561889"/>
          </a:xfrm>
        </p:spPr>
        <p:txBody>
          <a:bodyPr anchor="ctr">
            <a:normAutofit fontScale="90000"/>
          </a:bodyPr>
          <a:lstStyle/>
          <a:p>
            <a:r>
              <a:rPr lang="en-US" sz="3800" noProof="0" dirty="0">
                <a:latin typeface="+mn-lt"/>
              </a:rPr>
              <a:t>Spectral Embedding</a:t>
            </a:r>
            <a:endParaRPr lang="en-US" sz="3800" b="0" noProof="0" dirty="0">
              <a:latin typeface="+mn-lt"/>
            </a:endParaRP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44EBD61C-B114-E0A0-D6A0-F417D7C9B9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86351" y="978360"/>
            <a:ext cx="7446478" cy="556129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FD07752A-41D2-3F4B-DB25-CBBBEB362D94}"/>
                  </a:ext>
                </a:extLst>
              </p:cNvPr>
              <p:cNvSpPr txBox="1"/>
              <p:nvPr/>
            </p:nvSpPr>
            <p:spPr>
              <a:xfrm>
                <a:off x="2001342" y="6041832"/>
                <a:ext cx="642466" cy="2893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sup>
                      </m:sSup>
                    </m:oMath>
                  </m:oMathPara>
                </a14:m>
                <a:endParaRPr lang="en-US" noProof="0" dirty="0"/>
              </a:p>
            </p:txBody>
          </p:sp>
        </mc:Choice>
        <mc:Fallback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FD07752A-41D2-3F4B-DB25-CBBBEB362D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1342" y="6041832"/>
                <a:ext cx="642466" cy="289394"/>
              </a:xfrm>
              <a:prstGeom prst="rect">
                <a:avLst/>
              </a:prstGeom>
              <a:blipFill>
                <a:blip r:embed="rId4"/>
                <a:stretch>
                  <a:fillRect l="-1887" t="-2083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A247F088-E9C7-DE83-BF98-90AB92EAE3EA}"/>
                  </a:ext>
                </a:extLst>
              </p:cNvPr>
              <p:cNvSpPr txBox="1"/>
              <p:nvPr/>
            </p:nvSpPr>
            <p:spPr>
              <a:xfrm>
                <a:off x="9271965" y="1077751"/>
                <a:ext cx="1808922" cy="4682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noProof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b="0" i="1" noProof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b="0" i="1" noProof="0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noProof="0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2400" b="0" i="1" noProof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noProof="0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400" b="0" i="1" noProof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lang="en-US" sz="2400" noProof="0" dirty="0"/>
              </a:p>
            </p:txBody>
          </p:sp>
        </mc:Choice>
        <mc:Fallback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A247F088-E9C7-DE83-BF98-90AB92EAE3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1965" y="1077751"/>
                <a:ext cx="1808922" cy="468205"/>
              </a:xfrm>
              <a:prstGeom prst="rect">
                <a:avLst/>
              </a:prstGeom>
              <a:blipFill>
                <a:blip r:embed="rId5"/>
                <a:stretch>
                  <a:fillRect b="-38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34759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449AD-08F4-D08B-CB06-3427732EA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2">
            <a:extLst>
              <a:ext uri="{FF2B5EF4-FFF2-40B4-BE49-F238E27FC236}">
                <a16:creationId xmlns:a16="http://schemas.microsoft.com/office/drawing/2014/main" id="{4235D7EC-45A9-14B6-A34F-A33B031A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0" y="174711"/>
            <a:ext cx="7150099" cy="561889"/>
          </a:xfrm>
        </p:spPr>
        <p:txBody>
          <a:bodyPr anchor="ctr">
            <a:normAutofit fontScale="90000"/>
          </a:bodyPr>
          <a:lstStyle/>
          <a:p>
            <a:r>
              <a:rPr lang="en-US" sz="3800" noProof="0" dirty="0">
                <a:latin typeface="+mn-lt"/>
              </a:rPr>
              <a:t>Central Limit Theorem – Corollary</a:t>
            </a:r>
            <a:endParaRPr lang="en-US" sz="3800" b="0" noProof="0" dirty="0">
              <a:latin typeface="+mn-lt"/>
            </a:endParaRP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8821F7C-BC7B-7CCA-C8E0-4309A01EF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Nicolas Gonzalez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93C291B-1F48-5BAA-D568-F47E6B2A1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en-US" noProof="0" smtClean="0"/>
              <a:pPr>
                <a:spcAft>
                  <a:spcPts val="600"/>
                </a:spcAft>
              </a:pPr>
              <a:t>18</a:t>
            </a:fld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30477A3D-4ECA-4258-2E10-629B60E03DA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06500" y="1419457"/>
                <a:ext cx="10301817" cy="4960123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lIns="180000" tIns="45720" rIns="91440" bIns="45720" rtlCol="0">
                <a:normAutofit/>
              </a:bodyPr>
              <a:lstStyle>
                <a:lvl1pPr marL="228594" indent="-228594" algn="l" defTabSz="914377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1"/>
                  </a:buClr>
                  <a:buSzPct val="90000"/>
                  <a:buFont typeface="Wingdings" pitchFamily="2" charset="2"/>
                  <a:buChar char="§"/>
                  <a:defRPr sz="2400" b="0" i="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68578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2133" b="0" i="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1142971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SzPct val="90000"/>
                  <a:buFont typeface="Wingdings" pitchFamily="2" charset="2"/>
                  <a:buChar char="§"/>
                  <a:defRPr sz="2000" b="0" i="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600160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2057349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514537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en-US" sz="2200" noProof="0" dirty="0"/>
                  <a:t>Consider an instance </a:t>
                </a:r>
                <a14:m>
                  <m:oMath xmlns:m="http://schemas.openxmlformats.org/officeDocument/2006/math">
                    <m:r>
                      <a:rPr lang="en-US" sz="2200" i="1" noProof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200" b="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200" noProof="0" dirty="0"/>
                  <a:t>, with spectral </a:t>
                </a:r>
                <a14:m>
                  <m:oMath xmlns:m="http://schemas.openxmlformats.org/officeDocument/2006/math">
                    <m:r>
                      <a:rPr lang="en-US" sz="2200" i="1" noProof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200" noProof="0" dirty="0"/>
                  <a:t>-embedding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noProof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200" i="1" noProof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2200" noProof="0" dirty="0"/>
                  <a:t>, of a </a:t>
                </a:r>
                <a14:m>
                  <m:oMath xmlns:m="http://schemas.openxmlformats.org/officeDocument/2006/math">
                    <m:r>
                      <a:rPr lang="en-US" sz="2200" i="1" noProof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200" noProof="0" dirty="0"/>
                  <a:t>-community </a:t>
                </a:r>
                <a14:m>
                  <m:oMath xmlns:m="http://schemas.openxmlformats.org/officeDocument/2006/math">
                    <m:r>
                      <a:rPr lang="en-US" sz="2200" i="1" noProof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200" noProof="0" dirty="0"/>
                  <a:t>-WSBM where the block distribution </a:t>
                </a:r>
                <a14:m>
                  <m:oMath xmlns:m="http://schemas.openxmlformats.org/officeDocument/2006/math">
                    <m:r>
                      <a:rPr lang="en-US" sz="2200" i="1" noProof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200" noProof="0" dirty="0"/>
                  <a:t> is such that its mean block </a:t>
                </a:r>
                <a:br>
                  <a:rPr lang="en-US" sz="2200" noProof="0" dirty="0"/>
                </a:br>
                <a:r>
                  <a:rPr lang="en-US" sz="2200" noProof="0" dirty="0"/>
                  <a:t>matrix </a:t>
                </a:r>
                <a14:m>
                  <m:oMath xmlns:m="http://schemas.openxmlformats.org/officeDocument/2006/math">
                    <m:r>
                      <a:rPr lang="en-US" sz="2200" b="1" i="1" noProof="0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sz="2200" noProof="0" dirty="0"/>
                  <a:t> is bounded and full rank </a:t>
                </a:r>
                <a14:m>
                  <m:oMath xmlns:m="http://schemas.openxmlformats.org/officeDocument/2006/math">
                    <m:r>
                      <a:rPr lang="en-US" sz="2200" i="1" noProof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200" noProof="0" dirty="0"/>
                  <a:t> (and respect some additional technical exponential tails condition).</a:t>
                </a:r>
                <a:br>
                  <a:rPr lang="en-US" sz="2200" noProof="0" dirty="0"/>
                </a:br>
                <a:br>
                  <a:rPr lang="en-US" sz="2200" noProof="0" dirty="0"/>
                </a:br>
                <a:r>
                  <a:rPr lang="en-US" sz="2200" noProof="0" dirty="0"/>
                  <a:t>Then, for any </a:t>
                </a:r>
                <a14:m>
                  <m:oMath xmlns:m="http://schemas.openxmlformats.org/officeDocument/2006/math"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∈{0, …, </m:t>
                    </m:r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−1}</m:t>
                    </m:r>
                  </m:oMath>
                </a14:m>
                <a:r>
                  <a:rPr lang="en-US" sz="2200" noProof="0" dirty="0"/>
                  <a:t> there exists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200" b="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2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 b="0" i="0" noProof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200" b="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sz="2200" noProof="0" dirty="0"/>
                  <a:t>, and a sequence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2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noProof="0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200" b="0" i="1" noProof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200" noProof="0" dirty="0"/>
                  <a:t> of rotational matrices such that</a:t>
                </a:r>
                <a:br>
                  <a:rPr lang="en-US" sz="2200" noProof="0" dirty="0"/>
                </a:br>
                <a:br>
                  <a:rPr lang="en-US" sz="2200" noProof="0" dirty="0"/>
                </a:b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200" b="0" i="1" noProof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  <m:d>
                      <m:dPr>
                        <m:ctrlPr>
                          <a:rPr lang="en-US" sz="22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noProof="0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200" b="0" i="1" noProof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b>
                          <m:sSubPr>
                            <m:ctrlPr>
                              <a:rPr lang="en-US" sz="22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sz="2200" b="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2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noProof="0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sz="2200" b="0" i="1" noProof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en-US" sz="2200" b="0" i="1" noProof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2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noProof="0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200" b="0" i="1" noProof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en-US" sz="22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 </m:t>
                    </m:r>
                    <m:groupChr>
                      <m:groupChrPr>
                        <m:chr m:val="→"/>
                        <m:vertJc m:val="bot"/>
                        <m:ctrlPr>
                          <a:rPr lang="en-US" sz="2200" b="0" i="1" noProof="0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nor/>
                          </m:rPr>
                          <a:rPr lang="en-US" sz="2200" b="0" noProof="0" smtClean="0">
                            <a:latin typeface="Cambria Math" panose="02040503050406030204" pitchFamily="18" charset="0"/>
                          </a:rPr>
                          <m:t>dist</m:t>
                        </m:r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.</m:t>
                        </m:r>
                      </m:e>
                    </m:groupChr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2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noProof="0" smtClean="0">
                            <a:latin typeface="Cambria Math" panose="02040503050406030204" pitchFamily="18" charset="0"/>
                          </a:rPr>
                          <m:t>𝒩</m:t>
                        </m:r>
                      </m:e>
                      <m:sub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d>
                      <m:dPr>
                        <m:ctrlPr>
                          <a:rPr lang="en-US" sz="22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0,</m:t>
                        </m:r>
                        <m:sSub>
                          <m:sSubPr>
                            <m:ctrlPr>
                              <a:rPr lang="en-US" sz="22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200" b="0" i="0" noProof="0" smtClean="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sz="2200" b="0" i="1" noProof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en-US" sz="2200" b="0" noProof="0" dirty="0"/>
              </a:p>
              <a:p>
                <a:pPr>
                  <a:lnSpc>
                    <a:spcPct val="100000"/>
                  </a:lnSpc>
                </a:pPr>
                <a:endParaRPr lang="en-US" sz="2200" noProof="0" dirty="0"/>
              </a:p>
              <a:p>
                <a:pPr>
                  <a:lnSpc>
                    <a:spcPct val="100000"/>
                  </a:lnSpc>
                </a:pPr>
                <a:r>
                  <a:rPr lang="en-US" sz="2200" noProof="0" dirty="0"/>
                  <a:t>That is,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noProof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200" i="1" noProof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200" b="0" i="0" noProof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b="0" noProof="0" dirty="0"/>
                  <a:t>produces, </a:t>
                </a:r>
                <a:r>
                  <a:rPr lang="en-US" sz="2200" noProof="0" dirty="0"/>
                  <a:t>asymptotically in </a:t>
                </a:r>
                <a14:m>
                  <m:oMath xmlns:m="http://schemas.openxmlformats.org/officeDocument/2006/math">
                    <m:r>
                      <a:rPr lang="en-US" sz="2200" i="1" noProof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200" noProof="0" dirty="0"/>
                  <a:t>,</a:t>
                </a:r>
                <a:r>
                  <a:rPr lang="en-US" sz="2200" b="0" noProof="0" dirty="0"/>
                  <a:t> a point cloud that is a full-rank linear transformation of </a:t>
                </a:r>
                <a:r>
                  <a:rPr lang="en-US" sz="2200" b="0" noProof="0" dirty="0" err="1"/>
                  <a:t>i.i.d.</a:t>
                </a:r>
                <a:r>
                  <a:rPr lang="en-US" sz="2200" noProof="0" dirty="0"/>
                  <a:t> draws</a:t>
                </a:r>
                <a:r>
                  <a:rPr lang="en-US" sz="2200" b="0" noProof="0" dirty="0"/>
                  <a:t> from a </a:t>
                </a:r>
                <a14:m>
                  <m:oMath xmlns:m="http://schemas.openxmlformats.org/officeDocument/2006/math"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200" b="0" noProof="0" dirty="0"/>
                  <a:t>-component </a:t>
                </a:r>
                <a14:m>
                  <m:oMath xmlns:m="http://schemas.openxmlformats.org/officeDocument/2006/math">
                    <m:r>
                      <a:rPr lang="en-US" sz="2200" i="1" noProof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200" noProof="0" dirty="0"/>
                  <a:t>-dimensional GMM.</a:t>
                </a:r>
                <a:endParaRPr lang="en-US" sz="2200" b="1" noProof="0" dirty="0"/>
              </a:p>
              <a:p>
                <a:pPr>
                  <a:lnSpc>
                    <a:spcPct val="100000"/>
                  </a:lnSpc>
                </a:pPr>
                <a:endParaRPr lang="en-US" b="0" noProof="0" dirty="0"/>
              </a:p>
            </p:txBody>
          </p:sp>
        </mc:Choice>
        <mc:Fallback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30477A3D-4ECA-4258-2E10-629B60E03D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6500" y="1419457"/>
                <a:ext cx="10301817" cy="4960123"/>
              </a:xfrm>
              <a:prstGeom prst="rect">
                <a:avLst/>
              </a:prstGeom>
              <a:blipFill>
                <a:blip r:embed="rId3"/>
                <a:stretch>
                  <a:fillRect t="-737" r="-5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EA3A029D-255D-4D3E-45BC-2C4C73A61268}"/>
              </a:ext>
            </a:extLst>
          </p:cNvPr>
          <p:cNvSpPr txBox="1">
            <a:spLocks/>
          </p:cNvSpPr>
          <p:nvPr/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Aft>
                <a:spcPts val="800"/>
              </a:spcAft>
            </a:pPr>
            <a:r>
              <a:rPr lang="en-US" sz="930" noProof="0" dirty="0">
                <a:solidFill>
                  <a:srgbClr val="E30613"/>
                </a:solidFill>
              </a:rPr>
              <a:t>INDY</a:t>
            </a:r>
          </a:p>
        </p:txBody>
      </p:sp>
    </p:spTree>
    <p:extLst>
      <p:ext uri="{BB962C8B-B14F-4D97-AF65-F5344CB8AC3E}">
        <p14:creationId xmlns:p14="http://schemas.microsoft.com/office/powerpoint/2010/main" val="1920880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17AEC-89CE-1030-D150-4727023A2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2">
            <a:extLst>
              <a:ext uri="{FF2B5EF4-FFF2-40B4-BE49-F238E27FC236}">
                <a16:creationId xmlns:a16="http://schemas.microsoft.com/office/drawing/2014/main" id="{C90193BB-F1F6-E9E2-5E1E-D612048CE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0" y="174711"/>
            <a:ext cx="7150099" cy="561889"/>
          </a:xfrm>
        </p:spPr>
        <p:txBody>
          <a:bodyPr anchor="ctr">
            <a:normAutofit fontScale="90000"/>
          </a:bodyPr>
          <a:lstStyle/>
          <a:p>
            <a:r>
              <a:rPr lang="en-US" sz="3800" noProof="0" dirty="0">
                <a:latin typeface="+mn-lt"/>
              </a:rPr>
              <a:t>Spectral Clustering – GMM fitting</a:t>
            </a:r>
            <a:endParaRPr lang="en-US" sz="3800" b="0" noProof="0" dirty="0">
              <a:latin typeface="+mn-lt"/>
            </a:endParaRP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27377D0-BDC4-97B0-0E51-9B60D2CA7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Nicolas Gonzalez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46AE726-94B6-8967-D420-E6A7342A9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en-US" noProof="0" smtClean="0"/>
              <a:pPr>
                <a:spcAft>
                  <a:spcPts val="600"/>
                </a:spcAft>
              </a:pPr>
              <a:t>19</a:t>
            </a:fld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39A28887-6049-056B-3E29-90F1BEA7A72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06500" y="1419457"/>
                <a:ext cx="10301817" cy="4960123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lIns="180000" tIns="45720" rIns="91440" bIns="45720" rtlCol="0">
                <a:normAutofit/>
              </a:bodyPr>
              <a:lstStyle>
                <a:lvl1pPr marL="228594" indent="-228594" algn="l" defTabSz="914377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1"/>
                  </a:buClr>
                  <a:buSzPct val="90000"/>
                  <a:buFont typeface="Wingdings" pitchFamily="2" charset="2"/>
                  <a:buChar char="§"/>
                  <a:defRPr sz="2400" b="0" i="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68578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2133" b="0" i="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1142971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SzPct val="90000"/>
                  <a:buFont typeface="Wingdings" pitchFamily="2" charset="2"/>
                  <a:buChar char="§"/>
                  <a:defRPr sz="2000" b="0" i="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600160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2057349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514537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en-US" noProof="0" dirty="0"/>
                  <a:t>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noProof="0" dirty="0"/>
                  <a:t> behaves like a </a:t>
                </a:r>
                <a14:m>
                  <m:oMath xmlns:m="http://schemas.openxmlformats.org/officeDocument/2006/math">
                    <m:r>
                      <a:rPr lang="en-US" i="1" noProof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noProof="0" dirty="0"/>
                  <a:t>-component Gaussian Mixture Model, we can estimate (</a:t>
                </a:r>
                <a:r>
                  <a:rPr lang="en-US" i="1" noProof="0" dirty="0"/>
                  <a:t>e.g.</a:t>
                </a:r>
                <a:r>
                  <a:rPr lang="en-US" noProof="0" dirty="0"/>
                  <a:t> with Expectation-maximization algorithm) the underlying 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0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noProof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noProof="0" dirty="0"/>
                  <a:t> and obtain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acc>
                      </m:e>
                      <m:sub>
                        <m:r>
                          <a:rPr lang="en-US" i="1" noProof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 noProof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b="0" i="0" noProof="0" smtClean="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</m:acc>
                      </m:e>
                      <m:sub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noProof="0" dirty="0"/>
                  <a:t>.</a:t>
                </a:r>
                <a:br>
                  <a:rPr lang="en-US" noProof="0" dirty="0"/>
                </a:br>
                <a:endParaRPr lang="en-US" noProof="0" dirty="0"/>
              </a:p>
              <a:p>
                <a:pPr>
                  <a:lnSpc>
                    <a:spcPct val="100000"/>
                  </a:lnSpc>
                </a:pPr>
                <a:r>
                  <a:rPr lang="en-US" noProof="0" dirty="0"/>
                  <a:t>Then, to estimate the labels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acc>
                  </m:oMath>
                </a14:m>
                <a:r>
                  <a:rPr lang="en-US" noProof="0" dirty="0"/>
                  <a:t>, we compute for each node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1" noProof="0" dirty="0"/>
                  <a:t>, </a:t>
                </a:r>
                <a:r>
                  <a:rPr lang="en-US" noProof="0" dirty="0"/>
                  <a:t>the posterior probability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𝑖𝑘</m:t>
                        </m:r>
                      </m:sub>
                    </m:sSub>
                  </m:oMath>
                </a14:m>
                <a:r>
                  <a:rPr lang="en-US" noProof="0" dirty="0"/>
                  <a:t> that its embedding representation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b="0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noProof="0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b="0" i="1" noProof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noProof="0" dirty="0"/>
                  <a:t> was generated by Gaussian component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noProof="0" dirty="0"/>
                  <a:t>. Finally, we simply set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noProof="0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acc>
                        </m:e>
                        <m: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0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noProof="0" smtClean="0">
                              <a:latin typeface="Cambria Math" panose="02040503050406030204" pitchFamily="18" charset="0"/>
                            </a:rPr>
                            <m:t>argmax</m:t>
                          </m:r>
                        </m:e>
                        <m:sub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0" noProof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noProof="0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i="1" noProof="0" smtClean="0">
                              <a:latin typeface="Cambria Math" panose="02040503050406030204" pitchFamily="18" charset="0"/>
                            </a:rPr>
                            <m:t>𝑖𝑘</m:t>
                          </m:r>
                        </m:sub>
                      </m:sSub>
                    </m:oMath>
                  </m:oMathPara>
                </a14:m>
                <a:endParaRPr lang="en-US" noProof="0" dirty="0"/>
              </a:p>
            </p:txBody>
          </p:sp>
        </mc:Choice>
        <mc:Fallback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39A28887-6049-056B-3E29-90F1BEA7A7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6500" y="1419457"/>
                <a:ext cx="10301817" cy="4960123"/>
              </a:xfrm>
              <a:prstGeom prst="rect">
                <a:avLst/>
              </a:prstGeom>
              <a:blipFill>
                <a:blip r:embed="rId3"/>
                <a:stretch>
                  <a:fillRect t="-86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29EC1B41-9239-BE57-D16B-873A046B2889}"/>
              </a:ext>
            </a:extLst>
          </p:cNvPr>
          <p:cNvSpPr txBox="1">
            <a:spLocks/>
          </p:cNvSpPr>
          <p:nvPr/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Aft>
                <a:spcPts val="800"/>
              </a:spcAft>
            </a:pPr>
            <a:r>
              <a:rPr lang="en-US" sz="930" noProof="0" dirty="0">
                <a:solidFill>
                  <a:srgbClr val="E30613"/>
                </a:solidFill>
              </a:rPr>
              <a:t>INDY</a:t>
            </a:r>
          </a:p>
        </p:txBody>
      </p:sp>
    </p:spTree>
    <p:extLst>
      <p:ext uri="{BB962C8B-B14F-4D97-AF65-F5344CB8AC3E}">
        <p14:creationId xmlns:p14="http://schemas.microsoft.com/office/powerpoint/2010/main" val="3711677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F29CB-37C8-4FB7-C80F-7C0C89D08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9C299AC-667B-8FE3-DBCF-5C1CB6A3B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Nicolas Gonzalez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C84D311-04C3-CF21-0A3E-4CE7696ED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en-US" noProof="0" smtClean="0"/>
              <a:pPr>
                <a:spcAft>
                  <a:spcPts val="600"/>
                </a:spcAft>
              </a:pPr>
              <a:t>20</a:t>
            </a:fld>
            <a:endParaRPr lang="en-US" noProof="0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126F951B-E3FC-5CE4-2362-D65E207A4823}"/>
              </a:ext>
            </a:extLst>
          </p:cNvPr>
          <p:cNvSpPr txBox="1">
            <a:spLocks/>
          </p:cNvSpPr>
          <p:nvPr/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Aft>
                <a:spcPts val="800"/>
              </a:spcAft>
            </a:pPr>
            <a:r>
              <a:rPr lang="en-US" sz="930" noProof="0" dirty="0">
                <a:solidFill>
                  <a:srgbClr val="E30613"/>
                </a:solidFill>
              </a:rPr>
              <a:t>INDY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A78289A0-476D-EB1D-3EA9-3C9ECD381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0" y="174711"/>
            <a:ext cx="7150099" cy="561889"/>
          </a:xfrm>
        </p:spPr>
        <p:txBody>
          <a:bodyPr anchor="ctr">
            <a:normAutofit fontScale="90000"/>
          </a:bodyPr>
          <a:lstStyle/>
          <a:p>
            <a:r>
              <a:rPr lang="en-US" sz="3800" noProof="0" dirty="0">
                <a:latin typeface="+mn-lt"/>
              </a:rPr>
              <a:t>Spectral Clustering – GMM fitting</a:t>
            </a:r>
            <a:endParaRPr lang="en-US" sz="3800" b="0" noProof="0" dirty="0">
              <a:latin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C897E99B-8F62-FB58-FE15-7ADB130C62B8}"/>
                  </a:ext>
                </a:extLst>
              </p:cNvPr>
              <p:cNvSpPr txBox="1"/>
              <p:nvPr/>
            </p:nvSpPr>
            <p:spPr>
              <a:xfrm>
                <a:off x="9231332" y="978360"/>
                <a:ext cx="1995005" cy="13429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noProof="0" smtClean="0">
                              <a:solidFill>
                                <a:srgbClr val="00B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noProof="0" smtClean="0">
                              <a:solidFill>
                                <a:srgbClr val="00BFFF"/>
                              </a:solidFill>
                              <a:latin typeface="Cambria Math" panose="02040503050406030204" pitchFamily="18" charset="0"/>
                            </a:rPr>
                            <m:t>𝒩</m:t>
                          </m:r>
                        </m:e>
                        <m:sub>
                          <m:r>
                            <a:rPr lang="en-US" sz="2400" b="0" i="1" noProof="0" smtClean="0">
                              <a:solidFill>
                                <a:srgbClr val="00BFFF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b="0" i="1" noProof="0" smtClean="0">
                              <a:solidFill>
                                <a:srgbClr val="00BFFF"/>
                              </a:solidFill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</m:sSub>
                      <m:d>
                        <m:dPr>
                          <m:ctrlPr>
                            <a:rPr lang="en-US" sz="2400" b="0" i="1" noProof="0" smtClean="0">
                              <a:solidFill>
                                <a:srgbClr val="00B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noProof="0" smtClean="0">
                                  <a:solidFill>
                                    <a:srgbClr val="00B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b="0" i="1" noProof="0" smtClean="0">
                                      <a:solidFill>
                                        <a:srgbClr val="00B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noProof="0" smtClean="0">
                                      <a:solidFill>
                                        <a:srgbClr val="00B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b="0" i="1" noProof="0" smtClean="0">
                                  <a:solidFill>
                                    <a:srgbClr val="00BFFF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400" b="0" i="1" noProof="0" smtClean="0">
                              <a:solidFill>
                                <a:srgbClr val="00BF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noProof="0" smtClean="0">
                                  <a:solidFill>
                                    <a:srgbClr val="00B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b="0" i="1" noProof="0" smtClean="0">
                                      <a:solidFill>
                                        <a:srgbClr val="00B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b="0" i="0" noProof="0" smtClean="0">
                                      <a:solidFill>
                                        <a:srgbClr val="00BFFF"/>
                                      </a:solidFill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b="0" i="1" noProof="0" smtClean="0">
                                  <a:solidFill>
                                    <a:srgbClr val="00BFFF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noProof="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noProof="0" smtClean="0">
                              <a:solidFill>
                                <a:srgbClr val="FF5AA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noProof="0" smtClean="0">
                              <a:solidFill>
                                <a:srgbClr val="FF5AAC"/>
                              </a:solidFill>
                              <a:latin typeface="Cambria Math" panose="02040503050406030204" pitchFamily="18" charset="0"/>
                            </a:rPr>
                            <m:t>𝒩</m:t>
                          </m:r>
                        </m:e>
                        <m:sub>
                          <m:r>
                            <a:rPr lang="en-US" sz="2400" b="0" i="1" noProof="0" smtClean="0">
                              <a:solidFill>
                                <a:srgbClr val="FF5AAC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b="0" i="1" noProof="0" smtClean="0">
                              <a:solidFill>
                                <a:srgbClr val="FF5AAC"/>
                              </a:solidFill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</m:sSub>
                      <m:d>
                        <m:dPr>
                          <m:ctrlPr>
                            <a:rPr lang="en-US" sz="2400" b="0" i="1" noProof="0" smtClean="0">
                              <a:solidFill>
                                <a:srgbClr val="FF5AAC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noProof="0" smtClean="0">
                                  <a:solidFill>
                                    <a:srgbClr val="FF5AA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i="1" noProof="0" smtClean="0">
                                      <a:solidFill>
                                        <a:srgbClr val="FF5AAC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 noProof="0" smtClean="0">
                                      <a:solidFill>
                                        <a:srgbClr val="FF5AAC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b="0" i="1" noProof="0" smtClean="0">
                                  <a:solidFill>
                                    <a:srgbClr val="FF5AAC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noProof="0">
                              <a:solidFill>
                                <a:srgbClr val="FF5AAC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 noProof="0">
                                  <a:solidFill>
                                    <a:srgbClr val="FF5AA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i="1" noProof="0" smtClean="0">
                                      <a:solidFill>
                                        <a:srgbClr val="FF5AAC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noProof="0" smtClean="0">
                                      <a:solidFill>
                                        <a:srgbClr val="FF5AAC"/>
                                      </a:solidFill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b="0" i="1" noProof="0" smtClean="0">
                                  <a:solidFill>
                                    <a:srgbClr val="FF5AAC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noProof="0" dirty="0">
                  <a:solidFill>
                    <a:srgbClr val="FF5AAC"/>
                  </a:solidFill>
                </a:endParaRPr>
              </a:p>
            </p:txBody>
          </p:sp>
        </mc:Choice>
        <mc:Fallback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C897E99B-8F62-FB58-FE15-7ADB130C62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1332" y="978360"/>
                <a:ext cx="1995005" cy="13429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Image 13">
            <a:extLst>
              <a:ext uri="{FF2B5EF4-FFF2-40B4-BE49-F238E27FC236}">
                <a16:creationId xmlns:a16="http://schemas.microsoft.com/office/drawing/2014/main" id="{90C60009-1172-763F-2BBD-1FF8399DF4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87847" y="978360"/>
            <a:ext cx="7443485" cy="5561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9387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AEE21-1FA9-0039-8982-B6059C971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F6C4397-7A5D-F69B-050E-8C40FDB9B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Nicolas Gonzalez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07D8AF8-C153-9021-CC82-C598D6886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en-US" noProof="0" smtClean="0"/>
              <a:pPr>
                <a:spcAft>
                  <a:spcPts val="600"/>
                </a:spcAft>
              </a:pPr>
              <a:t>21</a:t>
            </a:fld>
            <a:endParaRPr lang="en-US" noProof="0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12533939-C033-0774-5F60-A9989BB8552F}"/>
              </a:ext>
            </a:extLst>
          </p:cNvPr>
          <p:cNvSpPr txBox="1">
            <a:spLocks/>
          </p:cNvSpPr>
          <p:nvPr/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Aft>
                <a:spcPts val="800"/>
              </a:spcAft>
            </a:pPr>
            <a:r>
              <a:rPr lang="en-US" sz="930" noProof="0" dirty="0">
                <a:solidFill>
                  <a:srgbClr val="E30613"/>
                </a:solidFill>
              </a:rPr>
              <a:t>INDY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1E921A87-E607-B03A-9F9B-797F62DEC03A}"/>
                  </a:ext>
                </a:extLst>
              </p:cNvPr>
              <p:cNvSpPr txBox="1"/>
              <p:nvPr/>
            </p:nvSpPr>
            <p:spPr>
              <a:xfrm>
                <a:off x="9231332" y="978360"/>
                <a:ext cx="1557867" cy="6614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acc>
                        </m:e>
                        <m:sub>
                          <m:r>
                            <a:rPr lang="en-US" sz="24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noProof="0" smtClean="0">
                              <a:solidFill>
                                <a:srgbClr val="00BFF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4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0" i="1" noProof="0" smtClean="0">
                              <a:solidFill>
                                <a:srgbClr val="FF5AAC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2400" noProof="0" dirty="0"/>
              </a:p>
            </p:txBody>
          </p:sp>
        </mc:Choice>
        <mc:Fallback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1E921A87-E607-B03A-9F9B-797F62DEC0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1332" y="978360"/>
                <a:ext cx="1557867" cy="6614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Image 1">
            <a:extLst>
              <a:ext uri="{FF2B5EF4-FFF2-40B4-BE49-F238E27FC236}">
                <a16:creationId xmlns:a16="http://schemas.microsoft.com/office/drawing/2014/main" id="{598A396A-87DF-2F7A-84C6-34A3450F51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87847" y="978360"/>
            <a:ext cx="7443485" cy="5561293"/>
          </a:xfrm>
          <a:prstGeom prst="rect">
            <a:avLst/>
          </a:prstGeom>
        </p:spPr>
      </p:pic>
      <p:sp>
        <p:nvSpPr>
          <p:cNvPr id="9" name="Title 2">
            <a:extLst>
              <a:ext uri="{FF2B5EF4-FFF2-40B4-BE49-F238E27FC236}">
                <a16:creationId xmlns:a16="http://schemas.microsoft.com/office/drawing/2014/main" id="{4A0E090F-C995-4EF1-6F16-4FF16367B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0" y="174711"/>
            <a:ext cx="7150099" cy="561889"/>
          </a:xfrm>
        </p:spPr>
        <p:txBody>
          <a:bodyPr anchor="ctr">
            <a:normAutofit fontScale="90000"/>
          </a:bodyPr>
          <a:lstStyle/>
          <a:p>
            <a:r>
              <a:rPr lang="en-US" sz="3800" noProof="0" dirty="0">
                <a:latin typeface="+mn-lt"/>
              </a:rPr>
              <a:t>Spectral Clustering – GMM fitting</a:t>
            </a:r>
            <a:endParaRPr lang="en-US" sz="3800" b="0" noProof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777966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385A7-FEED-2A61-CF05-28BDE7BE1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A80CC49-6406-9FE7-23B7-B9639C7A7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Nicolas Gonzalez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1C27055-3D55-609B-AD1D-77BDF4F4C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en-US" noProof="0" smtClean="0"/>
              <a:pPr>
                <a:spcAft>
                  <a:spcPts val="600"/>
                </a:spcAft>
              </a:pPr>
              <a:t>22</a:t>
            </a:fld>
            <a:endParaRPr lang="en-US" noProof="0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A592F7E3-D647-D411-791E-D71BFDE8D0D8}"/>
              </a:ext>
            </a:extLst>
          </p:cNvPr>
          <p:cNvSpPr txBox="1">
            <a:spLocks/>
          </p:cNvSpPr>
          <p:nvPr/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Aft>
                <a:spcPts val="800"/>
              </a:spcAft>
            </a:pPr>
            <a:r>
              <a:rPr lang="en-US" sz="930" noProof="0" dirty="0">
                <a:solidFill>
                  <a:srgbClr val="E30613"/>
                </a:solidFill>
              </a:rPr>
              <a:t>INDY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C263DF8B-83FA-0270-21A4-9926D0FABD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87848" y="978360"/>
            <a:ext cx="7443483" cy="556129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60D23839-D8B3-FB9E-AE71-130C6E28180A}"/>
                  </a:ext>
                </a:extLst>
              </p:cNvPr>
              <p:cNvSpPr txBox="1"/>
              <p:nvPr/>
            </p:nvSpPr>
            <p:spPr>
              <a:xfrm>
                <a:off x="9231332" y="978360"/>
                <a:ext cx="1557867" cy="6614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24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noProof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4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0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2400" noProof="0" dirty="0"/>
              </a:p>
            </p:txBody>
          </p:sp>
        </mc:Choice>
        <mc:Fallback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60D23839-D8B3-FB9E-AE71-130C6E2818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1332" y="978360"/>
                <a:ext cx="1557867" cy="6614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le 2">
            <a:extLst>
              <a:ext uri="{FF2B5EF4-FFF2-40B4-BE49-F238E27FC236}">
                <a16:creationId xmlns:a16="http://schemas.microsoft.com/office/drawing/2014/main" id="{DF370FBA-DB7E-8A2A-61F2-6DFA801B1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0" y="174711"/>
            <a:ext cx="7150099" cy="561889"/>
          </a:xfrm>
        </p:spPr>
        <p:txBody>
          <a:bodyPr anchor="ctr">
            <a:normAutofit fontScale="90000"/>
          </a:bodyPr>
          <a:lstStyle/>
          <a:p>
            <a:r>
              <a:rPr lang="en-US" sz="3800" noProof="0" dirty="0">
                <a:latin typeface="+mn-lt"/>
              </a:rPr>
              <a:t>Spectral Clustering – GMM fitting</a:t>
            </a:r>
            <a:endParaRPr lang="en-US" sz="3800" b="0" noProof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727293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4B7DE-33C7-DDD4-2A62-82B0A3E76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59900B4-7864-87F6-4EC6-16A44A17C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Nicolas Gonzalez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2489906-01B0-A1D1-0375-98E339874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en-US" noProof="0" smtClean="0"/>
              <a:pPr>
                <a:spcAft>
                  <a:spcPts val="600"/>
                </a:spcAft>
              </a:pPr>
              <a:t>23</a:t>
            </a:fld>
            <a:endParaRPr lang="en-US" noProof="0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7B8B9F85-5563-D9C4-B588-6AFD92DE3CED}"/>
              </a:ext>
            </a:extLst>
          </p:cNvPr>
          <p:cNvSpPr txBox="1">
            <a:spLocks/>
          </p:cNvSpPr>
          <p:nvPr/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Aft>
                <a:spcPts val="800"/>
              </a:spcAft>
            </a:pPr>
            <a:r>
              <a:rPr lang="en-US" sz="930" noProof="0" dirty="0">
                <a:solidFill>
                  <a:srgbClr val="E30613"/>
                </a:solidFill>
              </a:rPr>
              <a:t>INDY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09AE8D6-731A-5735-BBD2-DD4025B12D35}"/>
              </a:ext>
            </a:extLst>
          </p:cNvPr>
          <p:cNvSpPr txBox="1">
            <a:spLocks/>
          </p:cNvSpPr>
          <p:nvPr/>
        </p:nvSpPr>
        <p:spPr>
          <a:xfrm>
            <a:off x="945091" y="1201631"/>
            <a:ext cx="10301817" cy="445473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180000" tIns="45720" rIns="91440" bIns="45720" rtlCol="0" anchor="ctr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90000"/>
              <a:buFont typeface="Wingdings" pitchFamily="2" charset="2"/>
              <a:buChar char="§"/>
              <a:defRPr sz="24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133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SzPct val="90000"/>
              <a:buFont typeface="Wingdings" pitchFamily="2" charset="2"/>
              <a:buChar char="§"/>
              <a:defRPr sz="20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3600" noProof="0" dirty="0"/>
              <a:t>Obviously, it doesn’t always work.</a:t>
            </a:r>
          </a:p>
        </p:txBody>
      </p:sp>
    </p:spTree>
    <p:extLst>
      <p:ext uri="{BB962C8B-B14F-4D97-AF65-F5344CB8AC3E}">
        <p14:creationId xmlns:p14="http://schemas.microsoft.com/office/powerpoint/2010/main" val="27969375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5F5E0-DCD9-890D-FD80-DE1964B38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A10D8D0-D158-E518-5818-7D599F76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Nicolas Gonzalez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284B0BA-D803-25CF-7EAA-979A67AF5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en-US" noProof="0" smtClean="0"/>
              <a:pPr>
                <a:spcAft>
                  <a:spcPts val="600"/>
                </a:spcAft>
              </a:pPr>
              <a:t>24</a:t>
            </a:fld>
            <a:endParaRPr lang="en-US" noProof="0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7F430D10-707E-A9B8-1CB2-7EADDC342231}"/>
              </a:ext>
            </a:extLst>
          </p:cNvPr>
          <p:cNvSpPr txBox="1">
            <a:spLocks/>
          </p:cNvSpPr>
          <p:nvPr/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Aft>
                <a:spcPts val="800"/>
              </a:spcAft>
            </a:pPr>
            <a:r>
              <a:rPr lang="en-US" sz="930" noProof="0" dirty="0">
                <a:solidFill>
                  <a:srgbClr val="E30613"/>
                </a:solidFill>
              </a:rPr>
              <a:t>INDY</a:t>
            </a:r>
          </a:p>
        </p:txBody>
      </p:sp>
      <p:sp>
        <p:nvSpPr>
          <p:cNvPr id="13" name="Title 2">
            <a:extLst>
              <a:ext uri="{FF2B5EF4-FFF2-40B4-BE49-F238E27FC236}">
                <a16:creationId xmlns:a16="http://schemas.microsoft.com/office/drawing/2014/main" id="{1EE372A5-DC17-A3E8-DCC0-4060BE3B8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0" y="174711"/>
            <a:ext cx="7150099" cy="561889"/>
          </a:xfrm>
        </p:spPr>
        <p:txBody>
          <a:bodyPr anchor="ctr">
            <a:normAutofit fontScale="90000"/>
          </a:bodyPr>
          <a:lstStyle/>
          <a:p>
            <a:r>
              <a:rPr lang="en-US" sz="3800" noProof="0" dirty="0">
                <a:latin typeface="+mn-lt"/>
              </a:rPr>
              <a:t>Spectral Clustering – GMM fitting</a:t>
            </a:r>
            <a:endParaRPr lang="en-US" sz="3800" b="0" noProof="0" dirty="0">
              <a:latin typeface="+mn-lt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4BCAC5AA-50B3-0D3F-47D5-A26204532E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44498" y="2841442"/>
            <a:ext cx="4348108" cy="3339252"/>
          </a:xfrm>
          <a:prstGeom prst="rect">
            <a:avLst/>
          </a:prstGeom>
          <a:ln>
            <a:solidFill>
              <a:schemeClr val="tx1">
                <a:lumMod val="50000"/>
              </a:schemeClr>
            </a:solidFill>
          </a:ln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B9882593-A766-64C2-83F9-DFAC7D89F2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99394" y="1171816"/>
            <a:ext cx="4348108" cy="3339252"/>
          </a:xfrm>
          <a:prstGeom prst="rect">
            <a:avLst/>
          </a:prstGeom>
          <a:ln>
            <a:solidFill>
              <a:schemeClr val="tx1">
                <a:lumMod val="50000"/>
              </a:schemeClr>
            </a:solidFill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064B56CC-C828-EC59-1D0F-0541DB72F389}"/>
                  </a:ext>
                </a:extLst>
              </p:cNvPr>
              <p:cNvSpPr txBox="1"/>
              <p:nvPr/>
            </p:nvSpPr>
            <p:spPr>
              <a:xfrm>
                <a:off x="1144498" y="2841443"/>
                <a:ext cx="675217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US" sz="2400" noProof="0" dirty="0"/>
              </a:p>
            </p:txBody>
          </p:sp>
        </mc:Choice>
        <mc:Fallback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064B56CC-C828-EC59-1D0F-0541DB72F3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4498" y="2841443"/>
                <a:ext cx="675217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B3E41C68-6F55-922A-A84D-1FF6E9B9252F}"/>
                  </a:ext>
                </a:extLst>
              </p:cNvPr>
              <p:cNvSpPr txBox="1"/>
              <p:nvPr/>
            </p:nvSpPr>
            <p:spPr>
              <a:xfrm>
                <a:off x="6699394" y="1171816"/>
                <a:ext cx="675217" cy="6614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4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noProof="0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acc>
                      <m:r>
                        <a:rPr lang="en-US" sz="2400" b="0" i="1" noProof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noProof="0" dirty="0"/>
              </a:p>
            </p:txBody>
          </p:sp>
        </mc:Choice>
        <mc:Fallback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B3E41C68-6F55-922A-A84D-1FF6E9B925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9394" y="1171816"/>
                <a:ext cx="675217" cy="6614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ZoneTexte 20">
            <a:extLst>
              <a:ext uri="{FF2B5EF4-FFF2-40B4-BE49-F238E27FC236}">
                <a16:creationId xmlns:a16="http://schemas.microsoft.com/office/drawing/2014/main" id="{07F0B1F8-DA69-36FF-0BFC-A6AD7D6C3B77}"/>
              </a:ext>
            </a:extLst>
          </p:cNvPr>
          <p:cNvSpPr txBox="1"/>
          <p:nvPr/>
        </p:nvSpPr>
        <p:spPr>
          <a:xfrm>
            <a:off x="6699394" y="5411253"/>
            <a:ext cx="4502006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200" noProof="0" dirty="0"/>
              <a:t>Poor community separation and hence poor classification accuracy</a:t>
            </a:r>
          </a:p>
        </p:txBody>
      </p:sp>
    </p:spTree>
    <p:extLst>
      <p:ext uri="{BB962C8B-B14F-4D97-AF65-F5344CB8AC3E}">
        <p14:creationId xmlns:p14="http://schemas.microsoft.com/office/powerpoint/2010/main" val="2814587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8AFA1-0C3A-F95A-05CD-1C3CF20A6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D8BCEC7-6416-8245-F470-7F5564129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Nicolas Gonzalez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683B32C-0B76-32E0-7125-0F5FDAD14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en-US" noProof="0" smtClean="0"/>
              <a:pPr>
                <a:spcAft>
                  <a:spcPts val="600"/>
                </a:spcAft>
              </a:pPr>
              <a:t>25</a:t>
            </a:fld>
            <a:endParaRPr lang="en-US" noProof="0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9EB55299-78CF-EFCC-8C5B-62CD71CF0BF8}"/>
              </a:ext>
            </a:extLst>
          </p:cNvPr>
          <p:cNvSpPr txBox="1">
            <a:spLocks/>
          </p:cNvSpPr>
          <p:nvPr/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Aft>
                <a:spcPts val="800"/>
              </a:spcAft>
            </a:pPr>
            <a:r>
              <a:rPr lang="en-US" sz="930" noProof="0" dirty="0">
                <a:solidFill>
                  <a:srgbClr val="E30613"/>
                </a:solidFill>
              </a:rPr>
              <a:t>INDY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718B6112-0113-49B4-3172-FCEB91D639C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45091" y="1201631"/>
                <a:ext cx="10301817" cy="4454737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lIns="180000" tIns="45720" rIns="91440" bIns="45720" rtlCol="0" anchor="ctr">
                <a:normAutofit/>
              </a:bodyPr>
              <a:lstStyle>
                <a:lvl1pPr marL="228594" indent="-228594" algn="l" defTabSz="914377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1"/>
                  </a:buClr>
                  <a:buSzPct val="90000"/>
                  <a:buFont typeface="Wingdings" pitchFamily="2" charset="2"/>
                  <a:buChar char="§"/>
                  <a:defRPr sz="2400" b="0" i="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68578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2133" b="0" i="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1142971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SzPct val="90000"/>
                  <a:buFont typeface="Wingdings" pitchFamily="2" charset="2"/>
                  <a:buChar char="§"/>
                  <a:defRPr sz="2000" b="0" i="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600160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2057349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514537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US" sz="3600" noProof="0" dirty="0"/>
                  <a:t>Could we consider transforming </a:t>
                </a:r>
                <a14:m>
                  <m:oMath xmlns:m="http://schemas.openxmlformats.org/officeDocument/2006/math">
                    <m:r>
                      <a:rPr lang="en-US" sz="3600" b="0" i="1" noProof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600" b="0" i="1" noProof="0" smtClean="0">
                        <a:latin typeface="Cambria Math" panose="02040503050406030204" pitchFamily="18" charset="0"/>
                      </a:rPr>
                      <m:t>↦</m:t>
                    </m:r>
                    <m:r>
                      <a:rPr lang="en-US" sz="3600" b="0" i="1" noProof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3600" b="0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600" b="0" i="1" noProof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600" b="0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600" noProof="0" dirty="0"/>
                  <a:t> to obtain a spectral embedding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noProof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3600" b="0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3600" b="0" i="1" noProof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3600" b="0" i="1" noProof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3600" b="0" i="1" noProof="0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en-US" sz="3600" noProof="0" dirty="0"/>
                  <a:t> that more clearly separates communities?</a:t>
                </a:r>
              </a:p>
            </p:txBody>
          </p:sp>
        </mc:Choice>
        <mc:Fallback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718B6112-0113-49B4-3172-FCEB91D639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091" y="1201631"/>
                <a:ext cx="10301817" cy="44547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26776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F31B7-624A-0F87-12EB-9B8463BCF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D66BCBB-750B-EAD4-782E-0015235D0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Nicolas Gonzalez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977564A-FFA2-38DE-A462-814DCE587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en-US" noProof="0" smtClean="0"/>
              <a:pPr>
                <a:spcAft>
                  <a:spcPts val="600"/>
                </a:spcAft>
              </a:pPr>
              <a:t>26</a:t>
            </a:fld>
            <a:endParaRPr lang="en-US" noProof="0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D903E660-8E65-B4BD-9F0E-6F51670774D0}"/>
              </a:ext>
            </a:extLst>
          </p:cNvPr>
          <p:cNvSpPr txBox="1">
            <a:spLocks/>
          </p:cNvSpPr>
          <p:nvPr/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Aft>
                <a:spcPts val="800"/>
              </a:spcAft>
            </a:pPr>
            <a:r>
              <a:rPr lang="en-US" sz="930" noProof="0" dirty="0">
                <a:solidFill>
                  <a:srgbClr val="E30613"/>
                </a:solidFill>
              </a:rPr>
              <a:t>INDY</a:t>
            </a:r>
          </a:p>
        </p:txBody>
      </p:sp>
      <p:sp>
        <p:nvSpPr>
          <p:cNvPr id="13" name="Title 2">
            <a:extLst>
              <a:ext uri="{FF2B5EF4-FFF2-40B4-BE49-F238E27FC236}">
                <a16:creationId xmlns:a16="http://schemas.microsoft.com/office/drawing/2014/main" id="{E5FC0048-DD81-FE0F-6DC3-E94658BE0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0" y="174711"/>
            <a:ext cx="7150099" cy="561889"/>
          </a:xfrm>
        </p:spPr>
        <p:txBody>
          <a:bodyPr anchor="ctr">
            <a:normAutofit fontScale="90000"/>
          </a:bodyPr>
          <a:lstStyle/>
          <a:p>
            <a:r>
              <a:rPr lang="en-US" sz="3800" noProof="0" dirty="0">
                <a:latin typeface="+mn-lt"/>
              </a:rPr>
              <a:t>Weight Transformation</a:t>
            </a:r>
            <a:endParaRPr lang="en-US" sz="3800" b="0" noProof="0" dirty="0">
              <a:latin typeface="+mn-lt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16AEFE1C-D0C2-6AD3-273C-F94934D98E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44498" y="2841442"/>
            <a:ext cx="4348107" cy="3339252"/>
          </a:xfrm>
          <a:prstGeom prst="rect">
            <a:avLst/>
          </a:prstGeom>
          <a:ln>
            <a:solidFill>
              <a:schemeClr val="tx1">
                <a:lumMod val="50000"/>
              </a:schemeClr>
            </a:solidFill>
          </a:ln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830AAD52-5039-6B51-EB7D-0F994023F8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99394" y="1191959"/>
            <a:ext cx="4348108" cy="3298966"/>
          </a:xfrm>
          <a:prstGeom prst="rect">
            <a:avLst/>
          </a:prstGeom>
          <a:ln>
            <a:solidFill>
              <a:schemeClr val="tx1">
                <a:lumMod val="50000"/>
              </a:schemeClr>
            </a:solidFill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00683898-EDF2-6BAA-3B24-361A0E97DE91}"/>
                  </a:ext>
                </a:extLst>
              </p:cNvPr>
              <p:cNvSpPr txBox="1"/>
              <p:nvPr/>
            </p:nvSpPr>
            <p:spPr>
              <a:xfrm>
                <a:off x="1144498" y="2841443"/>
                <a:ext cx="675217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2400" noProof="0" dirty="0"/>
              </a:p>
            </p:txBody>
          </p:sp>
        </mc:Choice>
        <mc:Fallback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00683898-EDF2-6BAA-3B24-361A0E97DE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4498" y="2841443"/>
                <a:ext cx="675217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6C494DB8-4B92-FA0D-3ADE-3519E032F008}"/>
                  </a:ext>
                </a:extLst>
              </p:cNvPr>
              <p:cNvSpPr txBox="1"/>
              <p:nvPr/>
            </p:nvSpPr>
            <p:spPr>
              <a:xfrm>
                <a:off x="6699393" y="1171816"/>
                <a:ext cx="1043189" cy="6997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noProof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b="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noProof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noProof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400" b="0" i="1" noProof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en-US" sz="2400" b="0" i="1" noProof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noProof="0" dirty="0"/>
              </a:p>
            </p:txBody>
          </p:sp>
        </mc:Choice>
        <mc:Fallback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6C494DB8-4B92-FA0D-3ADE-3519E032F0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9393" y="1171816"/>
                <a:ext cx="1043189" cy="6997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E4BA220A-E020-B04F-D9BC-890270E85478}"/>
                  </a:ext>
                </a:extLst>
              </p:cNvPr>
              <p:cNvSpPr txBox="1"/>
              <p:nvPr/>
            </p:nvSpPr>
            <p:spPr>
              <a:xfrm>
                <a:off x="6699393" y="5411254"/>
                <a:ext cx="4348109" cy="769441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r>
                  <a:rPr lang="en-US" sz="2200" noProof="0" dirty="0"/>
                  <a:t>Here applying </a:t>
                </a:r>
                <a14:m>
                  <m:oMath xmlns:m="http://schemas.openxmlformats.org/officeDocument/2006/math"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200" noProof="0" dirty="0"/>
                  <a:t> led to a better community separation!</a:t>
                </a:r>
              </a:p>
            </p:txBody>
          </p:sp>
        </mc:Choice>
        <mc:Fallback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E4BA220A-E020-B04F-D9BC-890270E854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9393" y="5411254"/>
                <a:ext cx="4348109" cy="769441"/>
              </a:xfrm>
              <a:prstGeom prst="rect">
                <a:avLst/>
              </a:prstGeom>
              <a:blipFill>
                <a:blip r:embed="rId7"/>
                <a:stretch>
                  <a:fillRect l="-1823" t="-3968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37810E0D-121D-9AA2-4A79-F5AFBC3AAE0E}"/>
                  </a:ext>
                </a:extLst>
              </p:cNvPr>
              <p:cNvSpPr txBox="1"/>
              <p:nvPr/>
            </p:nvSpPr>
            <p:spPr>
              <a:xfrm>
                <a:off x="1143379" y="1171816"/>
                <a:ext cx="2249975" cy="769441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r>
                  <a:rPr lang="en-US" sz="2200" b="0" noProof="0" dirty="0"/>
                  <a:t>Example:</a:t>
                </a:r>
                <a:br>
                  <a:rPr lang="en-US" sz="2200" b="0" noProof="0" dirty="0"/>
                </a:br>
                <a14:m>
                  <m:oMath xmlns:m="http://schemas.openxmlformats.org/officeDocument/2006/math"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US" sz="2200" b="0" i="0" noProof="0" smtClean="0">
                        <a:latin typeface="Cambria Math" panose="02040503050406030204" pitchFamily="18" charset="0"/>
                      </a:rPr>
                      <m:t>BetaWSBM</m:t>
                    </m:r>
                  </m:oMath>
                </a14:m>
                <a:r>
                  <a:rPr lang="en-US" sz="2200" b="0" i="0" noProof="0" dirty="0">
                    <a:latin typeface="Cambria Math" panose="02040503050406030204" pitchFamily="18" charset="0"/>
                  </a:rPr>
                  <a:t> </a:t>
                </a:r>
                <a:endParaRPr lang="en-US" sz="2200" noProof="0" dirty="0"/>
              </a:p>
            </p:txBody>
          </p:sp>
        </mc:Choice>
        <mc:Fallback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37810E0D-121D-9AA2-4A79-F5AFBC3AAE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379" y="1171816"/>
                <a:ext cx="2249975" cy="769441"/>
              </a:xfrm>
              <a:prstGeom prst="rect">
                <a:avLst/>
              </a:prstGeom>
              <a:blipFill>
                <a:blip r:embed="rId8"/>
                <a:stretch>
                  <a:fillRect l="-3523" t="-39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855CC624-C24E-D2E9-D10E-F40A9BD94584}"/>
                  </a:ext>
                </a:extLst>
              </p:cNvPr>
              <p:cNvSpPr txBox="1"/>
              <p:nvPr/>
            </p:nvSpPr>
            <p:spPr>
              <a:xfrm>
                <a:off x="1143379" y="1898481"/>
                <a:ext cx="2249974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en-US" sz="2200" b="0" i="0" noProof="0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sz="2200" i="1" noProof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200" b="1" i="0" noProof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b="1" i="1" noProof="0" smtClean="0">
                        <a:latin typeface="Cambria Math" panose="02040503050406030204" pitchFamily="18" charset="0"/>
                      </a:rPr>
                      <m:t>↦</m:t>
                    </m:r>
                    <m:r>
                      <m:rPr>
                        <m:nor/>
                      </m:rPr>
                      <a:rPr lang="en-US" sz="2200" b="1" noProof="0"/>
                      <m:t>𝟙</m:t>
                    </m:r>
                    <m:r>
                      <a:rPr lang="en-US" sz="2200" i="1" noProof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noProof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200" i="1" noProof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200" i="1" noProof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noProof="0" dirty="0"/>
                  <a:t> </a:t>
                </a:r>
              </a:p>
            </p:txBody>
          </p:sp>
        </mc:Choice>
        <mc:Fallback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855CC624-C24E-D2E9-D10E-F40A9BD94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379" y="1898481"/>
                <a:ext cx="2249974" cy="430887"/>
              </a:xfrm>
              <a:prstGeom prst="rect">
                <a:avLst/>
              </a:prstGeom>
              <a:blipFill>
                <a:blip r:embed="rId9"/>
                <a:stretch>
                  <a:fillRect b="-183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00023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1" grpId="0"/>
      <p:bldP spid="1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D8738-73C7-E22F-905A-B42C538C3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23DD1AA-C20A-17DC-C12B-8EFD94096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Nicolas Gonzalez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2F20F6-7E8E-7A43-280A-18D56A212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en-US" noProof="0" smtClean="0"/>
              <a:pPr>
                <a:spcAft>
                  <a:spcPts val="600"/>
                </a:spcAft>
              </a:pPr>
              <a:t>27</a:t>
            </a:fld>
            <a:endParaRPr lang="en-US" noProof="0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032C6FD5-4B51-1DA1-08E4-4BA9D97BD28E}"/>
              </a:ext>
            </a:extLst>
          </p:cNvPr>
          <p:cNvSpPr txBox="1">
            <a:spLocks/>
          </p:cNvSpPr>
          <p:nvPr/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Aft>
                <a:spcPts val="800"/>
              </a:spcAft>
            </a:pPr>
            <a:r>
              <a:rPr lang="en-US" sz="930" noProof="0" dirty="0">
                <a:solidFill>
                  <a:srgbClr val="E30613"/>
                </a:solidFill>
              </a:rPr>
              <a:t>INDY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3AF6136-15F2-487B-8AE7-D82C2CE8E863}"/>
              </a:ext>
            </a:extLst>
          </p:cNvPr>
          <p:cNvSpPr txBox="1">
            <a:spLocks/>
          </p:cNvSpPr>
          <p:nvPr/>
        </p:nvSpPr>
        <p:spPr>
          <a:xfrm>
            <a:off x="945091" y="1201631"/>
            <a:ext cx="10301817" cy="445473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180000" tIns="45720" rIns="91440" bIns="45720" rtlCol="0" anchor="ctr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90000"/>
              <a:buFont typeface="Wingdings" pitchFamily="2" charset="2"/>
              <a:buChar char="§"/>
              <a:defRPr sz="24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133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SzPct val="90000"/>
              <a:buFont typeface="Wingdings" pitchFamily="2" charset="2"/>
              <a:buChar char="§"/>
              <a:defRPr sz="20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3600" noProof="0" dirty="0"/>
              <a:t>How can we measure community separation?</a:t>
            </a:r>
          </a:p>
        </p:txBody>
      </p:sp>
    </p:spTree>
    <p:extLst>
      <p:ext uri="{BB962C8B-B14F-4D97-AF65-F5344CB8AC3E}">
        <p14:creationId xmlns:p14="http://schemas.microsoft.com/office/powerpoint/2010/main" val="31501978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44686-FE47-CFA2-B886-09B8E411E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2">
            <a:extLst>
              <a:ext uri="{FF2B5EF4-FFF2-40B4-BE49-F238E27FC236}">
                <a16:creationId xmlns:a16="http://schemas.microsoft.com/office/drawing/2014/main" id="{E3DF8251-5794-79C1-DA45-BF4D6473D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0" y="174711"/>
            <a:ext cx="9607273" cy="561889"/>
          </a:xfrm>
        </p:spPr>
        <p:txBody>
          <a:bodyPr anchor="ctr">
            <a:normAutofit fontScale="90000"/>
          </a:bodyPr>
          <a:lstStyle/>
          <a:p>
            <a:r>
              <a:rPr lang="en-US" sz="3800" noProof="0" dirty="0">
                <a:latin typeface="+mn-lt"/>
              </a:rPr>
              <a:t>Separability measure – Chernoff Information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8AB29E5-10A5-743A-4E9F-C7C7011B3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Nicolas Gonzalez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D3B927B-E893-C2B3-66C5-804315DAC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en-US" noProof="0" smtClean="0"/>
              <a:pPr>
                <a:spcAft>
                  <a:spcPts val="600"/>
                </a:spcAft>
              </a:pPr>
              <a:t>28</a:t>
            </a:fld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42C852C7-308C-3088-E9F3-3E5D5DF8698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06500" y="1419457"/>
                <a:ext cx="10301817" cy="517819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lIns="180000" tIns="45720" rIns="91440" bIns="45720" rtlCol="0">
                <a:noAutofit/>
              </a:bodyPr>
              <a:lstStyle>
                <a:lvl1pPr marL="228594" indent="-228594" algn="l" defTabSz="914377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1"/>
                  </a:buClr>
                  <a:buSzPct val="90000"/>
                  <a:buFont typeface="Wingdings" pitchFamily="2" charset="2"/>
                  <a:buChar char="§"/>
                  <a:defRPr sz="2400" b="0" i="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68578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2133" b="0" i="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1142971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SzPct val="90000"/>
                  <a:buFont typeface="Wingdings" pitchFamily="2" charset="2"/>
                  <a:buChar char="§"/>
                  <a:defRPr sz="2000" b="0" i="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600160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2057349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514537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en-US" sz="2200" noProof="0" dirty="0"/>
                  <a:t>The Chernoff information measures the separability of the gaussian distributions in the GMM, and hence the corresponding communities.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2200" noProof="0" dirty="0"/>
                  <a:t>It can be computed from the Spectral embedding GMM parameters or directly from the Graph block matrices</a:t>
                </a:r>
                <a:br>
                  <a:rPr lang="en-US" sz="2200" noProof="0" dirty="0"/>
                </a:br>
                <a:br>
                  <a:rPr lang="en-US" sz="2200" i="1" noProof="0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22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1" i="1" noProof="0" smtClean="0">
                            <a:latin typeface="Cambria Math" panose="02040503050406030204" pitchFamily="18" charset="0"/>
                          </a:rPr>
                          <m:t>𝝁</m:t>
                        </m:r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b="1" i="0" noProof="0" smtClean="0">
                            <a:latin typeface="Cambria Math" panose="02040503050406030204" pitchFamily="18" charset="0"/>
                          </a:rPr>
                          <m:t>𝚺</m:t>
                        </m:r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200" b="0" i="0" noProof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d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200" i="1" noProof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2200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1" i="1" noProof="0">
                            <a:latin typeface="Cambria Math" panose="02040503050406030204" pitchFamily="18" charset="0"/>
                          </a:rPr>
                          <m:t>𝑩</m:t>
                        </m:r>
                        <m:r>
                          <a:rPr lang="en-US" sz="2200" i="1" noProof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b="1" i="1" noProof="0">
                            <a:latin typeface="Cambria Math" panose="02040503050406030204" pitchFamily="18" charset="0"/>
                          </a:rPr>
                          <m:t>𝑪</m:t>
                        </m:r>
                        <m:r>
                          <a:rPr lang="en-US" sz="2200" i="1" noProof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b="1" noProof="0">
                            <a:latin typeface="Cambria Math" panose="02040503050406030204" pitchFamily="18" charset="0"/>
                          </a:rPr>
                          <m:t>𝚷</m:t>
                        </m:r>
                      </m:e>
                    </m:d>
                  </m:oMath>
                </a14:m>
                <a:br>
                  <a:rPr lang="en-US" sz="2200" i="1" noProof="0" dirty="0">
                    <a:latin typeface="Cambria Math" panose="02040503050406030204" pitchFamily="18" charset="0"/>
                  </a:rPr>
                </a:br>
                <a:br>
                  <a:rPr lang="en-US" sz="2200" noProof="0" dirty="0"/>
                </a:br>
                <a14:m>
                  <m:oMath xmlns:m="http://schemas.openxmlformats.org/officeDocument/2006/math"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∈ ]0,</m:t>
                    </m:r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+∞[</m:t>
                    </m:r>
                  </m:oMath>
                </a14:m>
                <a:r>
                  <a:rPr lang="en-US" sz="2200" noProof="0" dirty="0"/>
                  <a:t>. A Chernoff information close to 0 indicates poor separability.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noProof="0" dirty="0">
                    <a:solidFill>
                      <a:schemeClr val="dk1">
                        <a:alpha val="50000"/>
                      </a:schemeClr>
                    </a:solidFill>
                  </a:rPr>
                  <a:t>Definitions</a:t>
                </a:r>
              </a:p>
              <a:p>
                <a:pPr marL="457189" lvl="1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1600" b="0" i="1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16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1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  <m:r>
                          <a:rPr lang="en-US" sz="16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b="1" i="0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𝚺</m:t>
                        </m:r>
                        <m:r>
                          <a:rPr lang="en-US" sz="16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1600" b="0" i="0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d>
                    <m:r>
                      <a:rPr lang="en-US" sz="1600" b="0" i="1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16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1600" b="0" i="1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1600" b="0" i="0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sz="1600" b="0" i="1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1600" b="0" i="1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en-US" sz="1600" b="0" i="1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lim>
                        </m:limLow>
                      </m:fName>
                      <m:e>
                        <m:func>
                          <m:funcPr>
                            <m:ctrlPr>
                              <a:rPr lang="en-US" sz="1600" b="0" i="1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1600" b="0" i="1" noProof="0" smtClean="0">
                                    <a:solidFill>
                                      <a:schemeClr val="dk1">
                                        <a:alpha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1600" b="0" i="0" noProof="0" smtClean="0">
                                    <a:solidFill>
                                      <a:schemeClr val="dk1">
                                        <a:alpha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sup</m:t>
                                </m:r>
                              </m:e>
                              <m:lim>
                                <m:r>
                                  <a:rPr lang="en-US" sz="1600" b="0" i="1" noProof="0" smtClean="0">
                                    <a:solidFill>
                                      <a:schemeClr val="dk1">
                                        <a:alpha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600" b="0" i="1" noProof="0" smtClean="0">
                                    <a:solidFill>
                                      <a:schemeClr val="dk1">
                                        <a:alpha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∈]0,1[</m:t>
                                </m:r>
                              </m:lim>
                            </m:limLow>
                          </m:fName>
                          <m:e>
                            <m:f>
                              <m:fPr>
                                <m:ctrlPr>
                                  <a:rPr lang="en-US" sz="1600" b="0" i="1" noProof="0" smtClean="0">
                                    <a:solidFill>
                                      <a:schemeClr val="dk1">
                                        <a:alpha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600" b="0" i="1" noProof="0" smtClean="0">
                                    <a:solidFill>
                                      <a:schemeClr val="dk1">
                                        <a:alpha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d>
                                  <m:dPr>
                                    <m:ctrlPr>
                                      <a:rPr lang="en-US" sz="1600" b="0" i="1" noProof="0" smtClean="0">
                                        <a:solidFill>
                                          <a:schemeClr val="dk1">
                                            <a:alpha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noProof="0" smtClean="0">
                                        <a:solidFill>
                                          <a:schemeClr val="dk1">
                                            <a:alpha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en-US" sz="1600" b="0" i="1" noProof="0" smtClean="0">
                                        <a:solidFill>
                                          <a:schemeClr val="dk1">
                                            <a:alpha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en-US" sz="1600" b="0" i="1" noProof="0" smtClean="0">
                                    <a:solidFill>
                                      <a:schemeClr val="dk1">
                                        <a:alpha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1600" b="0" i="1" noProof="0" smtClean="0">
                                    <a:solidFill>
                                      <a:schemeClr val="dk1">
                                        <a:alpha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1600" b="0" i="1" noProof="0" smtClean="0">
                                    <a:solidFill>
                                      <a:schemeClr val="dk1">
                                        <a:alpha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1600" b="0" i="1" noProof="0" smtClean="0">
                                        <a:solidFill>
                                          <a:schemeClr val="dk1">
                                            <a:alpha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600" b="0" i="1" noProof="0" smtClean="0">
                                            <a:solidFill>
                                              <a:schemeClr val="dk1">
                                                <a:alpha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1600" b="0" i="1" noProof="0" smtClean="0">
                                                <a:solidFill>
                                                  <a:schemeClr val="dk1">
                                                    <a:alpha val="50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b="1" i="1" noProof="0" smtClean="0">
                                                <a:solidFill>
                                                  <a:schemeClr val="dk1">
                                                    <a:alpha val="50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𝝁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b="0" i="1" noProof="0" smtClean="0">
                                                <a:solidFill>
                                                  <a:schemeClr val="dk1">
                                                    <a:alpha val="50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  <m:r>
                                          <a:rPr lang="en-US" sz="1600" b="0" i="1" noProof="0" smtClean="0">
                                            <a:solidFill>
                                              <a:schemeClr val="dk1">
                                                <a:alpha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600" b="0" i="1" noProof="0" smtClean="0">
                                                <a:solidFill>
                                                  <a:schemeClr val="dk1">
                                                    <a:alpha val="50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b="1" i="1" noProof="0" smtClean="0">
                                                <a:solidFill>
                                                  <a:schemeClr val="dk1">
                                                    <a:alpha val="50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𝝁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b="0" i="1" noProof="0" smtClean="0">
                                                <a:solidFill>
                                                  <a:schemeClr val="dk1">
                                                    <a:alpha val="50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sz="1600" b="0" i="1" noProof="0" smtClean="0">
                                        <a:solidFill>
                                          <a:schemeClr val="dk1">
                                            <a:alpha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⊤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sz="1600" b="0" i="1" noProof="0" smtClean="0">
                                        <a:solidFill>
                                          <a:schemeClr val="dk1">
                                            <a:alpha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0" noProof="0" smtClean="0">
                                        <a:solidFill>
                                          <a:schemeClr val="dk1">
                                            <a:alpha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𝚺</m:t>
                                    </m:r>
                                  </m:e>
                                  <m:sub>
                                    <m:r>
                                      <a:rPr lang="en-US" sz="1600" b="0" i="1" noProof="0" smtClean="0">
                                        <a:solidFill>
                                          <a:schemeClr val="dk1">
                                            <a:alpha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𝑘𝑙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en-US" sz="1600" b="0" i="1" noProof="0" smtClean="0">
                                        <a:solidFill>
                                          <a:schemeClr val="dk1">
                                            <a:alpha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600" b="0" i="1" noProof="0" smtClean="0">
                                            <a:solidFill>
                                              <a:schemeClr val="dk1">
                                                <a:alpha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b="0" i="1" noProof="0" smtClean="0">
                                            <a:solidFill>
                                              <a:schemeClr val="dk1">
                                                <a:alpha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sz="1600" b="0" i="1" noProof="0" smtClean="0">
                                        <a:solidFill>
                                          <a:schemeClr val="dk1">
                                            <a:alpha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sz="1600" i="1" noProof="0" smtClean="0">
                                        <a:solidFill>
                                          <a:schemeClr val="dk1">
                                            <a:alpha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600" i="1" noProof="0" smtClean="0">
                                            <a:solidFill>
                                              <a:schemeClr val="dk1">
                                                <a:alpha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1" i="1" noProof="0" smtClean="0">
                                            <a:solidFill>
                                              <a:schemeClr val="dk1">
                                                <a:alpha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𝝁</m:t>
                                        </m:r>
                                      </m:e>
                                      <m:sub>
                                        <m:r>
                                          <a:rPr lang="en-US" sz="1600" i="1" noProof="0" smtClean="0">
                                            <a:solidFill>
                                              <a:schemeClr val="dk1">
                                                <a:alpha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r>
                                      <a:rPr lang="en-US" sz="1600" i="1" noProof="0" smtClean="0">
                                        <a:solidFill>
                                          <a:schemeClr val="dk1">
                                            <a:alpha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1600" i="1" noProof="0" smtClean="0">
                                            <a:solidFill>
                                              <a:schemeClr val="dk1">
                                                <a:alpha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1" i="1" noProof="0" smtClean="0">
                                            <a:solidFill>
                                              <a:schemeClr val="dk1">
                                                <a:alpha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𝝁</m:t>
                                        </m:r>
                                      </m:e>
                                      <m:sub>
                                        <m:r>
                                          <a:rPr lang="en-US" sz="1600" i="1" noProof="0" smtClean="0">
                                            <a:solidFill>
                                              <a:schemeClr val="dk1">
                                                <a:alpha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</m:func>
                      </m:e>
                    </m:func>
                  </m:oMath>
                </a14:m>
                <a:r>
                  <a:rPr lang="en-US" sz="1400" i="1" noProof="0" dirty="0">
                    <a:solidFill>
                      <a:schemeClr val="dk1">
                        <a:alpha val="50000"/>
                      </a:schemeClr>
                    </a:solidFill>
                    <a:latin typeface="Cambria Math" panose="02040503050406030204" pitchFamily="18" charset="0"/>
                  </a:rPr>
                  <a:t> </a:t>
                </a:r>
                <a:br>
                  <a:rPr lang="en-US" sz="1400" i="1" noProof="0" dirty="0">
                    <a:solidFill>
                      <a:schemeClr val="dk1">
                        <a:alpha val="50000"/>
                      </a:schemeClr>
                    </a:solidFill>
                    <a:latin typeface="Cambria Math" panose="02040503050406030204" pitchFamily="18" charset="0"/>
                  </a:rPr>
                </a:br>
                <a:r>
                  <a:rPr lang="en-US" sz="1200" noProof="0" dirty="0">
                    <a:solidFill>
                      <a:schemeClr val="dk1">
                        <a:alpha val="50000"/>
                      </a:schemeClr>
                    </a:solidFill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𝚺</m:t>
                        </m:r>
                      </m:e>
                      <m:sub>
                        <m:r>
                          <a:rPr lang="en-US" sz="120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𝑘𝑙</m:t>
                        </m:r>
                      </m:sub>
                    </m:sSub>
                    <m:d>
                      <m:dPr>
                        <m:ctrlPr>
                          <a:rPr lang="en-US" sz="1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1200" b="0" i="1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1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sSub>
                      <m:sSubPr>
                        <m:ctrlPr>
                          <a:rPr lang="en-US" sz="120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0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200" b="0" i="0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sz="1200" b="1" i="0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1200" b="0" i="0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sz="1200" b="1" i="1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120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0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𝚺</m:t>
                        </m:r>
                      </m:e>
                      <m:sub>
                        <m:r>
                          <a:rPr lang="en-US" sz="1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endParaRPr lang="en-US" sz="1200" b="0" i="1" noProof="0" dirty="0">
                  <a:solidFill>
                    <a:schemeClr val="dk1">
                      <a:alpha val="5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457189" lvl="1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1600" b="0" i="1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16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1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  <m:r>
                          <a:rPr lang="en-US" sz="16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b="1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  <m:r>
                          <a:rPr lang="en-US" sz="16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b="1" i="0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𝚷</m:t>
                        </m:r>
                      </m:e>
                    </m:d>
                    <m:r>
                      <a:rPr lang="en-US" sz="1600" b="0" i="1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160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1600" i="1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1600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sz="1600" i="1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1600" i="1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en-US" sz="1600" i="1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lim>
                        </m:limLow>
                      </m:fName>
                      <m:e>
                        <m:func>
                          <m:funcPr>
                            <m:ctrlPr>
                              <a:rPr lang="en-US" sz="1600" i="1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1600" i="1" noProof="0" smtClean="0">
                                    <a:solidFill>
                                      <a:schemeClr val="dk1">
                                        <a:alpha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1600" noProof="0" smtClean="0">
                                    <a:solidFill>
                                      <a:schemeClr val="dk1">
                                        <a:alpha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sup</m:t>
                                </m:r>
                              </m:e>
                              <m:lim>
                                <m:r>
                                  <a:rPr lang="en-US" sz="1600" i="1" noProof="0" smtClean="0">
                                    <a:solidFill>
                                      <a:schemeClr val="dk1">
                                        <a:alpha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600" i="1" noProof="0" smtClean="0">
                                    <a:solidFill>
                                      <a:schemeClr val="dk1">
                                        <a:alpha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∈]0,1[</m:t>
                                </m:r>
                              </m:lim>
                            </m:limLow>
                          </m:fName>
                          <m:e>
                            <m:f>
                              <m:fPr>
                                <m:ctrlPr>
                                  <a:rPr lang="en-US" sz="1600" i="1" noProof="0" smtClean="0">
                                    <a:solidFill>
                                      <a:schemeClr val="dk1">
                                        <a:alpha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600" i="1" noProof="0" smtClean="0">
                                    <a:solidFill>
                                      <a:schemeClr val="dk1">
                                        <a:alpha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d>
                                  <m:dPr>
                                    <m:ctrlPr>
                                      <a:rPr lang="en-US" sz="1600" i="1" noProof="0" smtClean="0">
                                        <a:solidFill>
                                          <a:schemeClr val="dk1">
                                            <a:alpha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i="1" noProof="0" smtClean="0">
                                        <a:solidFill>
                                          <a:schemeClr val="dk1">
                                            <a:alpha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en-US" sz="1600" i="1" noProof="0" smtClean="0">
                                        <a:solidFill>
                                          <a:schemeClr val="dk1">
                                            <a:alpha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en-US" sz="1600" i="1" noProof="0" smtClean="0">
                                    <a:solidFill>
                                      <a:schemeClr val="dk1">
                                        <a:alpha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1600" i="1" noProof="0" smtClean="0">
                                    <a:solidFill>
                                      <a:schemeClr val="dk1">
                                        <a:alpha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1600" i="1" noProof="0" smtClean="0">
                                        <a:solidFill>
                                          <a:schemeClr val="dk1">
                                            <a:alpha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600" i="1" noProof="0" smtClean="0">
                                            <a:solidFill>
                                              <a:schemeClr val="dk1">
                                                <a:alpha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1600" i="1" noProof="0" smtClean="0">
                                                <a:solidFill>
                                                  <a:schemeClr val="dk1">
                                                    <a:alpha val="50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b="1" i="1" noProof="0" smtClean="0">
                                                <a:solidFill>
                                                  <a:schemeClr val="dk1">
                                                    <a:alpha val="50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𝒆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i="1" noProof="0" smtClean="0">
                                                <a:solidFill>
                                                  <a:schemeClr val="dk1">
                                                    <a:alpha val="50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  <m:r>
                                          <a:rPr lang="en-US" sz="1600" i="1" noProof="0" smtClean="0">
                                            <a:solidFill>
                                              <a:schemeClr val="dk1">
                                                <a:alpha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600" i="1" noProof="0" smtClean="0">
                                                <a:solidFill>
                                                  <a:schemeClr val="dk1">
                                                    <a:alpha val="50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b="1" i="1" noProof="0" smtClean="0">
                                                <a:solidFill>
                                                  <a:schemeClr val="dk1">
                                                    <a:alpha val="50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𝒆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i="1" noProof="0" smtClean="0">
                                                <a:solidFill>
                                                  <a:schemeClr val="dk1">
                                                    <a:alpha val="50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sz="1600" i="1" noProof="0" smtClean="0">
                                        <a:solidFill>
                                          <a:schemeClr val="dk1">
                                            <a:alpha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⊤</m:t>
                                    </m:r>
                                  </m:sup>
                                </m:sSup>
                                <m:r>
                                  <a:rPr lang="en-US" sz="1600" b="1" i="1" noProof="0" smtClean="0">
                                    <a:solidFill>
                                      <a:schemeClr val="dk1">
                                        <a:alpha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sz="1600" b="1" i="0" noProof="0" smtClean="0">
                                    <a:solidFill>
                                      <a:schemeClr val="dk1">
                                        <a:alpha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𝚷</m:t>
                                </m:r>
                                <m:sSub>
                                  <m:sSubPr>
                                    <m:ctrlPr>
                                      <a:rPr lang="en-US" sz="1600" i="1" noProof="0" smtClean="0">
                                        <a:solidFill>
                                          <a:schemeClr val="dk1">
                                            <a:alpha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noProof="0" smtClean="0">
                                        <a:solidFill>
                                          <a:schemeClr val="dk1">
                                            <a:alpha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600" i="1" noProof="0" smtClean="0">
                                        <a:solidFill>
                                          <a:schemeClr val="dk1">
                                            <a:alpha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𝑘𝑙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en-US" sz="1600" i="1" noProof="0" smtClean="0">
                                        <a:solidFill>
                                          <a:schemeClr val="dk1">
                                            <a:alpha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600" i="1" noProof="0" smtClean="0">
                                            <a:solidFill>
                                              <a:schemeClr val="dk1">
                                                <a:alpha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i="1" noProof="0" smtClean="0">
                                            <a:solidFill>
                                              <a:schemeClr val="dk1">
                                                <a:alpha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sz="1600" i="1" noProof="0" smtClean="0">
                                        <a:solidFill>
                                          <a:schemeClr val="dk1">
                                            <a:alpha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lang="en-US" sz="1600" b="1" i="1" noProof="0" smtClean="0">
                                    <a:solidFill>
                                      <a:schemeClr val="dk1">
                                        <a:alpha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d>
                                  <m:dPr>
                                    <m:ctrlPr>
                                      <a:rPr lang="en-US" sz="1600" i="1" noProof="0" smtClean="0">
                                        <a:solidFill>
                                          <a:schemeClr val="dk1">
                                            <a:alpha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600" i="1" noProof="0" smtClean="0">
                                            <a:solidFill>
                                              <a:schemeClr val="dk1">
                                                <a:alpha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1" i="1" noProof="0" smtClean="0">
                                            <a:solidFill>
                                              <a:schemeClr val="dk1">
                                                <a:alpha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𝒆</m:t>
                                        </m:r>
                                      </m:e>
                                      <m:sub>
                                        <m:r>
                                          <a:rPr lang="en-US" sz="1600" i="1" noProof="0" smtClean="0">
                                            <a:solidFill>
                                              <a:schemeClr val="dk1">
                                                <a:alpha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r>
                                      <a:rPr lang="en-US" sz="1600" i="1" noProof="0" smtClean="0">
                                        <a:solidFill>
                                          <a:schemeClr val="dk1">
                                            <a:alpha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1600" i="1" noProof="0" smtClean="0">
                                            <a:solidFill>
                                              <a:schemeClr val="dk1">
                                                <a:alpha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1" i="1" noProof="0" smtClean="0">
                                            <a:solidFill>
                                              <a:schemeClr val="dk1">
                                                <a:alpha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𝒆</m:t>
                                        </m:r>
                                      </m:e>
                                      <m:sub>
                                        <m:r>
                                          <a:rPr lang="en-US" sz="1600" i="1" noProof="0" smtClean="0">
                                            <a:solidFill>
                                              <a:schemeClr val="dk1">
                                                <a:alpha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</m:func>
                      </m:e>
                    </m:func>
                  </m:oMath>
                </a14:m>
                <a:r>
                  <a:rPr lang="en-US" sz="1400" noProof="0" dirty="0">
                    <a:solidFill>
                      <a:schemeClr val="dk1">
                        <a:alpha val="50000"/>
                      </a:schemeClr>
                    </a:solidFill>
                  </a:rPr>
                  <a:t> </a:t>
                </a:r>
                <a:br>
                  <a:rPr lang="en-US" sz="1400" noProof="0" dirty="0">
                    <a:solidFill>
                      <a:schemeClr val="dk1">
                        <a:alpha val="50000"/>
                      </a:schemeClr>
                    </a:solidFill>
                  </a:rPr>
                </a:br>
                <a:r>
                  <a:rPr lang="en-US" sz="1200" noProof="0" dirty="0">
                    <a:solidFill>
                      <a:schemeClr val="dk1">
                        <a:alpha val="50000"/>
                      </a:schemeClr>
                    </a:solidFill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120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𝑘𝑙</m:t>
                        </m:r>
                      </m:sub>
                    </m:sSub>
                    <m:d>
                      <m:dPr>
                        <m:ctrlPr>
                          <a:rPr lang="en-US" sz="1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1200" b="0" i="1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1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m:rPr>
                        <m:sty m:val="p"/>
                      </m:rPr>
                      <a:rPr lang="en-US" sz="1200" b="0" i="0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diag</m:t>
                    </m:r>
                    <m:d>
                      <m:dPr>
                        <m:ctrlPr>
                          <a:rPr lang="en-US" sz="1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b="0" i="1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sz="1200" b="0" i="1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sz="1200" b="0" i="1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 b="0" i="1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200" b="0" i="1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sz="1200" b="0" i="0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diag</m:t>
                    </m:r>
                    <m:d>
                      <m:dPr>
                        <m:ctrlPr>
                          <a:rPr lang="en-US" sz="1200" b="0" i="1" noProof="0" smtClean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b="0" i="1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sz="1200" b="0" i="1" noProof="0" smtClean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200" noProof="0" dirty="0">
                    <a:solidFill>
                      <a:schemeClr val="dk1">
                        <a:alpha val="50000"/>
                      </a:schemeClr>
                    </a:solidFill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1200" b="1" noProof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𝚷</m:t>
                    </m:r>
                    <m:r>
                      <a:rPr lang="en-US" sz="1200" i="1" noProof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200" noProof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diag</m:t>
                    </m:r>
                    <m:d>
                      <m:dPr>
                        <m:ctrlPr>
                          <a:rPr lang="en-US" sz="1200" i="1" noProof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i="1" noProof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noProof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sz="1200" i="1" noProof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200" i="1" noProof="0">
                            <a:solidFill>
                              <a:schemeClr val="dk1">
                                <a:alpha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1200" i="1" noProof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noProof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sz="1200" i="1" noProof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sz="1200" i="1" noProof="0">
                                <a:solidFill>
                                  <a:schemeClr val="dk1">
                                    <a:alpha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br>
                  <a:rPr lang="en-US" sz="1200" noProof="0" dirty="0">
                    <a:solidFill>
                      <a:schemeClr val="dk1">
                        <a:alpha val="50000"/>
                      </a:schemeClr>
                    </a:solidFill>
                  </a:rPr>
                </a:br>
                <a:r>
                  <a:rPr lang="en-US" sz="1200" noProof="0" dirty="0">
                    <a:solidFill>
                      <a:schemeClr val="dk1">
                        <a:alpha val="50000"/>
                      </a:schemeClr>
                    </a:solidFill>
                  </a:rPr>
                  <a:t>is the community proportions matrix.</a:t>
                </a:r>
              </a:p>
            </p:txBody>
          </p:sp>
        </mc:Choice>
        <mc:Fallback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42C852C7-308C-3088-E9F3-3E5D5DF869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6500" y="1419457"/>
                <a:ext cx="10301817" cy="5178192"/>
              </a:xfrm>
              <a:prstGeom prst="rect">
                <a:avLst/>
              </a:prstGeom>
              <a:blipFill>
                <a:blip r:embed="rId3"/>
                <a:stretch>
                  <a:fillRect t="-7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62EDDF13-AA4C-7A03-3E42-F189F678B74B}"/>
              </a:ext>
            </a:extLst>
          </p:cNvPr>
          <p:cNvSpPr txBox="1">
            <a:spLocks/>
          </p:cNvSpPr>
          <p:nvPr/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Aft>
                <a:spcPts val="800"/>
              </a:spcAft>
            </a:pPr>
            <a:r>
              <a:rPr lang="en-US" sz="930" noProof="0" dirty="0">
                <a:solidFill>
                  <a:srgbClr val="E30613"/>
                </a:solidFill>
              </a:rPr>
              <a:t>INDY</a:t>
            </a:r>
          </a:p>
        </p:txBody>
      </p:sp>
    </p:spTree>
    <p:extLst>
      <p:ext uri="{BB962C8B-B14F-4D97-AF65-F5344CB8AC3E}">
        <p14:creationId xmlns:p14="http://schemas.microsoft.com/office/powerpoint/2010/main" val="12844415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84499-A51B-52D6-CBC1-E560E9F71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96D1A44-D6B8-B290-E02C-0ADC41317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Nicolas Gonzalez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8ACB048-3B66-7835-AC84-7B564F5A0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en-US" noProof="0" smtClean="0"/>
              <a:pPr>
                <a:spcAft>
                  <a:spcPts val="600"/>
                </a:spcAft>
              </a:pPr>
              <a:t>29</a:t>
            </a:fld>
            <a:endParaRPr lang="en-US" noProof="0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41BB472D-1E15-52D1-155C-9BE61001E54A}"/>
              </a:ext>
            </a:extLst>
          </p:cNvPr>
          <p:cNvSpPr txBox="1">
            <a:spLocks/>
          </p:cNvSpPr>
          <p:nvPr/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Aft>
                <a:spcPts val="800"/>
              </a:spcAft>
            </a:pPr>
            <a:r>
              <a:rPr lang="en-US" sz="930" noProof="0" dirty="0">
                <a:solidFill>
                  <a:srgbClr val="E30613"/>
                </a:solidFill>
              </a:rPr>
              <a:t>INDY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D94941E-5DD4-0575-9D6C-CECC89DB0BEB}"/>
              </a:ext>
            </a:extLst>
          </p:cNvPr>
          <p:cNvSpPr txBox="1">
            <a:spLocks/>
          </p:cNvSpPr>
          <p:nvPr/>
        </p:nvSpPr>
        <p:spPr>
          <a:xfrm>
            <a:off x="945091" y="1201631"/>
            <a:ext cx="10301817" cy="445473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180000" tIns="45720" rIns="91440" bIns="45720" rtlCol="0" anchor="ctr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90000"/>
              <a:buFont typeface="Wingdings" pitchFamily="2" charset="2"/>
              <a:buChar char="§"/>
              <a:defRPr sz="24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133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SzPct val="90000"/>
              <a:buFont typeface="Wingdings" pitchFamily="2" charset="2"/>
              <a:buChar char="§"/>
              <a:defRPr sz="20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3600" noProof="0" dirty="0"/>
              <a:t>Experimentation</a:t>
            </a:r>
          </a:p>
        </p:txBody>
      </p:sp>
    </p:spTree>
    <p:extLst>
      <p:ext uri="{BB962C8B-B14F-4D97-AF65-F5344CB8AC3E}">
        <p14:creationId xmlns:p14="http://schemas.microsoft.com/office/powerpoint/2010/main" val="37988401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7F51B-E330-3907-2981-2456169EE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2">
            <a:extLst>
              <a:ext uri="{FF2B5EF4-FFF2-40B4-BE49-F238E27FC236}">
                <a16:creationId xmlns:a16="http://schemas.microsoft.com/office/drawing/2014/main" id="{30F72AF2-A94B-CA21-9EDC-27B9D6FC6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0" y="174711"/>
            <a:ext cx="7150099" cy="561889"/>
          </a:xfrm>
        </p:spPr>
        <p:txBody>
          <a:bodyPr anchor="ctr">
            <a:normAutofit fontScale="90000"/>
          </a:bodyPr>
          <a:lstStyle/>
          <a:p>
            <a:r>
              <a:rPr lang="en-US" sz="3800" noProof="0" dirty="0">
                <a:latin typeface="+mn-lt"/>
              </a:rPr>
              <a:t>Experimental Setup</a:t>
            </a:r>
            <a:endParaRPr lang="en-US" sz="3800" b="0" noProof="0" dirty="0">
              <a:latin typeface="+mn-lt"/>
            </a:endParaRP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6C382CC-3D6E-9080-E1F3-9CB698577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Nicolas Gonzalez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5711C3C-20B3-868D-2EE2-D29C5FBBD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en-US" noProof="0" smtClean="0"/>
              <a:pPr>
                <a:spcAft>
                  <a:spcPts val="600"/>
                </a:spcAft>
              </a:pPr>
              <a:t>30</a:t>
            </a:fld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549C8F61-ED5C-56E7-FFFF-45D7901D576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06500" y="1419456"/>
                <a:ext cx="10301817" cy="4724347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lIns="180000" tIns="45720" rIns="91440" bIns="45720" rtlCol="0">
                <a:normAutofit/>
              </a:bodyPr>
              <a:lstStyle>
                <a:lvl1pPr marL="228594" indent="-228594" algn="l" defTabSz="914377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1"/>
                  </a:buClr>
                  <a:buSzPct val="90000"/>
                  <a:buFont typeface="Wingdings" pitchFamily="2" charset="2"/>
                  <a:buChar char="§"/>
                  <a:defRPr sz="2400" b="0" i="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68578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2133" b="0" i="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1142971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SzPct val="90000"/>
                  <a:buFont typeface="Wingdings" pitchFamily="2" charset="2"/>
                  <a:buChar char="§"/>
                  <a:defRPr sz="2000" b="0" i="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600160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2057349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514537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3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=1000, </m:t>
                    </m:r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=2)</m:t>
                    </m:r>
                  </m:oMath>
                </a14:m>
                <a:r>
                  <a:rPr lang="en-US" sz="2200" noProof="0" dirty="0"/>
                  <a:t>-WSBM with community proportions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b="0" i="0" noProof="0" smtClean="0"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lang="en-US" sz="2200" noProof="0" dirty="0"/>
                  <a:t> and edge probability </a:t>
                </a:r>
                <a14:m>
                  <m:oMath xmlns:m="http://schemas.openxmlformats.org/officeDocument/2006/math"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endParaRPr lang="en-US" sz="2200" noProof="0" dirty="0"/>
              </a:p>
              <a:p>
                <a:pPr>
                  <a:lnSpc>
                    <a:spcPct val="130000"/>
                  </a:lnSpc>
                </a:pPr>
                <a:r>
                  <a:rPr lang="en-US" sz="2200" noProof="0" dirty="0"/>
                  <a:t>Tested distributions </a:t>
                </a:r>
                <a14:m>
                  <m:oMath xmlns:m="http://schemas.openxmlformats.org/officeDocument/2006/math"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sz="2200" noProof="0" dirty="0"/>
              </a:p>
              <a:p>
                <a:pPr lvl="1">
                  <a:lnSpc>
                    <a:spcPct val="130000"/>
                  </a:lnSpc>
                </a:pPr>
                <a:r>
                  <a:rPr lang="en-US" sz="2200" b="0" noProof="0" dirty="0"/>
                  <a:t>Beta:		</a:t>
                </a:r>
                <a14:m>
                  <m:oMath xmlns:m="http://schemas.openxmlformats.org/officeDocument/2006/math"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2200" b="0" i="0" noProof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200" b="0" i="0" noProof="0" smtClean="0">
                        <a:latin typeface="Cambria Math" panose="02040503050406030204" pitchFamily="18" charset="0"/>
                      </a:rPr>
                      <m:t>Beta</m:t>
                    </m:r>
                    <m:d>
                      <m:dPr>
                        <m:ctrlPr>
                          <a:rPr lang="en-US" sz="2200" b="0" i="0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noProof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200" b="0" i="1" noProof="0" smtClean="0">
                                <a:latin typeface="Cambria Math" panose="02040503050406030204" pitchFamily="18" charset="0"/>
                              </a:rPr>
                              <m:t>𝑘𝑙</m:t>
                            </m:r>
                          </m:sub>
                        </m:sSub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,1</m:t>
                        </m:r>
                      </m:e>
                    </m:d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2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</m:d>
                    <m:sSub>
                      <m:sSubPr>
                        <m:ctrlPr>
                          <a:rPr lang="en-US" sz="22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2200" noProof="0" dirty="0"/>
              </a:p>
              <a:p>
                <a:pPr lvl="1">
                  <a:lnSpc>
                    <a:spcPct val="130000"/>
                  </a:lnSpc>
                </a:pPr>
                <a:r>
                  <a:rPr lang="en-US" sz="2200" b="0" noProof="0" dirty="0"/>
                  <a:t>Log-normal:	</a:t>
                </a:r>
                <a14:m>
                  <m:oMath xmlns:m="http://schemas.openxmlformats.org/officeDocument/2006/math"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200" b="0" i="0" noProof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2200" i="1" noProof="0" smtClean="0"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sz="22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2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200" b="0" i="1" noProof="0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200" b="0" i="1" noProof="0" smtClean="0">
                                <a:latin typeface="Cambria Math" panose="02040503050406030204" pitchFamily="18" charset="0"/>
                              </a:rPr>
                              <m:t>𝑘𝑙</m:t>
                            </m:r>
                          </m:sub>
                          <m:sup>
                            <m:r>
                              <a:rPr lang="en-US" sz="2200" b="0" i="1" noProof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2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</m:d>
                    <m:sSub>
                      <m:sSubPr>
                        <m:ctrlPr>
                          <a:rPr lang="en-US" sz="22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2200" noProof="0" dirty="0"/>
              </a:p>
              <a:p>
                <a:pPr>
                  <a:lnSpc>
                    <a:spcPct val="130000"/>
                  </a:lnSpc>
                </a:pPr>
                <a:r>
                  <a:rPr lang="en-US" sz="2200" noProof="0" dirty="0"/>
                  <a:t>Tested transformations </a:t>
                </a:r>
                <a14:m>
                  <m:oMath xmlns:m="http://schemas.openxmlformats.org/officeDocument/2006/math"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2200" noProof="0" dirty="0"/>
              </a:p>
              <a:p>
                <a:pPr lvl="1">
                  <a:lnSpc>
                    <a:spcPct val="130000"/>
                  </a:lnSpc>
                </a:pPr>
                <a:r>
                  <a:rPr lang="en-US" sz="2200" noProof="0" dirty="0">
                    <a:solidFill>
                      <a:schemeClr val="dk1">
                        <a:alpha val="50000"/>
                      </a:schemeClr>
                    </a:solidFill>
                  </a:rPr>
                  <a:t>Identity:		</a:t>
                </a:r>
                <a14:m>
                  <m:oMath xmlns:m="http://schemas.openxmlformats.org/officeDocument/2006/math">
                    <m:r>
                      <a:rPr lang="en-US" sz="2200" b="0" i="1" noProof="0" smtClean="0">
                        <a:solidFill>
                          <a:schemeClr val="dk1">
                            <a:alpha val="5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sz="2200" noProof="0" dirty="0">
                  <a:solidFill>
                    <a:schemeClr val="dk1">
                      <a:alpha val="50000"/>
                    </a:schemeClr>
                  </a:solidFill>
                </a:endParaRPr>
              </a:p>
              <a:p>
                <a:pPr lvl="1">
                  <a:lnSpc>
                    <a:spcPct val="130000"/>
                  </a:lnSpc>
                </a:pPr>
                <a:r>
                  <a:rPr lang="en-US" sz="2200" noProof="0" dirty="0"/>
                  <a:t>Opposite:	</a:t>
                </a:r>
                <a14:m>
                  <m:oMath xmlns:m="http://schemas.openxmlformats.org/officeDocument/2006/math"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sz="2200" b="0" i="1" noProof="0" dirty="0"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30000"/>
                  </a:lnSpc>
                </a:pPr>
                <a:r>
                  <a:rPr lang="en-US" sz="2200" b="0" noProof="0" dirty="0"/>
                  <a:t>Logarithmic</a:t>
                </a:r>
                <a:r>
                  <a:rPr lang="en-US" sz="2200" noProof="0" dirty="0"/>
                  <a:t>:	</a:t>
                </a:r>
                <a14:m>
                  <m:oMath xmlns:m="http://schemas.openxmlformats.org/officeDocument/2006/math"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sz="2200" b="0" i="1" noProof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200" b="0" i="0" noProof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200" b="0" i="1" noProof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func>
                  </m:oMath>
                </a14:m>
                <a:endParaRPr lang="en-US" sz="2200" b="0" noProof="0" dirty="0"/>
              </a:p>
              <a:p>
                <a:pPr lvl="1">
                  <a:lnSpc>
                    <a:spcPct val="130000"/>
                  </a:lnSpc>
                </a:pPr>
                <a14:m>
                  <m:oMath xmlns:m="http://schemas.openxmlformats.org/officeDocument/2006/math">
                    <m:r>
                      <a:rPr lang="en-US" sz="2200" i="1" noProof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sz="2200" noProof="0" dirty="0"/>
                  <a:t>-Threshold: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200" b="1" noProof="0" smtClean="0"/>
                      <m:t>𝟙</m:t>
                    </m:r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2200" b="0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200" noProof="0" dirty="0"/>
              </a:p>
            </p:txBody>
          </p:sp>
        </mc:Choice>
        <mc:Fallback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549C8F61-ED5C-56E7-FFFF-45D7901D57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6500" y="1419456"/>
                <a:ext cx="10301817" cy="4724347"/>
              </a:xfrm>
              <a:prstGeom prst="rect">
                <a:avLst/>
              </a:prstGeom>
              <a:blipFill>
                <a:blip r:embed="rId3"/>
                <a:stretch>
                  <a:fillRect b="-129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8A254D10-C8BC-8AB5-666C-2DD38DA64884}"/>
              </a:ext>
            </a:extLst>
          </p:cNvPr>
          <p:cNvSpPr txBox="1">
            <a:spLocks/>
          </p:cNvSpPr>
          <p:nvPr/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Aft>
                <a:spcPts val="800"/>
              </a:spcAft>
            </a:pPr>
            <a:r>
              <a:rPr lang="en-US" sz="930" noProof="0" dirty="0">
                <a:solidFill>
                  <a:srgbClr val="E30613"/>
                </a:solidFill>
              </a:rPr>
              <a:t>INDY</a:t>
            </a:r>
          </a:p>
        </p:txBody>
      </p:sp>
    </p:spTree>
    <p:extLst>
      <p:ext uri="{BB962C8B-B14F-4D97-AF65-F5344CB8AC3E}">
        <p14:creationId xmlns:p14="http://schemas.microsoft.com/office/powerpoint/2010/main" val="3525151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FAA65-4447-871E-66AD-866296E8E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2">
            <a:extLst>
              <a:ext uri="{FF2B5EF4-FFF2-40B4-BE49-F238E27FC236}">
                <a16:creationId xmlns:a16="http://schemas.microsoft.com/office/drawing/2014/main" id="{FE3ADF0B-23E2-FDD1-5BD2-94B0002FA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0" y="174711"/>
            <a:ext cx="7150099" cy="561889"/>
          </a:xfrm>
        </p:spPr>
        <p:txBody>
          <a:bodyPr anchor="ctr">
            <a:normAutofit fontScale="90000"/>
          </a:bodyPr>
          <a:lstStyle/>
          <a:p>
            <a:r>
              <a:rPr lang="en-US" sz="3800" noProof="0" dirty="0">
                <a:latin typeface="+mn-lt"/>
              </a:rPr>
              <a:t>Results</a:t>
            </a:r>
            <a:endParaRPr lang="en-US" sz="3800" b="0" noProof="0" dirty="0">
              <a:latin typeface="+mn-lt"/>
            </a:endParaRP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D15939B-3628-8FA7-6BDF-58289C391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Nicolas Gonzalez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4E75EA1-EF25-C778-8659-802E86810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en-US" noProof="0" smtClean="0"/>
              <a:pPr>
                <a:spcAft>
                  <a:spcPts val="600"/>
                </a:spcAft>
              </a:pPr>
              <a:t>31</a:t>
            </a:fld>
            <a:endParaRPr lang="en-US" noProof="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5CBF2A1-8F79-919C-78FE-B4FBBB7C4E3B}"/>
              </a:ext>
            </a:extLst>
          </p:cNvPr>
          <p:cNvSpPr txBox="1">
            <a:spLocks/>
          </p:cNvSpPr>
          <p:nvPr/>
        </p:nvSpPr>
        <p:spPr>
          <a:xfrm>
            <a:off x="1206500" y="1419456"/>
            <a:ext cx="10301817" cy="472434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18000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90000"/>
              <a:buFont typeface="Wingdings" pitchFamily="2" charset="2"/>
              <a:buChar char="§"/>
              <a:defRPr sz="24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133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SzPct val="90000"/>
              <a:buFont typeface="Wingdings" pitchFamily="2" charset="2"/>
              <a:buChar char="§"/>
              <a:defRPr sz="20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b="1" dirty="0">
                <a:solidFill>
                  <a:srgbClr val="0000FF"/>
                </a:solidFill>
              </a:rPr>
              <a:t>TODO</a:t>
            </a:r>
          </a:p>
          <a:p>
            <a:pPr>
              <a:lnSpc>
                <a:spcPct val="100000"/>
              </a:lnSpc>
            </a:pPr>
            <a:r>
              <a:rPr lang="en-US" dirty="0"/>
              <a:t>T</a:t>
            </a:r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43A7459A-D524-E3F6-1D3E-3E6798CA370D}"/>
              </a:ext>
            </a:extLst>
          </p:cNvPr>
          <p:cNvSpPr txBox="1">
            <a:spLocks/>
          </p:cNvSpPr>
          <p:nvPr/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Aft>
                <a:spcPts val="800"/>
              </a:spcAft>
            </a:pPr>
            <a:r>
              <a:rPr lang="en-US" sz="930" noProof="0" dirty="0">
                <a:solidFill>
                  <a:srgbClr val="E30613"/>
                </a:solidFill>
              </a:rPr>
              <a:t>INDY</a:t>
            </a:r>
          </a:p>
        </p:txBody>
      </p:sp>
    </p:spTree>
    <p:extLst>
      <p:ext uri="{BB962C8B-B14F-4D97-AF65-F5344CB8AC3E}">
        <p14:creationId xmlns:p14="http://schemas.microsoft.com/office/powerpoint/2010/main" val="4179042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8119B-6A8D-3AF7-33C8-75B6DF5A1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2">
            <a:extLst>
              <a:ext uri="{FF2B5EF4-FFF2-40B4-BE49-F238E27FC236}">
                <a16:creationId xmlns:a16="http://schemas.microsoft.com/office/drawing/2014/main" id="{217DFC17-D5D2-37D3-6F44-9FDED3258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0" y="174711"/>
            <a:ext cx="7150099" cy="561889"/>
          </a:xfrm>
        </p:spPr>
        <p:txBody>
          <a:bodyPr anchor="ctr">
            <a:normAutofit fontScale="90000"/>
          </a:bodyPr>
          <a:lstStyle/>
          <a:p>
            <a:r>
              <a:rPr lang="en-US" sz="3800" noProof="0" dirty="0">
                <a:latin typeface="+mn-lt"/>
              </a:rPr>
              <a:t>Preliminary observations</a:t>
            </a:r>
            <a:endParaRPr lang="en-US" sz="3800" b="0" noProof="0" dirty="0">
              <a:latin typeface="+mn-lt"/>
            </a:endParaRP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9BAEB61-C74B-AC5F-8510-47309A3D4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Nicolas Gonzalez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FECDB40-E6FC-492A-258D-8DD4DF87D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en-US" noProof="0" smtClean="0"/>
              <a:pPr>
                <a:spcAft>
                  <a:spcPts val="600"/>
                </a:spcAft>
              </a:pPr>
              <a:t>32</a:t>
            </a:fld>
            <a:endParaRPr lang="en-US" noProof="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1F20074-04C7-EDE8-BAD1-F337768AA8A7}"/>
              </a:ext>
            </a:extLst>
          </p:cNvPr>
          <p:cNvSpPr txBox="1">
            <a:spLocks/>
          </p:cNvSpPr>
          <p:nvPr/>
        </p:nvSpPr>
        <p:spPr>
          <a:xfrm>
            <a:off x="1206500" y="1419456"/>
            <a:ext cx="10301817" cy="472434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18000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90000"/>
              <a:buFont typeface="Wingdings" pitchFamily="2" charset="2"/>
              <a:buChar char="§"/>
              <a:defRPr sz="24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133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SzPct val="90000"/>
              <a:buFont typeface="Wingdings" pitchFamily="2" charset="2"/>
              <a:buChar char="§"/>
              <a:defRPr sz="20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b="1" dirty="0">
                <a:solidFill>
                  <a:srgbClr val="0000FF"/>
                </a:solidFill>
              </a:rPr>
              <a:t>TODO</a:t>
            </a:r>
          </a:p>
          <a:p>
            <a:pPr>
              <a:lnSpc>
                <a:spcPct val="100000"/>
              </a:lnSpc>
            </a:pPr>
            <a:r>
              <a:rPr lang="en-US" dirty="0"/>
              <a:t>Threshold and Log seem to perform well generally</a:t>
            </a:r>
          </a:p>
          <a:p>
            <a:pPr>
              <a:lnSpc>
                <a:spcPct val="100000"/>
              </a:lnSpc>
            </a:pPr>
            <a:r>
              <a:rPr lang="en-US" dirty="0"/>
              <a:t>It’s rare to have competing </a:t>
            </a:r>
            <a:r>
              <a:rPr lang="en-US" dirty="0" err="1"/>
              <a:t>Chernoffs</a:t>
            </a:r>
            <a:r>
              <a:rPr lang="en-US" dirty="0"/>
              <a:t> </a:t>
            </a:r>
            <a:r>
              <a:rPr lang="en-US" dirty="0" err="1"/>
              <a:t>informations</a:t>
            </a:r>
            <a:r>
              <a:rPr lang="en-US" dirty="0"/>
              <a:t> </a:t>
            </a:r>
            <a:r>
              <a:rPr lang="en-US" dirty="0" err="1"/>
              <a:t>btwn</a:t>
            </a:r>
            <a:r>
              <a:rPr lang="en-US" dirty="0"/>
              <a:t> models – either e.g. Threshold dominates, or Identity</a:t>
            </a:r>
          </a:p>
          <a:p>
            <a:pPr>
              <a:lnSpc>
                <a:spcPct val="100000"/>
              </a:lnSpc>
            </a:pPr>
            <a:r>
              <a:rPr lang="en-US" dirty="0"/>
              <a:t>Chosen transformations can’t overcome intrinsic hardness of clustering some graphs (when model parameters (rho, distribution) are chosen to be challenging)</a:t>
            </a:r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41EBCC8E-BE5F-B3BA-E934-F5FDA2F0E472}"/>
              </a:ext>
            </a:extLst>
          </p:cNvPr>
          <p:cNvSpPr txBox="1">
            <a:spLocks/>
          </p:cNvSpPr>
          <p:nvPr/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Aft>
                <a:spcPts val="800"/>
              </a:spcAft>
            </a:pPr>
            <a:r>
              <a:rPr lang="en-US" sz="930" noProof="0" dirty="0">
                <a:solidFill>
                  <a:srgbClr val="E30613"/>
                </a:solidFill>
              </a:rPr>
              <a:t>INDY</a:t>
            </a:r>
          </a:p>
        </p:txBody>
      </p:sp>
    </p:spTree>
    <p:extLst>
      <p:ext uri="{BB962C8B-B14F-4D97-AF65-F5344CB8AC3E}">
        <p14:creationId xmlns:p14="http://schemas.microsoft.com/office/powerpoint/2010/main" val="36941199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A6156-37CD-1678-21CD-C1CBEDF8F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F04E976-BC85-53A4-52BD-4EC0443D3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Nicolas Gonzalez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7964051-1570-BC08-7C33-4F2545898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en-US" noProof="0" smtClean="0"/>
              <a:pPr>
                <a:spcAft>
                  <a:spcPts val="600"/>
                </a:spcAft>
              </a:pPr>
              <a:t>33</a:t>
            </a:fld>
            <a:endParaRPr lang="en-US" noProof="0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7A4DAD6E-A68F-9584-6A53-B2E40484BC31}"/>
              </a:ext>
            </a:extLst>
          </p:cNvPr>
          <p:cNvSpPr txBox="1">
            <a:spLocks/>
          </p:cNvSpPr>
          <p:nvPr/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Aft>
                <a:spcPts val="800"/>
              </a:spcAft>
            </a:pPr>
            <a:r>
              <a:rPr lang="en-US" sz="930" noProof="0" dirty="0">
                <a:solidFill>
                  <a:srgbClr val="E30613"/>
                </a:solidFill>
              </a:rPr>
              <a:t>INDY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85B6F61-3B3E-1AB9-A486-C23B330DE286}"/>
              </a:ext>
            </a:extLst>
          </p:cNvPr>
          <p:cNvSpPr txBox="1">
            <a:spLocks/>
          </p:cNvSpPr>
          <p:nvPr/>
        </p:nvSpPr>
        <p:spPr>
          <a:xfrm>
            <a:off x="945091" y="1201631"/>
            <a:ext cx="10301817" cy="445473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180000" tIns="45720" rIns="91440" bIns="45720" rtlCol="0" anchor="ctr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90000"/>
              <a:buFont typeface="Wingdings" pitchFamily="2" charset="2"/>
              <a:buChar char="§"/>
              <a:defRPr sz="24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133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SzPct val="90000"/>
              <a:buFont typeface="Wingdings" pitchFamily="2" charset="2"/>
              <a:buChar char="§"/>
              <a:defRPr sz="20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3600" noProof="0" dirty="0"/>
              <a:t>What’s next?</a:t>
            </a:r>
          </a:p>
        </p:txBody>
      </p:sp>
    </p:spTree>
    <p:extLst>
      <p:ext uri="{BB962C8B-B14F-4D97-AF65-F5344CB8AC3E}">
        <p14:creationId xmlns:p14="http://schemas.microsoft.com/office/powerpoint/2010/main" val="36888611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D641A-ADD0-0F63-89BE-54FCCC2CA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2">
            <a:extLst>
              <a:ext uri="{FF2B5EF4-FFF2-40B4-BE49-F238E27FC236}">
                <a16:creationId xmlns:a16="http://schemas.microsoft.com/office/drawing/2014/main" id="{9A853499-473F-FF17-03F5-B37BD4935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0" y="174711"/>
            <a:ext cx="7150099" cy="561889"/>
          </a:xfrm>
        </p:spPr>
        <p:txBody>
          <a:bodyPr anchor="ctr">
            <a:normAutofit fontScale="90000"/>
          </a:bodyPr>
          <a:lstStyle/>
          <a:p>
            <a:r>
              <a:rPr lang="en-US" sz="3800" noProof="0" dirty="0">
                <a:latin typeface="+mn-lt"/>
              </a:rPr>
              <a:t>What’s next?</a:t>
            </a:r>
            <a:endParaRPr lang="en-US" sz="3800" b="0" noProof="0" dirty="0">
              <a:latin typeface="+mn-lt"/>
            </a:endParaRP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E447613-DF78-C2FE-D635-2D2977474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Nicolas Gonzalez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B71E4E0-D569-FF14-1A48-0428DF5FB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en-US" noProof="0" smtClean="0"/>
              <a:pPr>
                <a:spcAft>
                  <a:spcPts val="600"/>
                </a:spcAft>
              </a:pPr>
              <a:t>34</a:t>
            </a:fld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867A8949-4B3D-096E-3780-AA5928DD23D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06500" y="1419456"/>
                <a:ext cx="10301817" cy="4724347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lIns="180000" tIns="45720" rIns="91440" bIns="45720" rtlCol="0">
                <a:normAutofit/>
              </a:bodyPr>
              <a:lstStyle>
                <a:lvl1pPr marL="228594" indent="-228594" algn="l" defTabSz="914377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chemeClr val="accent1"/>
                  </a:buClr>
                  <a:buSzPct val="90000"/>
                  <a:buFont typeface="Wingdings" pitchFamily="2" charset="2"/>
                  <a:buChar char="§"/>
                  <a:defRPr sz="2400" b="0" i="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68578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2133" b="0" i="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1142971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SzPct val="90000"/>
                  <a:buFont typeface="Wingdings" pitchFamily="2" charset="2"/>
                  <a:buChar char="§"/>
                  <a:defRPr sz="2000" b="0" i="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600160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2057349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514537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GB" dirty="0"/>
                  <a:t>Investigate how well Chernoff information serves as a proxy for clustering Accuracy – are they (monotonically) correlated?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noProof="0" dirty="0"/>
                  <a:t>Test other transformations</a:t>
                </a:r>
              </a:p>
              <a:p>
                <a:pPr lvl="1">
                  <a:lnSpc>
                    <a:spcPct val="130000"/>
                  </a:lnSpc>
                </a:pPr>
                <a:r>
                  <a:rPr lang="en-US" sz="2400" dirty="0"/>
                  <a:t>Rank Transform</a:t>
                </a:r>
              </a:p>
              <a:p>
                <a:pPr lvl="1">
                  <a:lnSpc>
                    <a:spcPct val="130000"/>
                  </a:lnSpc>
                </a:pPr>
                <a:r>
                  <a:rPr lang="en-US" sz="2400" dirty="0"/>
                  <a:t>How well would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sz="2400" dirty="0"/>
                  <a:t>-Threshold perform for other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sz="2400" dirty="0"/>
                  <a:t> values?</a:t>
                </a:r>
                <a:br>
                  <a:rPr lang="en-US" sz="2400" dirty="0"/>
                </a:br>
                <a:r>
                  <a:rPr lang="en-US" sz="2400" dirty="0"/>
                  <a:t>Can it be tuned? What about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fr-FR" sz="2400" b="0" i="0" smtClean="0">
                        <a:latin typeface="Cambria Math" panose="02040503050406030204" pitchFamily="18" charset="0"/>
                      </a:rPr>
                      <m:t>Median</m:t>
                    </m:r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noProof="0" dirty="0"/>
                  <a:t>?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dirty="0"/>
                  <a:t>Evaluate the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fr-FR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argmax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noProof="0" dirty="0"/>
                  <a:t> transform technique on a real-world large graph.</a:t>
                </a:r>
              </a:p>
            </p:txBody>
          </p:sp>
        </mc:Choice>
        <mc:Fallback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867A8949-4B3D-096E-3780-AA5928DD23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6500" y="1419456"/>
                <a:ext cx="10301817" cy="47243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7C5791CA-9D18-C683-B379-55A599923FC1}"/>
              </a:ext>
            </a:extLst>
          </p:cNvPr>
          <p:cNvSpPr txBox="1">
            <a:spLocks/>
          </p:cNvSpPr>
          <p:nvPr/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Aft>
                <a:spcPts val="800"/>
              </a:spcAft>
            </a:pPr>
            <a:r>
              <a:rPr lang="en-US" sz="930" noProof="0" dirty="0">
                <a:solidFill>
                  <a:srgbClr val="E30613"/>
                </a:solidFill>
              </a:rPr>
              <a:t>INDY</a:t>
            </a:r>
          </a:p>
        </p:txBody>
      </p:sp>
    </p:spTree>
    <p:extLst>
      <p:ext uri="{BB962C8B-B14F-4D97-AF65-F5344CB8AC3E}">
        <p14:creationId xmlns:p14="http://schemas.microsoft.com/office/powerpoint/2010/main" val="10534560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F7362-1878-E7D1-4FD8-5AAB6C0DA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2">
            <a:extLst>
              <a:ext uri="{FF2B5EF4-FFF2-40B4-BE49-F238E27FC236}">
                <a16:creationId xmlns:a16="http://schemas.microsoft.com/office/drawing/2014/main" id="{45203562-C0A3-F67C-9128-E04025DAA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0" y="174711"/>
            <a:ext cx="7150099" cy="561889"/>
          </a:xfrm>
        </p:spPr>
        <p:txBody>
          <a:bodyPr anchor="ctr">
            <a:normAutofit fontScale="90000"/>
          </a:bodyPr>
          <a:lstStyle/>
          <a:p>
            <a:r>
              <a:rPr lang="en-US" sz="3800" noProof="0" dirty="0">
                <a:latin typeface="+mn-lt"/>
              </a:rPr>
              <a:t>References</a:t>
            </a:r>
            <a:endParaRPr lang="en-US" sz="3800" b="0" noProof="0" dirty="0">
              <a:latin typeface="+mn-lt"/>
            </a:endParaRP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C25F160-5292-0B14-1535-E51FA01D4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Nicolas Gonzalez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C118B41-41CF-8FA5-8863-D3508A78F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en-US" noProof="0" smtClean="0"/>
              <a:pPr>
                <a:spcAft>
                  <a:spcPts val="600"/>
                </a:spcAft>
              </a:pPr>
              <a:t>35</a:t>
            </a:fld>
            <a:endParaRPr lang="en-US" noProof="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E574455-0B2A-A7F2-C4DC-31292F196403}"/>
              </a:ext>
            </a:extLst>
          </p:cNvPr>
          <p:cNvSpPr txBox="1">
            <a:spLocks/>
          </p:cNvSpPr>
          <p:nvPr/>
        </p:nvSpPr>
        <p:spPr>
          <a:xfrm>
            <a:off x="1206500" y="1419456"/>
            <a:ext cx="10301817" cy="472434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18000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90000"/>
              <a:buFont typeface="Wingdings" pitchFamily="2" charset="2"/>
              <a:buChar char="§"/>
              <a:defRPr sz="24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133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SzPct val="90000"/>
              <a:buFont typeface="Wingdings" pitchFamily="2" charset="2"/>
              <a:buChar char="§"/>
              <a:defRPr sz="20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200" dirty="0"/>
              <a:t>Ian Gallagher, Andrew Jones, Anna </a:t>
            </a:r>
            <a:r>
              <a:rPr lang="en-US" sz="2200" dirty="0" err="1"/>
              <a:t>Bertiger</a:t>
            </a:r>
            <a:r>
              <a:rPr lang="en-US" sz="2200" dirty="0"/>
              <a:t>, Carey E. Priebe &amp; Patrick </a:t>
            </a:r>
            <a:r>
              <a:rPr lang="en-GB" sz="2200" dirty="0"/>
              <a:t>Rubin-</a:t>
            </a:r>
            <a:r>
              <a:rPr lang="en-GB" sz="2200" dirty="0" err="1"/>
              <a:t>Delanchy</a:t>
            </a:r>
            <a:r>
              <a:rPr lang="en-GB" sz="2200" dirty="0"/>
              <a:t> (2024) </a:t>
            </a:r>
            <a:r>
              <a:rPr lang="en-GB" sz="2200" b="1" dirty="0"/>
              <a:t>Spectral Embedding of Weighted Graphs</a:t>
            </a:r>
            <a:r>
              <a:rPr lang="en-GB" sz="2200" dirty="0"/>
              <a:t>, Journal of the American </a:t>
            </a:r>
            <a:r>
              <a:rPr lang="en-US" sz="2200" dirty="0"/>
              <a:t>Statistical Association, 119:547, 1923-1932, DOI: </a:t>
            </a:r>
            <a:r>
              <a:rPr lang="en-US" sz="2200" dirty="0">
                <a:hlinkClick r:id="rId3"/>
              </a:rPr>
              <a:t>10.1080/01621459.2023.2225239</a:t>
            </a:r>
            <a:br>
              <a:rPr lang="en-US" sz="2200" dirty="0"/>
            </a:br>
            <a:endParaRPr lang="en-US" sz="2200" dirty="0"/>
          </a:p>
          <a:p>
            <a:pPr>
              <a:lnSpc>
                <a:spcPct val="110000"/>
              </a:lnSpc>
            </a:pPr>
            <a:r>
              <a:rPr lang="en-GB" sz="2200" dirty="0"/>
              <a:t>Joshua Cape, </a:t>
            </a:r>
            <a:r>
              <a:rPr lang="en-GB" sz="2200" dirty="0" err="1"/>
              <a:t>Xianshi</a:t>
            </a:r>
            <a:r>
              <a:rPr lang="en-GB" sz="2200" dirty="0"/>
              <a:t> Yu, &amp; Jonquil Z. Liao (2024). </a:t>
            </a:r>
            <a:r>
              <a:rPr lang="en-GB" sz="2200" b="1" dirty="0"/>
              <a:t>Robust spectral clustering with rank statistics</a:t>
            </a:r>
            <a:r>
              <a:rPr lang="en-GB" sz="2200" dirty="0"/>
              <a:t>. </a:t>
            </a:r>
            <a:r>
              <a:rPr lang="en-GB" sz="2200" dirty="0" err="1"/>
              <a:t>arXiv</a:t>
            </a:r>
            <a:r>
              <a:rPr lang="en-GB" sz="2200" dirty="0"/>
              <a:t> preprint arXiv:2408.10136. </a:t>
            </a:r>
            <a:r>
              <a:rPr lang="en-GB" sz="2200" dirty="0">
                <a:hlinkClick r:id="rId4"/>
              </a:rPr>
              <a:t>https://doi.org/10.48550/arXiv.2408.10136</a:t>
            </a:r>
            <a:endParaRPr lang="en-US" sz="2200" noProof="0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0C72EF79-BB86-7C7C-9E7D-4E0CAE637B7A}"/>
              </a:ext>
            </a:extLst>
          </p:cNvPr>
          <p:cNvSpPr txBox="1">
            <a:spLocks/>
          </p:cNvSpPr>
          <p:nvPr/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Aft>
                <a:spcPts val="800"/>
              </a:spcAft>
            </a:pPr>
            <a:r>
              <a:rPr lang="en-US" sz="930" noProof="0" dirty="0">
                <a:solidFill>
                  <a:srgbClr val="E30613"/>
                </a:solidFill>
              </a:rPr>
              <a:t>INDY</a:t>
            </a:r>
          </a:p>
        </p:txBody>
      </p:sp>
    </p:spTree>
    <p:extLst>
      <p:ext uri="{BB962C8B-B14F-4D97-AF65-F5344CB8AC3E}">
        <p14:creationId xmlns:p14="http://schemas.microsoft.com/office/powerpoint/2010/main" val="634097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90972-3455-882D-8985-833D82CC6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7CE2661-3990-08BA-FEC1-FD2A52BA0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487985" y="2498752"/>
            <a:ext cx="4724347" cy="683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Nicolas Gonzalez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8402A60-D47D-15A3-942A-0B5BD0B72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8317" y="260351"/>
            <a:ext cx="683683" cy="218069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en-US" noProof="0" smtClean="0"/>
              <a:pPr>
                <a:spcAft>
                  <a:spcPts val="600"/>
                </a:spcAft>
              </a:pPr>
              <a:t>36</a:t>
            </a:fld>
            <a:endParaRPr lang="en-US" noProof="0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11E0C3CC-037A-1D1B-7FC8-F1CF370490ED}"/>
              </a:ext>
            </a:extLst>
          </p:cNvPr>
          <p:cNvSpPr txBox="1">
            <a:spLocks/>
          </p:cNvSpPr>
          <p:nvPr/>
        </p:nvSpPr>
        <p:spPr>
          <a:xfrm rot="16200000">
            <a:off x="-1628551" y="3704603"/>
            <a:ext cx="4454736" cy="1215365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spcAft>
                <a:spcPts val="800"/>
              </a:spcAft>
            </a:pPr>
            <a:r>
              <a:rPr lang="en-US" sz="930" noProof="0" dirty="0">
                <a:solidFill>
                  <a:srgbClr val="E30613"/>
                </a:solidFill>
              </a:rPr>
              <a:t>INDY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BA39442-7EC7-8DCC-4AB1-4FF5503771CC}"/>
              </a:ext>
            </a:extLst>
          </p:cNvPr>
          <p:cNvSpPr txBox="1">
            <a:spLocks/>
          </p:cNvSpPr>
          <p:nvPr/>
        </p:nvSpPr>
        <p:spPr>
          <a:xfrm>
            <a:off x="945091" y="1201631"/>
            <a:ext cx="10301817" cy="445473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180000" tIns="45720" rIns="91440" bIns="45720" rtlCol="0" anchor="ctr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90000"/>
              <a:buFont typeface="Wingdings" pitchFamily="2" charset="2"/>
              <a:buChar char="§"/>
              <a:defRPr sz="24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133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SzPct val="90000"/>
              <a:buFont typeface="Wingdings" pitchFamily="2" charset="2"/>
              <a:buChar char="§"/>
              <a:defRPr sz="20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3600" noProof="0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40073198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Thème Office">
  <a:themeElements>
    <a:clrScheme name="Personnalisé 1">
      <a:dk1>
        <a:srgbClr val="413C3A"/>
      </a:dk1>
      <a:lt1>
        <a:srgbClr val="FFFFFF"/>
      </a:lt1>
      <a:dk2>
        <a:srgbClr val="413C3A"/>
      </a:dk2>
      <a:lt2>
        <a:srgbClr val="CAC7C7"/>
      </a:lt2>
      <a:accent1>
        <a:srgbClr val="E30613"/>
      </a:accent1>
      <a:accent2>
        <a:srgbClr val="00A79F"/>
      </a:accent2>
      <a:accent3>
        <a:srgbClr val="413C3A"/>
      </a:accent3>
      <a:accent4>
        <a:srgbClr val="007480"/>
      </a:accent4>
      <a:accent5>
        <a:srgbClr val="F39869"/>
      </a:accent5>
      <a:accent6>
        <a:srgbClr val="B51F1F"/>
      </a:accent6>
      <a:hlink>
        <a:srgbClr val="0070C0"/>
      </a:hlink>
      <a:folHlink>
        <a:srgbClr val="4F8FCC"/>
      </a:folHlink>
    </a:clrScheme>
    <a:fontScheme name="EPFL_Beta2">
      <a:majorFont>
        <a:latin typeface="Franklin Gothic Demi Cond"/>
        <a:ea typeface=""/>
        <a:cs typeface=""/>
      </a:majorFont>
      <a:minorFont>
        <a:latin typeface="Arial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_EPFL_Beta2" id="{6A525B41-3E68-491F-A6C9-0B15EA1321FE}" vid="{993E2952-EB5D-4425-8012-1B04381EBC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8869</TotalTime>
  <Words>1867</Words>
  <Application>Microsoft Office PowerPoint</Application>
  <PresentationFormat>Grand écran</PresentationFormat>
  <Paragraphs>303</Paragraphs>
  <Slides>36</Slides>
  <Notes>36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36</vt:i4>
      </vt:variant>
    </vt:vector>
  </HeadingPairs>
  <TitlesOfParts>
    <vt:vector size="42" baseType="lpstr">
      <vt:lpstr>Arial</vt:lpstr>
      <vt:lpstr>Calibri</vt:lpstr>
      <vt:lpstr>Cambria Math</vt:lpstr>
      <vt:lpstr>Franklin Gothic Demi Cond</vt:lpstr>
      <vt:lpstr>Wingdings</vt:lpstr>
      <vt:lpstr>1_Thème Office</vt:lpstr>
      <vt:lpstr>Exploring good transformations of edge weights for spectral clustering</vt:lpstr>
      <vt:lpstr>Table of contents</vt:lpstr>
      <vt:lpstr>Introduction</vt:lpstr>
      <vt:lpstr>Introduction</vt:lpstr>
      <vt:lpstr>Présentation PowerPoint</vt:lpstr>
      <vt:lpstr>Weighted Stochastic Block Model</vt:lpstr>
      <vt:lpstr>Présentation PowerPoint</vt:lpstr>
      <vt:lpstr>Weighted Stochastic Block Model</vt:lpstr>
      <vt:lpstr>Weighted Stochastic Block Model</vt:lpstr>
      <vt:lpstr>Weighted Stochastic Block Model</vt:lpstr>
      <vt:lpstr>Weighted Stochastic Block Model</vt:lpstr>
      <vt:lpstr>Weighted Stochastic Block Model</vt:lpstr>
      <vt:lpstr>Weighted Stochastic Block Model</vt:lpstr>
      <vt:lpstr>Présentation PowerPoint</vt:lpstr>
      <vt:lpstr>Spectral Embedding</vt:lpstr>
      <vt:lpstr>Spectral Embedding</vt:lpstr>
      <vt:lpstr>Spectral Embedding</vt:lpstr>
      <vt:lpstr>Central Limit Theorem – Corollary</vt:lpstr>
      <vt:lpstr>Spectral Clustering – GMM fitting</vt:lpstr>
      <vt:lpstr>Spectral Clustering – GMM fitting</vt:lpstr>
      <vt:lpstr>Spectral Clustering – GMM fitting</vt:lpstr>
      <vt:lpstr>Spectral Clustering – GMM fitting</vt:lpstr>
      <vt:lpstr>Présentation PowerPoint</vt:lpstr>
      <vt:lpstr>Spectral Clustering – GMM fitting</vt:lpstr>
      <vt:lpstr>Présentation PowerPoint</vt:lpstr>
      <vt:lpstr>Weight Transformation</vt:lpstr>
      <vt:lpstr>Présentation PowerPoint</vt:lpstr>
      <vt:lpstr>Separability measure – Chernoff Information</vt:lpstr>
      <vt:lpstr>Présentation PowerPoint</vt:lpstr>
      <vt:lpstr>Experimental Setup</vt:lpstr>
      <vt:lpstr>Results</vt:lpstr>
      <vt:lpstr>Preliminary observations</vt:lpstr>
      <vt:lpstr>Présentation PowerPoint</vt:lpstr>
      <vt:lpstr>What’s next?</vt:lpstr>
      <vt:lpstr>References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Sparsifying a graph by keeping only the shortest paths –  Comparing networks using their APSP structure</dc:title>
  <dc:creator>Nicolas Gonzalez</dc:creator>
  <cp:lastModifiedBy>Nicolas Gonzalez</cp:lastModifiedBy>
  <cp:revision>80</cp:revision>
  <dcterms:created xsi:type="dcterms:W3CDTF">2024-02-22T00:58:57Z</dcterms:created>
  <dcterms:modified xsi:type="dcterms:W3CDTF">2025-04-14T01:18:53Z</dcterms:modified>
</cp:coreProperties>
</file>